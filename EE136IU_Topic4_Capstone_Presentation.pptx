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371600"/>
            <a:ext cx="137160" cy="4297680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" y="1371600"/>
            <a:ext cx="5303520" cy="402336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13990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Manrope"/>
              </a:rPr>
              <a:t>EE136IU • CAPSTONE MINI-PROJECT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solidFill>
                  <a:srgbClr val="0F172A"/>
                </a:solidFill>
                <a:latin typeface="Manrope"/>
              </a:rPr>
              <a:t>TOPIC 04: Data Augmentation &amp;</a:t>
            </a:r>
          </a:p>
          <a:p>
            <a:r>
              <a:rPr sz="3200" b="1">
                <a:solidFill>
                  <a:srgbClr val="0F172A"/>
                </a:solidFill>
                <a:latin typeface="Manrope"/>
              </a:rPr>
              <a:t>Noise Resilience for Low-SNR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58444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563EB"/>
                </a:solidFill>
                <a:latin typeface="Inter"/>
              </a:rPr>
              <a:t>Enhancing Deep Receiver Sensitivity in Noise-Limited Regimes  (−10 dB → +18 dB)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4206240"/>
            <a:ext cx="10058400" cy="1600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343400"/>
            <a:ext cx="9692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4C7"/>
                </a:solidFill>
                <a:latin typeface="Manrope"/>
              </a:rPr>
              <a:t>👥 Team Members &amp; Speaking Roles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Thành viên 1 — Team Lead: </a:t>
            </a:r>
            <a:r>
              <a:rPr sz="1350" b="0">
                <a:solidFill>
                  <a:srgbClr val="0F172A"/>
                </a:solidFill>
                <a:latin typeface="Inter"/>
              </a:rPr>
              <a:t>Signal Processing · Preprocessing Pipeline · RMS Normalization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Thành viên 2 — ML Engineer: </a:t>
            </a:r>
            <a:r>
              <a:rPr sz="1350" b="0">
                <a:solidFill>
                  <a:srgbClr val="0F172A"/>
                </a:solidFill>
                <a:latin typeface="Inter"/>
              </a:rPr>
              <a:t>1D CNN Architecture · RF Augmentation PyTorch Pipeline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Thành viên 3 — Demo &amp; Eval: </a:t>
            </a:r>
            <a:r>
              <a:rPr sz="1350" b="0">
                <a:solidFill>
                  <a:srgbClr val="0F172A"/>
                </a:solidFill>
                <a:latin typeface="Inter"/>
              </a:rPr>
              <a:t>SNR Benchmarking · Failure Analysis · Streamlit Web UI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1447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Inter"/>
              </a:rPr>
              <a:t>EE136: Machine Learning for Wireless Communications | Capstone Mini-Project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144768"/>
            <a:ext cx="1856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37160" cy="4434840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5840" y="384048"/>
            <a:ext cx="2290572" cy="329184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402336"/>
            <a:ext cx="229057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anrope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Manrope"/>
              </a:rPr>
              <a:t>Agenda — 5 Main Sections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1447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Inter"/>
              </a:rPr>
              <a:t>EE136: Machine Learning for Wireless Communications | Topic 4 Capstone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144768"/>
            <a:ext cx="1856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Slide 2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5912" cy="41605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74520"/>
            <a:ext cx="10268712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2563EB"/>
                </a:solidFill>
                <a:latin typeface="Manrope"/>
              </a:rPr>
              <a:t>01.  </a:t>
            </a:r>
            <a:r>
              <a:rPr sz="1600" b="1">
                <a:solidFill>
                  <a:srgbClr val="0F172A"/>
                </a:solidFill>
                <a:latin typeface="Manrope"/>
              </a:rPr>
              <a:t>🔍  Vấn Đề    </a:t>
            </a:r>
            <a:r>
              <a:rPr sz="1350" b="0">
                <a:solidFill>
                  <a:srgbClr val="0F172A"/>
                </a:solidFill>
                <a:latin typeface="Inter"/>
              </a:rPr>
              <a:t>— Channel Physics · Low-SNR Limitations · Why Baseline Fails</a:t>
            </a:r>
            <a:r>
              <a:rPr sz="1200" b="0">
                <a:solidFill>
                  <a:srgbClr val="94A3B8"/>
                </a:solidFill>
                <a:latin typeface="Inter"/>
              </a:rPr>
              <a:t>   (Slide 3)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563EB"/>
                </a:solidFill>
                <a:latin typeface="Manrope"/>
              </a:rPr>
              <a:t>02.  </a:t>
            </a:r>
            <a:r>
              <a:rPr sz="1600" b="1">
                <a:solidFill>
                  <a:srgbClr val="0F172A"/>
                </a:solidFill>
                <a:latin typeface="Manrope"/>
              </a:rPr>
              <a:t>💡  Giải Pháp &amp; Khái Niệm    </a:t>
            </a:r>
            <a:r>
              <a:rPr sz="1350" b="0">
                <a:solidFill>
                  <a:srgbClr val="0F172A"/>
                </a:solidFill>
                <a:latin typeface="Inter"/>
              </a:rPr>
              <a:t>— Technical Foundation · Data Augmentation · Key Concepts</a:t>
            </a:r>
            <a:r>
              <a:rPr sz="1200" b="0">
                <a:solidFill>
                  <a:srgbClr val="94A3B8"/>
                </a:solidFill>
                <a:latin typeface="Inter"/>
              </a:rPr>
              <a:t>   (Slides 4–5)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563EB"/>
                </a:solidFill>
                <a:latin typeface="Manrope"/>
              </a:rPr>
              <a:t>03.  </a:t>
            </a:r>
            <a:r>
              <a:rPr sz="1600" b="1">
                <a:solidFill>
                  <a:srgbClr val="0F172A"/>
                </a:solidFill>
                <a:latin typeface="Manrope"/>
              </a:rPr>
              <a:t>⚙️  Implementation    </a:t>
            </a:r>
            <a:r>
              <a:rPr sz="1350" b="0">
                <a:solidFill>
                  <a:srgbClr val="0F172A"/>
                </a:solidFill>
                <a:latin typeface="Inter"/>
              </a:rPr>
              <a:t>— 1D CNN Architecture · Training Setup &amp; Convergence</a:t>
            </a:r>
            <a:r>
              <a:rPr sz="1200" b="0">
                <a:solidFill>
                  <a:srgbClr val="94A3B8"/>
                </a:solidFill>
                <a:latin typeface="Inter"/>
              </a:rPr>
              <a:t>   (Slides 6–7)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563EB"/>
                </a:solidFill>
                <a:latin typeface="Manrope"/>
              </a:rPr>
              <a:t>04.  </a:t>
            </a:r>
            <a:r>
              <a:rPr sz="1600" b="1">
                <a:solidFill>
                  <a:srgbClr val="0F172A"/>
                </a:solidFill>
                <a:latin typeface="Manrope"/>
              </a:rPr>
              <a:t>📊  Kết Quả &amp; Demo Sản Phẩm    </a:t>
            </a:r>
            <a:r>
              <a:rPr sz="1350" b="0">
                <a:solidFill>
                  <a:srgbClr val="0F172A"/>
                </a:solidFill>
                <a:latin typeface="Inter"/>
              </a:rPr>
              <a:t>— Accuracy vs. SNR · Confusion Matrix · Interactive Demo</a:t>
            </a:r>
            <a:r>
              <a:rPr sz="1200" b="0">
                <a:solidFill>
                  <a:srgbClr val="94A3B8"/>
                </a:solidFill>
                <a:latin typeface="Inter"/>
              </a:rPr>
              <a:t>   (Slides 8–10)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563EB"/>
                </a:solidFill>
                <a:latin typeface="Manrope"/>
              </a:rPr>
              <a:t>05.  </a:t>
            </a:r>
            <a:r>
              <a:rPr sz="1600" b="1">
                <a:solidFill>
                  <a:srgbClr val="0F172A"/>
                </a:solidFill>
                <a:latin typeface="Manrope"/>
              </a:rPr>
              <a:t>❓  Q&amp;A    </a:t>
            </a:r>
            <a:r>
              <a:rPr sz="1350" b="0">
                <a:solidFill>
                  <a:srgbClr val="0F172A"/>
                </a:solidFill>
                <a:latin typeface="Inter"/>
              </a:rPr>
              <a:t>— Conclusion · Engineering Takeaways · Open Questions</a:t>
            </a:r>
            <a:r>
              <a:rPr sz="1200" b="0">
                <a:solidFill>
                  <a:srgbClr val="94A3B8"/>
                </a:solidFill>
                <a:latin typeface="Inter"/>
              </a:rPr>
              <a:t>   (Slide 11)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37160" cy="4434840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5840" y="384048"/>
            <a:ext cx="1659636" cy="329184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402336"/>
            <a:ext cx="165963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anrope"/>
              </a:rPr>
              <a:t>01 • VẤN ĐỀ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Manrope"/>
              </a:rPr>
              <a:t>Channel Physics &amp; Low-SNR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898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Inter"/>
              </a:rPr>
              <a:t>Why Modulation Classification Fails in Noise-Limited Regimes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0350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1447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Inter"/>
              </a:rPr>
              <a:t>EE136: Machine Learning for Wireless Communications | Topic 4 Capstone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144768"/>
            <a:ext cx="1856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Slide 3 of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55648"/>
            <a:ext cx="5212080" cy="4069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92808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4C7"/>
                </a:solidFill>
                <a:latin typeface="Manrope"/>
              </a:rPr>
              <a:t>📡 Baseband Signal Model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Model: </a:t>
            </a:r>
            <a:r>
              <a:rPr sz="1350" b="0">
                <a:solidFill>
                  <a:srgbClr val="0F172A"/>
                </a:solidFill>
                <a:latin typeface="Consolas"/>
              </a:rPr>
              <a:t>r[n] = h · s[n] + w[n]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w[n]: </a:t>
            </a:r>
            <a:r>
              <a:rPr sz="1350" b="0">
                <a:solidFill>
                  <a:srgbClr val="0F172A"/>
                </a:solidFill>
                <a:latin typeface="Consolas"/>
              </a:rPr>
              <a:t>AWGN: w[n] ~ CN(0, σ²)  — complex Gaussian noise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Phase shift: </a:t>
            </a:r>
            <a:r>
              <a:rPr sz="1350" b="0">
                <a:solidFill>
                  <a:srgbClr val="0F172A"/>
                </a:solidFill>
                <a:latin typeface="Consolas"/>
              </a:rPr>
              <a:t>CFO causes rotation e^(jθ),  θ ∈ [0, 2π)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Problem: </a:t>
            </a:r>
            <a:r>
              <a:rPr sz="1350" b="0">
                <a:solidFill>
                  <a:srgbClr val="0F172A"/>
                </a:solidFill>
                <a:latin typeface="Inter"/>
              </a:rPr>
              <a:t>At −10 dB, noise &gt; signal → constellation collapses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755648"/>
            <a:ext cx="5212080" cy="4069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892808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4C7"/>
                </a:solidFill>
                <a:latin typeface="Manrope"/>
              </a:rPr>
              <a:t>💥 Why Baseline Fails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Phase overfitting: </a:t>
            </a:r>
            <a:r>
              <a:rPr sz="1350" b="0">
                <a:solidFill>
                  <a:srgbClr val="0F172A"/>
                </a:solidFill>
                <a:latin typeface="Inter"/>
              </a:rPr>
              <a:t>Baseline locks to fixed phase orientation in training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Accuracy collapse: </a:t>
            </a:r>
            <a:r>
              <a:rPr sz="1350" b="0">
                <a:solidFill>
                  <a:srgbClr val="0F172A"/>
                </a:solidFill>
                <a:latin typeface="Inter"/>
              </a:rPr>
              <a:t>Baseline &lt; 25% accuracy at SNR = −10 dB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Boundary overlap: </a:t>
            </a:r>
            <a:r>
              <a:rPr sz="1350" b="0">
                <a:solidFill>
                  <a:srgbClr val="0F172A"/>
                </a:solidFill>
                <a:latin typeface="Inter"/>
              </a:rPr>
              <a:t>AWGN smears 16QAM &amp; 64QAM into each other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Topic 4 solution: </a:t>
            </a:r>
            <a:r>
              <a:rPr sz="1350" b="0">
                <a:solidFill>
                  <a:srgbClr val="0F172A"/>
                </a:solidFill>
                <a:latin typeface="Inter"/>
              </a:rPr>
              <a:t>Stochastic RF augmentation → phase-invariant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37160" cy="4434840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5840" y="384048"/>
            <a:ext cx="3236976" cy="329184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402336"/>
            <a:ext cx="32369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anrope"/>
              </a:rPr>
              <a:t>02 • GIẢI PHÁP &amp; KHÁI NIỆM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Manrope"/>
              </a:rPr>
              <a:t>Technical Foundation &amp; Key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898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Inter"/>
              </a:rPr>
              <a:t>Standardized I/Q Tensor · RMS Normalization · 8-Class Classification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0350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1447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Inter"/>
              </a:rPr>
              <a:t>EE136: Machine Learning for Wireless Communications | Topic 4 Capstone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144768"/>
            <a:ext cx="1856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Slide 4 of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55648"/>
            <a:ext cx="5212080" cy="4069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92808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4C7"/>
                </a:solidFill>
                <a:latin typeface="Manrope"/>
              </a:rPr>
              <a:t>📦 Baseband Tensor Specification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Input tensor: </a:t>
            </a:r>
            <a:r>
              <a:rPr sz="1350" b="0">
                <a:solidFill>
                  <a:srgbClr val="0F172A"/>
                </a:solidFill>
                <a:latin typeface="Consolas"/>
              </a:rPr>
              <a:t>[N_batch, 2, 128]  — float32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Channel layout: </a:t>
            </a:r>
            <a:r>
              <a:rPr sz="1350" b="0">
                <a:solidFill>
                  <a:srgbClr val="0F172A"/>
                </a:solidFill>
                <a:latin typeface="Consolas"/>
              </a:rPr>
              <a:t>Row 0: I[n]   |   Row 1: Q[n]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RMS Normalization: </a:t>
            </a:r>
            <a:r>
              <a:rPr sz="1350" b="0">
                <a:solidFill>
                  <a:srgbClr val="0F172A"/>
                </a:solidFill>
                <a:latin typeface="Consolas"/>
              </a:rPr>
              <a:t>r_norm[n] = r[n] / √mean(I²+Q²)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8 Classes: </a:t>
            </a:r>
            <a:r>
              <a:rPr sz="1350" b="0">
                <a:solidFill>
                  <a:srgbClr val="0F172A"/>
                </a:solidFill>
                <a:latin typeface="Inter"/>
              </a:rPr>
              <a:t>BPSK · QPSK · 8PSK · 16QAM · 64QAM · PAM4 · CPFSK · GFSK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755648"/>
            <a:ext cx="5212080" cy="4069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892808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4C7"/>
                </a:solidFill>
                <a:latin typeface="Manrope"/>
              </a:rPr>
              <a:t>📏 Evaluation Protocol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SNR Grid: </a:t>
            </a:r>
            <a:r>
              <a:rPr sz="1350" b="0">
                <a:solidFill>
                  <a:srgbClr val="0F172A"/>
                </a:solidFill>
                <a:latin typeface="Inter"/>
              </a:rPr>
              <a:t>15 points: −10 dB to +18 dB  (step 2 dB)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Data split: </a:t>
            </a:r>
            <a:r>
              <a:rPr sz="1350" b="0">
                <a:solidFill>
                  <a:srgbClr val="0F172A"/>
                </a:solidFill>
                <a:latin typeface="Inter"/>
              </a:rPr>
              <a:t>70% Train / 15% Val / 15% Test  (zero leakage)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Dataset: </a:t>
            </a:r>
            <a:r>
              <a:rPr sz="1350" b="0">
                <a:solidFill>
                  <a:srgbClr val="0F172A"/>
                </a:solidFill>
                <a:latin typeface="Inter"/>
              </a:rPr>
              <a:t>18,000 bursts total — 150 × 8 classes × 15 SNR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Metrics: </a:t>
            </a:r>
            <a:r>
              <a:rPr sz="1350" b="0">
                <a:solidFill>
                  <a:srgbClr val="0F172A"/>
                </a:solidFill>
                <a:latin typeface="Inter"/>
              </a:rPr>
              <a:t>Accuracy vs. SNR · Macro-F1 · Row-normalized Confusion Matrix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37160" cy="4434840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5840" y="384048"/>
            <a:ext cx="3236976" cy="329184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402336"/>
            <a:ext cx="32369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anrope"/>
              </a:rPr>
              <a:t>02 • GIẢI PHÁP &amp; KHÁI NIỆM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Manrope"/>
              </a:rPr>
              <a:t>Topic 04 — RF Data Augmentation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898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Inter"/>
              </a:rPr>
              <a:t>4 Physical Transforms Applied Per Training Batch to Force Noise Robustness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0350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1447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Inter"/>
              </a:rPr>
              <a:t>EE136: Machine Learning for Wireless Communications | Topic 4 Capstone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144768"/>
            <a:ext cx="1856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Slide 5 of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55648"/>
            <a:ext cx="5212080" cy="4069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92808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4C7"/>
                </a:solidFill>
                <a:latin typeface="Manrope"/>
              </a:rPr>
              <a:t>🔄 RFAugmentationPipeline — 4 Transforms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Phase rotation: </a:t>
            </a:r>
            <a:r>
              <a:rPr sz="1350" b="0">
                <a:solidFill>
                  <a:srgbClr val="0F172A"/>
                </a:solidFill>
                <a:latin typeface="Consolas"/>
              </a:rPr>
              <a:t>θ ~ U[0, 2π)  →  rotate (I, Q) by θ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AWGN injection: </a:t>
            </a:r>
            <a:r>
              <a:rPr sz="1350" b="0">
                <a:solidFill>
                  <a:srgbClr val="0F172A"/>
                </a:solidFill>
                <a:latin typeface="Consolas"/>
              </a:rPr>
              <a:t>std ~ U[0.01, 0.08]  — low-SNR sensitivity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Time-shift jitter: </a:t>
            </a:r>
            <a:r>
              <a:rPr sz="1350" b="0">
                <a:solidFill>
                  <a:srgbClr val="0F172A"/>
                </a:solidFill>
                <a:latin typeface="Consolas"/>
              </a:rPr>
              <a:t>Circular shift k ~ U[−8, +8] samples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Amplitude scale: </a:t>
            </a:r>
            <a:r>
              <a:rPr sz="1350" b="0">
                <a:solidFill>
                  <a:srgbClr val="0F172A"/>
                </a:solidFill>
                <a:latin typeface="Consolas"/>
              </a:rPr>
              <a:t>Multiply by α ~ U[0.85, 1.15]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755648"/>
            <a:ext cx="5212080" cy="4069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892808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4C7"/>
                </a:solidFill>
                <a:latin typeface="Manrope"/>
              </a:rPr>
              <a:t>🎯 Key Insight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Model A — Baseline: </a:t>
            </a:r>
            <a:r>
              <a:rPr sz="1350" b="0">
                <a:solidFill>
                  <a:srgbClr val="0F172A"/>
                </a:solidFill>
                <a:latin typeface="Inter"/>
              </a:rPr>
              <a:t>Standard 1D CNN, no augmentation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Model B — Augmented: </a:t>
            </a:r>
            <a:r>
              <a:rPr sz="1350" b="0">
                <a:solidFill>
                  <a:srgbClr val="0F172A"/>
                </a:solidFill>
                <a:latin typeface="Inter"/>
              </a:rPr>
              <a:t>Same 1D CNN + RFAugmentationPipeline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Fair comparison: </a:t>
            </a:r>
            <a:r>
              <a:rPr sz="1350" b="0">
                <a:solidFill>
                  <a:srgbClr val="0F172A"/>
                </a:solidFill>
                <a:latin typeface="Inter"/>
              </a:rPr>
              <a:t>100% identical hyperparameters across both models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Result: </a:t>
            </a:r>
            <a:r>
              <a:rPr sz="1350" b="0">
                <a:solidFill>
                  <a:srgbClr val="0F172A"/>
                </a:solidFill>
                <a:latin typeface="Inter"/>
              </a:rPr>
              <a:t>Physical augmentation acts as domain-aware regularizer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37160" cy="4434840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5840" y="384048"/>
            <a:ext cx="2500884" cy="329184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402336"/>
            <a:ext cx="250088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anrope"/>
              </a:rPr>
              <a:t>03 •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Manrope"/>
              </a:rPr>
              <a:t>3-Block Deep 1D Convolutional Neural Receiver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898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Inter"/>
              </a:rPr>
              <a:t>Input: [N_batch, 2, 128]   →   Output: [N_batch, 8]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0350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1447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Inter"/>
              </a:rPr>
              <a:t>EE136: Machine Learning for Wireless Communications | Topic 4 Capstone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144768"/>
            <a:ext cx="1856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Slide 6 of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55648"/>
            <a:ext cx="5212080" cy="4069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92808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4C7"/>
                </a:solidFill>
                <a:latin typeface="Manrope"/>
              </a:rPr>
              <a:t>🏗️ 1D Convolutional Feature Extractor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Block 1: </a:t>
            </a:r>
            <a:r>
              <a:rPr sz="1350" b="0">
                <a:solidFill>
                  <a:srgbClr val="0F172A"/>
                </a:solidFill>
                <a:latin typeface="Consolas"/>
              </a:rPr>
              <a:t>Conv1D(2→64, k=7) → BN → ReLU → MaxPool    [128→64]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Block 2: </a:t>
            </a:r>
            <a:r>
              <a:rPr sz="1350" b="0">
                <a:solidFill>
                  <a:srgbClr val="0F172A"/>
                </a:solidFill>
                <a:latin typeface="Consolas"/>
              </a:rPr>
              <a:t>Conv1D(64→128, k=5) → BN → ReLU → MaxPool  [64→32]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Block 3: </a:t>
            </a:r>
            <a:r>
              <a:rPr sz="1350" b="0">
                <a:solidFill>
                  <a:srgbClr val="0F172A"/>
                </a:solidFill>
                <a:latin typeface="Consolas"/>
              </a:rPr>
              <a:t>Conv1D(128→256, k=3) → BN → ReLU → AvgPool [32→1]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755648"/>
            <a:ext cx="5212080" cy="4069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892808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4C7"/>
                </a:solidFill>
                <a:latin typeface="Manrope"/>
              </a:rPr>
              <a:t>🧠 Classifier Head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Flatten: </a:t>
            </a:r>
            <a:r>
              <a:rPr sz="1350" b="0">
                <a:solidFill>
                  <a:srgbClr val="0F172A"/>
                </a:solidFill>
                <a:latin typeface="Consolas"/>
              </a:rPr>
              <a:t>[N, 256, 1]  →  [N, 256]  feature vector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FC 1: </a:t>
            </a:r>
            <a:r>
              <a:rPr sz="1350" b="0">
                <a:solidFill>
                  <a:srgbClr val="0F172A"/>
                </a:solidFill>
                <a:latin typeface="Consolas"/>
              </a:rPr>
              <a:t>Linear(256→128) → ReLU → Dropout(0.3)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FC 2: </a:t>
            </a:r>
            <a:r>
              <a:rPr sz="1350" b="0">
                <a:solidFill>
                  <a:srgbClr val="0F172A"/>
                </a:solidFill>
                <a:latin typeface="Consolas"/>
              </a:rPr>
              <a:t>Linear(128→8)  — class logits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Config: </a:t>
            </a:r>
            <a:r>
              <a:rPr sz="1350" b="0">
                <a:solidFill>
                  <a:srgbClr val="0F172A"/>
                </a:solidFill>
                <a:latin typeface="Inter"/>
              </a:rPr>
              <a:t>175,432 params · Adam · CosineAnnealingLR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37160" cy="4434840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5840" y="384048"/>
            <a:ext cx="2500884" cy="329184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402336"/>
            <a:ext cx="250088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anrope"/>
              </a:rPr>
              <a:t>03 •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Manrope"/>
              </a:rPr>
              <a:t>Training Convergence — Baseline vs. 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898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Inter"/>
              </a:rPr>
              <a:t>25 Epochs · 18,000 Bursts · Identical Hyperparameters for Fair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0350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1447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Inter"/>
              </a:rPr>
              <a:t>EE136: Machine Learning for Wireless Communications | Topic 4 Capstone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144768"/>
            <a:ext cx="1856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Slide 7 of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55648"/>
            <a:ext cx="5212080" cy="4069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92808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4C7"/>
                </a:solidFill>
                <a:latin typeface="Manrope"/>
              </a:rPr>
              <a:t>🔴 Model A — Baseline (No Augmentation)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Train accuracy: </a:t>
            </a:r>
            <a:r>
              <a:rPr sz="1350" b="0">
                <a:solidFill>
                  <a:srgbClr val="0F172A"/>
                </a:solidFill>
                <a:latin typeface="Consolas"/>
              </a:rPr>
              <a:t>76.95%    |    Train Loss: 0.4774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Val accuracy: </a:t>
            </a:r>
            <a:r>
              <a:rPr sz="1350" b="0">
                <a:solidFill>
                  <a:srgbClr val="0F172A"/>
                </a:solidFill>
                <a:latin typeface="Consolas"/>
              </a:rPr>
              <a:t>65.33%    |    Val Loss: 0.8757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Overfit gap: </a:t>
            </a:r>
            <a:r>
              <a:rPr sz="1350" b="0">
                <a:solidFill>
                  <a:srgbClr val="0F172A"/>
                </a:solidFill>
                <a:latin typeface="Inter"/>
              </a:rPr>
              <a:t>Δ Loss = 0.399  — large overfitting detected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Problem: </a:t>
            </a:r>
            <a:r>
              <a:rPr sz="1350" b="0">
                <a:solidFill>
                  <a:srgbClr val="0F172A"/>
                </a:solidFill>
                <a:latin typeface="Inter"/>
              </a:rPr>
              <a:t>Accuracy collapses under unseen phase offsets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755648"/>
            <a:ext cx="5212080" cy="4069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892808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4C7"/>
                </a:solidFill>
                <a:latin typeface="Manrope"/>
              </a:rPr>
              <a:t>🔵 Model B — Augmented (Topic 04)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Train accuracy: </a:t>
            </a:r>
            <a:r>
              <a:rPr sz="1350" b="0">
                <a:solidFill>
                  <a:srgbClr val="0F172A"/>
                </a:solidFill>
                <a:latin typeface="Consolas"/>
              </a:rPr>
              <a:t>63.13%    |    Train Loss: 0.8069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Val accuracy: </a:t>
            </a:r>
            <a:r>
              <a:rPr sz="1350" b="0">
                <a:solidFill>
                  <a:srgbClr val="0F172A"/>
                </a:solidFill>
                <a:latin typeface="Consolas"/>
              </a:rPr>
              <a:t>66.07%    |    Val Loss: 0.7670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Overfit gap: </a:t>
            </a:r>
            <a:r>
              <a:rPr sz="1350" b="0">
                <a:solidFill>
                  <a:srgbClr val="0F172A"/>
                </a:solidFill>
                <a:latin typeface="Inter"/>
              </a:rPr>
              <a:t>Δ Loss = 0.107  — much tighter generalization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Key win: </a:t>
            </a:r>
            <a:r>
              <a:rPr sz="1350" b="0">
                <a:solidFill>
                  <a:srgbClr val="0F172A"/>
                </a:solidFill>
                <a:latin typeface="Inter"/>
              </a:rPr>
              <a:t>Val Loss 0.1087 lower than Baseline → better robustness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37160" cy="4434840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5840" y="384048"/>
            <a:ext cx="2500884" cy="329184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402336"/>
            <a:ext cx="250088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anrope"/>
              </a:rPr>
              <a:t>04 • KẾT QUẢ &amp;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Manrope"/>
              </a:rPr>
              <a:t>Accuracy vs. SNR Grid — Baseline vs. 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898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Inter"/>
              </a:rPr>
              <a:t>Progressive Recovery from Noise-Limited to High-SNR Asymptote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0350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1447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Inter"/>
              </a:rPr>
              <a:t>EE136: Machine Learning for Wireless Communications | Topic 4 Capstone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144768"/>
            <a:ext cx="1856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Slide 8 of 12</a:t>
            </a:r>
          </a:p>
        </p:txBody>
      </p:sp>
      <p:pic>
        <p:nvPicPr>
          <p:cNvPr id="10" name="Picture 9" descr="accuracy_vs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55648"/>
            <a:ext cx="6217920" cy="37307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23760" y="1755648"/>
            <a:ext cx="4233672" cy="4069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892808"/>
            <a:ext cx="3867912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4C7"/>
                </a:solidFill>
                <a:latin typeface="Manrope"/>
              </a:rPr>
              <a:t>📈 Quantitative Gains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SNR = −8 dB: </a:t>
            </a:r>
            <a:r>
              <a:rPr sz="1350" b="0">
                <a:solidFill>
                  <a:srgbClr val="0F172A"/>
                </a:solidFill>
                <a:latin typeface="Inter"/>
              </a:rPr>
              <a:t>25.86% → 30.17%  (+4.31% gain)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SNR = −2 dB: </a:t>
            </a:r>
            <a:r>
              <a:rPr sz="1350" b="0">
                <a:solidFill>
                  <a:srgbClr val="0F172A"/>
                </a:solidFill>
                <a:latin typeface="Inter"/>
              </a:rPr>
              <a:t>57.85% → 61.16%  (+3.31% gain)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Val Loss: </a:t>
            </a:r>
            <a:r>
              <a:rPr sz="1350" b="0">
                <a:solidFill>
                  <a:srgbClr val="0F172A"/>
                </a:solidFill>
                <a:latin typeface="Consolas"/>
              </a:rPr>
              <a:t>Baseline 0.8757 vs Augmented 0.7670  (↓ 0.1087)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Summary: </a:t>
            </a:r>
            <a:r>
              <a:rPr sz="1350" b="0">
                <a:solidFill>
                  <a:srgbClr val="0F172A"/>
                </a:solidFill>
                <a:latin typeface="Inter"/>
              </a:rPr>
              <a:t>Topic 4 consistently wins at −10 dB to 0 dB regime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37160" cy="4434840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5840" y="384048"/>
            <a:ext cx="2500884" cy="329184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402336"/>
            <a:ext cx="250088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anrope"/>
              </a:rPr>
              <a:t>04 • KẾT QUẢ &amp;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Manrope"/>
              </a:rPr>
              <a:t>Confusion Matrix &amp; Root-Cause Failure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898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Inter"/>
              </a:rPr>
              <a:t>Row-Normalized at Low SNR (−4 dB) — Class-Level Misclassification Breakdown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0350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1447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Inter"/>
              </a:rPr>
              <a:t>EE136: Machine Learning for Wireless Communications | Topic 4 Capstone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144768"/>
            <a:ext cx="1856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Slide 9 of 12</a:t>
            </a:r>
          </a:p>
        </p:txBody>
      </p:sp>
      <p:pic>
        <p:nvPicPr>
          <p:cNvPr id="10" name="Picture 9" descr="confusion_matrices_low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55648"/>
            <a:ext cx="6217920" cy="27203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23760" y="1755648"/>
            <a:ext cx="4233672" cy="4069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892808"/>
            <a:ext cx="3867912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4C7"/>
                </a:solidFill>
                <a:latin typeface="Manrope"/>
              </a:rPr>
              <a:t>🔬 Failure Analysis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16QAM vs 64QAM: </a:t>
            </a:r>
            <a:r>
              <a:rPr sz="1350" b="0">
                <a:solidFill>
                  <a:srgbClr val="0F172A"/>
                </a:solidFill>
                <a:latin typeface="Inter"/>
              </a:rPr>
              <a:t>Multi-ring amplitude smear under high AWGN power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QPSK vs 8PSK: </a:t>
            </a:r>
            <a:r>
              <a:rPr sz="1350" b="0">
                <a:solidFill>
                  <a:srgbClr val="0F172A"/>
                </a:solidFill>
                <a:latin typeface="Inter"/>
              </a:rPr>
              <a:t>Phase noise pushes across adjacent decision boundaries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Root cause: </a:t>
            </a:r>
            <a:r>
              <a:rPr sz="1350" b="0">
                <a:solidFill>
                  <a:srgbClr val="0F172A"/>
                </a:solidFill>
                <a:latin typeface="Inter"/>
              </a:rPr>
              <a:t>Baseline anchors to fixed phase — fails under CFO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Topic 4 fix: </a:t>
            </a:r>
            <a:r>
              <a:rPr sz="1350" b="0">
                <a:solidFill>
                  <a:srgbClr val="0F172A"/>
                </a:solidFill>
                <a:latin typeface="Inter"/>
              </a:rPr>
              <a:t>Phase rotation training → radial density features learned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37160" cy="4434840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5840" y="384048"/>
            <a:ext cx="2500884" cy="329184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402336"/>
            <a:ext cx="250088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anrope"/>
              </a:rPr>
              <a:t>04 • KẾT QUẢ &amp;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Manrope"/>
              </a:rPr>
              <a:t>Interactive Demo &amp; Fail-Safe Video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898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Inter"/>
              </a:rPr>
              <a:t>py -m streamlit run app.py   →   http://localhost:8501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0350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1447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Inter"/>
              </a:rPr>
              <a:t>EE136: Machine Learning for Wireless Communications | Topic 4 Capstone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144768"/>
            <a:ext cx="1856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Slide 10 of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55648"/>
            <a:ext cx="5212080" cy="4069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92808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4C7"/>
                </a:solidFill>
                <a:latin typeface="Manrope"/>
              </a:rPr>
              <a:t>📹  Fail-Safe Video  [EMBED MP4 HERE]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Backup purpose: </a:t>
            </a:r>
            <a:r>
              <a:rPr sz="1350" b="0">
                <a:solidFill>
                  <a:srgbClr val="0F172A"/>
                </a:solidFill>
                <a:latin typeface="Inter"/>
              </a:rPr>
              <a:t>30–60s screen-recording embedded in this slide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Crash shield: </a:t>
            </a:r>
            <a:r>
              <a:rPr sz="1350" b="0">
                <a:solidFill>
                  <a:srgbClr val="0F172A"/>
                </a:solidFill>
                <a:latin typeface="Inter"/>
              </a:rPr>
              <a:t>Guards against terminal crash / GPU OOM during defense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Content: </a:t>
            </a:r>
            <a:r>
              <a:rPr sz="1350" b="0">
                <a:solidFill>
                  <a:srgbClr val="0F172A"/>
                </a:solidFill>
                <a:latin typeface="Inter"/>
              </a:rPr>
              <a:t>16QAM @ −4 dB:  Baseline ❌   vs   Topic 4 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755648"/>
            <a:ext cx="5212080" cy="4069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892808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4C7"/>
                </a:solidFill>
                <a:latin typeface="Manrope"/>
              </a:rPr>
              <a:t>🎛️  Streamlit Web UI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SNR Slider: </a:t>
            </a:r>
            <a:r>
              <a:rPr sz="1350" b="0">
                <a:solidFill>
                  <a:srgbClr val="0F172A"/>
                </a:solidFill>
                <a:latin typeface="Inter"/>
              </a:rPr>
              <a:t>Real-time adjustment −10 dB to +18 dB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Modulation selector: </a:t>
            </a:r>
            <a:r>
              <a:rPr sz="1350" b="0">
                <a:solidFill>
                  <a:srgbClr val="0F172A"/>
                </a:solidFill>
                <a:latin typeface="Inter"/>
              </a:rPr>
              <a:t>Ground-truth class for all 8 modulation types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Side-by-side result: </a:t>
            </a:r>
            <a:r>
              <a:rPr sz="1350" b="0">
                <a:solidFill>
                  <a:srgbClr val="0F172A"/>
                </a:solidFill>
                <a:latin typeface="Inter"/>
              </a:rPr>
              <a:t>Baseline prediction vs. Topic 4 prediction live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Launch: </a:t>
            </a:r>
            <a:r>
              <a:rPr sz="1350" b="0">
                <a:solidFill>
                  <a:srgbClr val="0F172A"/>
                </a:solidFill>
                <a:latin typeface="Consolas"/>
              </a:rPr>
              <a:t>py -m streamlit run app.py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37160" cy="4434840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5840" y="384048"/>
            <a:ext cx="1344168" cy="329184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402336"/>
            <a:ext cx="1344168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anrope"/>
              </a:rPr>
              <a:t>05 •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Manrope"/>
              </a:rPr>
              <a:t>Conclusion &amp; Open Technical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898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Inter"/>
              </a:rPr>
              <a:t>Rigorous Engineering · Physical Grounding · Professional Delivery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0350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1447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Inter"/>
              </a:rPr>
              <a:t>EE136: Machine Learning for Wireless Communications | Topic 4 Capstone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144768"/>
            <a:ext cx="1856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Slide 11 of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55648"/>
            <a:ext cx="5212080" cy="4069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92808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4C7"/>
                </a:solidFill>
                <a:latin typeface="Manrope"/>
              </a:rPr>
              <a:t>💡 Core Takeaways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Physics first: </a:t>
            </a:r>
            <a:r>
              <a:rPr sz="1350" b="0">
                <a:solidFill>
                  <a:srgbClr val="0F172A"/>
                </a:solidFill>
                <a:latin typeface="Inter"/>
              </a:rPr>
              <a:t>Every decision anchored in wireless physical reality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Sensitivity gains: </a:t>
            </a:r>
            <a:r>
              <a:rPr sz="1350" b="0">
                <a:solidFill>
                  <a:srgbClr val="0F172A"/>
                </a:solidFill>
                <a:latin typeface="Inter"/>
              </a:rPr>
              <a:t>+4.31% @ −8 dB  |  +3.31% @ −2 dB  |  Val Loss ↓ 0.1087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Phase invariance: </a:t>
            </a:r>
            <a:r>
              <a:rPr sz="1350" b="0">
                <a:solidFill>
                  <a:srgbClr val="0F172A"/>
                </a:solidFill>
                <a:latin typeface="Inter"/>
              </a:rPr>
              <a:t>Augmented model robust to arbitrary CFO offsets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Reproducibility: </a:t>
            </a:r>
            <a:r>
              <a:rPr sz="1350" b="0">
                <a:solidFill>
                  <a:srgbClr val="0F172A"/>
                </a:solidFill>
                <a:latin typeface="Inter"/>
              </a:rPr>
              <a:t>seed=42 · 1-command demo · full modular codebase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755648"/>
            <a:ext cx="5212080" cy="4069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892808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284C7"/>
                </a:solidFill>
                <a:latin typeface="Manrope"/>
              </a:rPr>
              <a:t>📊 Summary Metrics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Architecture: </a:t>
            </a:r>
            <a:r>
              <a:rPr sz="1350" b="0">
                <a:solidFill>
                  <a:srgbClr val="0F172A"/>
                </a:solidFill>
                <a:latin typeface="Consolas"/>
              </a:rPr>
              <a:t>3-Block 1D CNN  |  175,432 params  |  [N, 2, 128]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Best Val Acc: </a:t>
            </a:r>
            <a:r>
              <a:rPr sz="1350" b="0">
                <a:solidFill>
                  <a:srgbClr val="0F172A"/>
                </a:solidFill>
                <a:latin typeface="Inter"/>
              </a:rPr>
              <a:t>Augmented 66.07%  vs  Baseline 65.33%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Best Val Loss: </a:t>
            </a:r>
            <a:r>
              <a:rPr sz="1350" b="0">
                <a:solidFill>
                  <a:srgbClr val="0F172A"/>
                </a:solidFill>
                <a:latin typeface="Consolas"/>
              </a:rPr>
              <a:t>Augmented 0.7670  vs  Baseline 0.8757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0284C7"/>
                </a:solidFill>
                <a:latin typeface="Manrope"/>
              </a:rPr>
              <a:t>• Floor is open: </a:t>
            </a:r>
            <a:r>
              <a:rPr sz="1350" b="0">
                <a:solidFill>
                  <a:srgbClr val="0F172A"/>
                </a:solidFill>
                <a:latin typeface="Inter"/>
              </a:rPr>
              <a:t>Ready to defend all algorithmic &amp; design decisions 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137160" cy="5029200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55448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5800" b="1">
                <a:solidFill>
                  <a:srgbClr val="0F172A"/>
                </a:solidFill>
                <a:latin typeface="Manrope"/>
              </a:rPr>
              <a:t>Thank You</a:t>
            </a:r>
          </a:p>
          <a:p>
            <a:r>
              <a:rPr sz="2800" b="0">
                <a:solidFill>
                  <a:srgbClr val="2563EB"/>
                </a:solidFill>
                <a:latin typeface="Inter"/>
              </a:rPr>
              <a:t>for your time &amp; attention!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0690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0">
                <a:solidFill>
                  <a:srgbClr val="0F172A"/>
                </a:solidFill>
                <a:latin typeface="Inter"/>
              </a:rPr>
              <a:t>We are happy to answer any questions about our implementation, results, or design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361188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3659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0284C7"/>
                </a:solidFill>
                <a:latin typeface="Manrope"/>
              </a:rPr>
              <a:t>📡 Topic</a:t>
            </a:r>
          </a:p>
          <a:p>
            <a:r>
              <a:rPr sz="1250" b="0">
                <a:solidFill>
                  <a:srgbClr val="0F172A"/>
                </a:solidFill>
                <a:latin typeface="Inter"/>
              </a:rPr>
              <a:t>Data Augmentation &amp; Noise Resilience for Low-SNR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53711" y="4663440"/>
            <a:ext cx="361188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1" y="473659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0284C7"/>
                </a:solidFill>
                <a:latin typeface="Manrope"/>
              </a:rPr>
              <a:t>🏫 Course</a:t>
            </a:r>
          </a:p>
          <a:p>
            <a:r>
              <a:rPr sz="1250" b="0">
                <a:solidFill>
                  <a:srgbClr val="0F172A"/>
                </a:solidFill>
                <a:latin typeface="Inter"/>
              </a:rPr>
              <a:t>EE136IU — ML for Wireless Communications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75902" y="4663440"/>
            <a:ext cx="361188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13062" y="473659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0284C7"/>
                </a:solidFill>
                <a:latin typeface="Manrope"/>
              </a:rPr>
              <a:t>🚀 Demo</a:t>
            </a:r>
          </a:p>
          <a:p>
            <a:r>
              <a:rPr sz="1250" b="0">
                <a:solidFill>
                  <a:srgbClr val="0F172A"/>
                </a:solidFill>
                <a:latin typeface="Consolas"/>
              </a:rPr>
              <a:t>py -m streamlit run app.py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0350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1447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Inter"/>
              </a:rPr>
              <a:t>EE136: Machine Learning for Wireless Communications | Topic 4 Capstone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144768"/>
            <a:ext cx="1856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