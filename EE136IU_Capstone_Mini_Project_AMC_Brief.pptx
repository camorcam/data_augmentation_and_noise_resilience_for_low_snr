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8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Introduce the Capstone Mini-Project Brief for EE136 and establish high-level expectations for the culminating defense session.</a:t>
            </a:r>
          </a:p>
          <a:p>
            <a:endParaRPr/>
          </a:p>
          <a:p>
            <a:r>
              <a:t>[SUGGESTED EXPLANATION / SPOKEN SCRIPT]</a:t>
            </a:r>
          </a:p>
          <a:p>
            <a:r>
              <a:t>Welcome students. Today we formally launch the Capstone Mini-Project Brief for EE136: Machine Learning for Wireless Communications. This capstone brings together everything we have mastered over the past 7 weeks—from baseband signal processing and channel impairments to neural network architectures and edge deployment.</a:t>
            </a:r>
          </a:p>
          <a:p>
            <a:endParaRPr/>
          </a:p>
          <a:p>
            <a:r>
              <a:t>[KEY POINTS TO EMPHASIZE]</a:t>
            </a:r>
          </a:p>
          <a:p>
            <a:r>
              <a:t>The mini-project is evaluated across 5 student teams addressing 8 distinct topics with a strict 30-minute defense protocol.</a:t>
            </a:r>
          </a:p>
          <a:p>
            <a:endParaRPr/>
          </a:p>
          <a:p>
            <a:r>
              <a:t>[FIGURE / TABLE / DIAGRAM GUIDANCE]</a:t>
            </a:r>
          </a:p>
          <a:p>
            <a:r>
              <a:t>Title slide features the institutional Clean White Academic layout with Left Accent Bar and course metadata.</a:t>
            </a:r>
          </a:p>
          <a:p>
            <a:endParaRPr/>
          </a:p>
          <a:p>
            <a:r>
              <a:t>[EQUATION / MATHEMATICAL MODEL GUIDANCE]</a:t>
            </a:r>
          </a:p>
          <a:p>
            <a:r>
              <a:t>N/A for title slide.</a:t>
            </a:r>
          </a:p>
          <a:p>
            <a:endParaRPr/>
          </a:p>
          <a:p>
            <a:r>
              <a:t>[COMMON MISCONCEPTIONS &amp; PITFALLS]</a:t>
            </a:r>
          </a:p>
          <a:p>
            <a:r>
              <a:t>Students sometimes think this is a pure software coding project; emphasize that RF domain physics and signal theory are mandatory.</a:t>
            </a:r>
          </a:p>
          <a:p>
            <a:endParaRPr/>
          </a:p>
          <a:p>
            <a:r>
              <a:t>[CLASSROOM INTERACTION &amp; CHALK TALK]</a:t>
            </a:r>
          </a:p>
          <a:p>
            <a:r>
              <a:t>Ask each team lead if they have reviewed the 8 topics with their teammates.</a:t>
            </a:r>
          </a:p>
          <a:p>
            <a:endParaRPr/>
          </a:p>
          <a:p>
            <a:r>
              <a:t>[SUGGESTED TEACHING TIME]</a:t>
            </a:r>
          </a:p>
          <a:p>
            <a:r>
              <a:t>3-5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core philosophy and objective of the Capstone Mini-Project.</a:t>
            </a:r>
          </a:p>
          <a:p>
            <a:endParaRPr/>
          </a:p>
          <a:p>
            <a:r>
              <a:t>[SUGGESTED EXPLANATION / SPOKEN SCRIPT]</a:t>
            </a:r>
          </a:p>
          <a:p>
            <a:r>
              <a:t>The core objective of this capstone is to ensure you understand that in wireless communications, machine learning cannot be applied as a naive black-box. We care about physics: What is the noise floor? What happens when carrier frequency offset rotates the constellation? Why does a 64QAM lattice collapse at low SNR?</a:t>
            </a:r>
          </a:p>
          <a:p>
            <a:endParaRPr/>
          </a:p>
          <a:p>
            <a:r>
              <a:t>[KEY POINTS TO EMPHASIZE]</a:t>
            </a:r>
          </a:p>
          <a:p>
            <a:r>
              <a:t>Aggregate accuracy alone will receive low credit. High scores require SNR-conditioned performance curves, confusion matrices, and failure diagnostics.</a:t>
            </a:r>
          </a:p>
          <a:p>
            <a:endParaRPr/>
          </a:p>
          <a:p>
            <a:r>
              <a:t>[FIGURE / TABLE / DIAGRAM GUIDANCE]</a:t>
            </a:r>
          </a:p>
          <a:p>
            <a:r>
              <a:t>Left card outlines the curriculum synthesis; right highlighted card details the core engineering objective.</a:t>
            </a:r>
          </a:p>
          <a:p>
            <a:endParaRPr/>
          </a:p>
          <a:p>
            <a:r>
              <a:t>[EQUATION / MATHEMATICAL MODEL GUIDANCE]</a:t>
            </a:r>
          </a:p>
          <a:p>
            <a:r>
              <a:t>Mention the received signal model: r[n] = h * s[n] * e^(j(2*pi*Delta_f*n + theta)) + w[n].</a:t>
            </a:r>
          </a:p>
          <a:p>
            <a:endParaRPr/>
          </a:p>
          <a:p>
            <a:r>
              <a:t>[COMMON MISCONCEPTIONS &amp; PITFALLS]</a:t>
            </a:r>
          </a:p>
          <a:p>
            <a:r>
              <a:t>Students often report 85% overall accuracy without realizing their model has 0% accuracy at -10 dB and only works at +18 dB.</a:t>
            </a:r>
          </a:p>
          <a:p>
            <a:endParaRPr/>
          </a:p>
          <a:p>
            <a:r>
              <a:t>[CLASSROOM INTERACTION &amp; CHALK TALK]</a:t>
            </a:r>
          </a:p>
          <a:p>
            <a:r>
              <a:t>Ask students: 'Why is global average accuracy misleading in wireless communication systems?'</a:t>
            </a:r>
          </a:p>
          <a:p>
            <a:endParaRPr/>
          </a:p>
          <a:p>
            <a:r>
              <a:t>[SUGGESTED TEACHING TIME]</a:t>
            </a:r>
          </a:p>
          <a:p>
            <a:r>
              <a:t>4-6 minutes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Establish the standardized physical signal representation and data hygiene baseline required across all 8 projects.</a:t>
            </a:r>
          </a:p>
          <a:p>
            <a:endParaRPr/>
          </a:p>
          <a:p>
            <a:r>
              <a:t>[SUGGESTED EXPLANATION / SPOKEN SCRIPT]</a:t>
            </a:r>
          </a:p>
          <a:p>
            <a:r>
              <a:t>Every team, regardless of topic, must build on the same foundational signal format: 128-sample complex baseband bursts structured into shape [N_batch, 2, 128]. We also require per-burst RMS normalization so your neural network learns modulation geometry rather than simply memorizing signal power levels.</a:t>
            </a:r>
          </a:p>
          <a:p>
            <a:endParaRPr/>
          </a:p>
          <a:p>
            <a:r>
              <a:t>[KEY POINTS TO EMPHASIZE]</a:t>
            </a:r>
          </a:p>
          <a:p>
            <a:r>
              <a:t>Tensor shape is strictly [N_batch, 2, 128]. RMS normalization r_norm[n] = r[n] / E_rms is mandatory.</a:t>
            </a:r>
          </a:p>
          <a:p>
            <a:endParaRPr/>
          </a:p>
          <a:p>
            <a:r>
              <a:t>[FIGURE / TABLE / DIAGRAM GUIDANCE]</a:t>
            </a:r>
          </a:p>
          <a:p>
            <a:r>
              <a:t>Three-column cards presenting tensor dimensions, modulation class requirements, and normalization rules.</a:t>
            </a:r>
          </a:p>
          <a:p>
            <a:endParaRPr/>
          </a:p>
          <a:p>
            <a:r>
              <a:t>[EQUATION / MATHEMATICAL MODEL GUIDANCE]</a:t>
            </a:r>
          </a:p>
          <a:p>
            <a:r>
              <a:t>Explain E_rms = sqrt((1/L) * sum(|r[n]|^2)).</a:t>
            </a:r>
          </a:p>
          <a:p>
            <a:endParaRPr/>
          </a:p>
          <a:p>
            <a:r>
              <a:t>[COMMON MISCONCEPTIONS &amp; PITFALLS]</a:t>
            </a:r>
          </a:p>
          <a:p>
            <a:r>
              <a:t>If you don't normalize energy, high-order QAM has higher peak power and models cheat by classifying modulation solely based on burst variance.</a:t>
            </a:r>
          </a:p>
          <a:p>
            <a:endParaRPr/>
          </a:p>
          <a:p>
            <a:r>
              <a:t>[CLASSROOM INTERACTION &amp; CHALK TALK]</a:t>
            </a:r>
          </a:p>
          <a:p>
            <a:r>
              <a:t>Check that students understand why Row 0 is I[n] and Row 1 is Q[n].</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Clarify the evaluation protocol across the 15-point SNR grid and the role of AI-assisted 'vibe coding'.</a:t>
            </a:r>
          </a:p>
          <a:p>
            <a:endParaRPr/>
          </a:p>
          <a:p>
            <a:r>
              <a:t>[SUGGESTED EXPLANATION / SPOKEN SCRIPT]</a:t>
            </a:r>
          </a:p>
          <a:p>
            <a:r>
              <a:t>We evaluate performance across 15 distinct SNR points from -10 dB to +18 dB. Furthermore, we embrace AI-assisted vibe coding: you can use Claude, Cursor, Copilot to build your PyTorch training loops and Streamlit dashboards in hours, but you must understand every line of signal processing logic.</a:t>
            </a:r>
          </a:p>
          <a:p>
            <a:endParaRPr/>
          </a:p>
          <a:p>
            <a:r>
              <a:t>[KEY POINTS TO EMPHASIZE]</a:t>
            </a:r>
          </a:p>
          <a:p>
            <a:r>
              <a:t>15-point SNR grid (-10 dB to +18 dB in 2 dB steps). Vibe coding is encouraged for speed, but technical understanding will be rigorously tested.</a:t>
            </a:r>
          </a:p>
          <a:p>
            <a:endParaRPr/>
          </a:p>
          <a:p>
            <a:r>
              <a:t>[FIGURE / TABLE / DIAGRAM GUIDANCE]</a:t>
            </a:r>
          </a:p>
          <a:p>
            <a:r>
              <a:t>Left card covers the empirical evaluation protocol; right card covers the AI-accelerated software toolchain.</a:t>
            </a:r>
          </a:p>
          <a:p>
            <a:endParaRPr/>
          </a:p>
          <a:p>
            <a:r>
              <a:t>[EQUATION / MATHEMATICAL MODEL GUIDANCE]</a:t>
            </a:r>
          </a:p>
          <a:p>
            <a:r>
              <a:t>SNR_dB = 10 * log10(E_s / N_0).</a:t>
            </a:r>
          </a:p>
          <a:p>
            <a:endParaRPr/>
          </a:p>
          <a:p>
            <a:r>
              <a:t>[COMMON MISCONCEPTIONS &amp; PITFALLS]</a:t>
            </a:r>
          </a:p>
          <a:p>
            <a:r>
              <a:t>Using AI assistants does not excuse you from understanding why your network failed or how your features were extracted.</a:t>
            </a:r>
          </a:p>
          <a:p>
            <a:endParaRPr/>
          </a:p>
          <a:p>
            <a:r>
              <a:t>[CLASSROOM INTERACTION &amp; CHALK TALK]</a:t>
            </a:r>
          </a:p>
          <a:p>
            <a:r>
              <a:t>Ask students: 'Which AI toolchains do your teams plan to use for rapid prototyping?'</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Provide a high-level architectural overview of all 8 project topics and how they are allocated across 5 student teams.</a:t>
            </a:r>
          </a:p>
          <a:p>
            <a:endParaRPr/>
          </a:p>
          <a:p>
            <a:r>
              <a:t>[SUGGESTED EXPLANATION / SPOKEN SCRIPT]</a:t>
            </a:r>
          </a:p>
          <a:p>
            <a:r>
              <a:t>Here is the master portfolio of 8 topics. They are structured into two complementary tiers: Tier 1 focuses on classical algorithms, physical feature engineering, channel impairments, and data augmentation. Tier 2 focuses on advanced residual architectures, 2D vision representations, squelch calibration, and real-time edge quantization.</a:t>
            </a:r>
          </a:p>
          <a:p>
            <a:endParaRPr/>
          </a:p>
          <a:p>
            <a:r>
              <a:t>[KEY POINTS TO EMPHASIZE]</a:t>
            </a:r>
          </a:p>
          <a:p>
            <a:r>
              <a:t>5 student teams will select or be assigned one topic each. All topics have balanced difficulty and equal scoring opportunity.</a:t>
            </a:r>
          </a:p>
          <a:p>
            <a:endParaRPr/>
          </a:p>
          <a:p>
            <a:r>
              <a:t>[FIGURE / TABLE / DIAGRAM GUIDANCE]</a:t>
            </a:r>
          </a:p>
          <a:p>
            <a:r>
              <a:t>Two structured container cards dividing the 8 topics into Tier 1 (ML/Physics) and Tier 2 (Architectures/Edge).</a:t>
            </a:r>
          </a:p>
          <a:p>
            <a:endParaRPr/>
          </a:p>
          <a:p>
            <a:r>
              <a:t>[EQUATION / MATHEMATICAL MODEL GUIDANCE]</a:t>
            </a:r>
          </a:p>
          <a:p>
            <a:r>
              <a:t>N/A for topic overview.</a:t>
            </a:r>
          </a:p>
          <a:p>
            <a:endParaRPr/>
          </a:p>
          <a:p>
            <a:r>
              <a:t>[COMMON MISCONCEPTIONS &amp; PITFALLS]</a:t>
            </a:r>
          </a:p>
          <a:p>
            <a:r>
              <a:t>No topic is 'easier' or 'harder'; they are calibrated to require the same amount of engineering rigor and experimental depth.</a:t>
            </a:r>
          </a:p>
          <a:p>
            <a:endParaRPr/>
          </a:p>
          <a:p>
            <a:r>
              <a:t>[CLASSROOM INTERACTION &amp; CHALK TALK]</a:t>
            </a:r>
          </a:p>
          <a:p>
            <a:r>
              <a:t>Ask teams which topics align best with their specific technical strengths.</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1.</a:t>
            </a:r>
          </a:p>
          <a:p>
            <a:endParaRPr/>
          </a:p>
          <a:p>
            <a:r>
              <a:t>[SUGGESTED EXPLANATION / SPOKEN SCRIPT]</a:t>
            </a:r>
          </a:p>
          <a:p>
            <a:r>
              <a:t>Topic 1 evaluates inductive biases across three machine learning paradigms. Classical feature-based ML requires domain engineering; MLPs learn dense mappings; 1D CNNs extract shift-invariant temporal representations directly from raw I/Q.</a:t>
            </a:r>
          </a:p>
          <a:p>
            <a:endParaRPr/>
          </a:p>
          <a:p>
            <a:r>
              <a:t>[KEY POINTS TO EMPHASIZE]</a:t>
            </a:r>
          </a:p>
          <a:p>
            <a:r>
              <a:t>Compare RBF-SVM (18 features) vs. 3-layer MLP vs. 3-block 1D CNN. Plot 3 curves on same Accuracy vs. SNR figure.</a:t>
            </a:r>
          </a:p>
          <a:p>
            <a:endParaRPr/>
          </a:p>
          <a:p>
            <a:r>
              <a:t>[FIGURE / TABLE / DIAGRAM GUIDANCE]</a:t>
            </a:r>
          </a:p>
          <a:p>
            <a:r>
              <a:t>Left card details technical methodology and tasks for Topic 1; right card specifies live demo expectations.</a:t>
            </a:r>
          </a:p>
          <a:p>
            <a:endParaRPr/>
          </a:p>
          <a:p>
            <a:r>
              <a:t>[EQUATION / MATHEMATICAL MODEL GUIDANCE]</a:t>
            </a:r>
          </a:p>
          <a:p>
            <a:r>
              <a:t>Model parameter counts: N_params(SVM) vs. N_params(MLP) vs. N_params(CNN).</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1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2.</a:t>
            </a:r>
          </a:p>
          <a:p>
            <a:endParaRPr/>
          </a:p>
          <a:p>
            <a:r>
              <a:t>[SUGGESTED EXPLANATION / SPOKEN SCRIPT]</a:t>
            </a:r>
          </a:p>
          <a:p>
            <a:r>
              <a:t>Topic 2 investigates whether explicit mathematical features (cumulants and FFT statistics) provide better noise immunity or interpretability compared to raw I/Q neural representation learning.</a:t>
            </a:r>
          </a:p>
          <a:p>
            <a:endParaRPr/>
          </a:p>
          <a:p>
            <a:r>
              <a:t>[KEY POINTS TO EMPHASIZE]</a:t>
            </a:r>
          </a:p>
          <a:p>
            <a:r>
              <a:t>Cumulants C_40 = E[s^4] - 3*E[s^2]^2; C_42 = E[|s|^4] - |E[s^2]|^2 - 2*E[|s|^2]^2. Compare against 1D CNN.</a:t>
            </a:r>
          </a:p>
          <a:p>
            <a:endParaRPr/>
          </a:p>
          <a:p>
            <a:r>
              <a:t>[FIGURE / TABLE / DIAGRAM GUIDANCE]</a:t>
            </a:r>
          </a:p>
          <a:p>
            <a:r>
              <a:t>Left card details technical methodology and tasks for Topic 2; right card specifies live demo expectations.</a:t>
            </a:r>
          </a:p>
          <a:p>
            <a:endParaRPr/>
          </a:p>
          <a:p>
            <a:r>
              <a:t>[EQUATION / MATHEMATICAL MODEL GUIDANCE]</a:t>
            </a:r>
          </a:p>
          <a:p>
            <a:r>
              <a:t>C_40 and C_42 theoretical values for QPSK vs 16QAM.</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2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3.</a:t>
            </a:r>
          </a:p>
          <a:p>
            <a:endParaRPr/>
          </a:p>
          <a:p>
            <a:r>
              <a:t>[SUGGESTED EXPLANATION / SPOKEN SCRIPT]</a:t>
            </a:r>
          </a:p>
          <a:p>
            <a:r>
              <a:t>Topic 3 explores physical RF oscillator mismatch. A carrier frequency offset multiplies the burst by exp(j*2*pi*Delta_f*n), turning stationary constellation clouds into rotating rings. Students must identify the breakdown threshold.</a:t>
            </a:r>
          </a:p>
          <a:p>
            <a:endParaRPr/>
          </a:p>
          <a:p>
            <a:r>
              <a:t>[KEY POINTS TO EMPHASIZE]</a:t>
            </a:r>
          </a:p>
          <a:p>
            <a:r>
              <a:t>Test across CFO = 0.5% to 5.0% fs. Identify breakdown threshold Delta_f_crit where accuracy drops by &gt; 20%.</a:t>
            </a:r>
          </a:p>
          <a:p>
            <a:endParaRPr/>
          </a:p>
          <a:p>
            <a:r>
              <a:t>[FIGURE / TABLE / DIAGRAM GUIDANCE]</a:t>
            </a:r>
          </a:p>
          <a:p>
            <a:r>
              <a:t>Left card details technical methodology and tasks for Topic 3; right card specifies live demo expectations.</a:t>
            </a:r>
          </a:p>
          <a:p>
            <a:endParaRPr/>
          </a:p>
          <a:p>
            <a:r>
              <a:t>[EQUATION / MATHEMATICAL MODEL GUIDANCE]</a:t>
            </a:r>
          </a:p>
          <a:p>
            <a:r>
              <a:t>r[n] = s[n] * e^(j(2*pi*Delta_f*n + theta)) + w[n].</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3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4.</a:t>
            </a:r>
          </a:p>
          <a:p>
            <a:endParaRPr/>
          </a:p>
          <a:p>
            <a:r>
              <a:t>[SUGGESTED EXPLANATION / SPOKEN SCRIPT]</a:t>
            </a:r>
          </a:p>
          <a:p>
            <a:r>
              <a:t>Topic 4 addresses receiver sensitivity in noise-limited environments. Physical data augmentations force the neural network to become invariant to random initial phase and mild time delays, boosting classification accuracy at -10 dB to +2 dB.</a:t>
            </a:r>
          </a:p>
          <a:p>
            <a:endParaRPr/>
          </a:p>
          <a:p>
            <a:r>
              <a:t>[KEY POINTS TO EMPHASIZE]</a:t>
            </a:r>
          </a:p>
          <a:p>
            <a:r>
              <a:t>Augmentation operators: Phase rotation T_theta, Noise injection T_w, Time jitter T_tau. Compare Augmented vs Nominal CNN.</a:t>
            </a:r>
          </a:p>
          <a:p>
            <a:endParaRPr/>
          </a:p>
          <a:p>
            <a:r>
              <a:t>[FIGURE / TABLE / DIAGRAM GUIDANCE]</a:t>
            </a:r>
          </a:p>
          <a:p>
            <a:r>
              <a:t>Left card details technical methodology and tasks for Topic 4; right card specifies live demo expectations.</a:t>
            </a:r>
          </a:p>
          <a:p>
            <a:endParaRPr/>
          </a:p>
          <a:p>
            <a:r>
              <a:t>[EQUATION / MATHEMATICAL MODEL GUIDANCE]</a:t>
            </a:r>
          </a:p>
          <a:p>
            <a:r>
              <a:t>Sensitivity gain: Delta_SNR = SNR_nominal(80%) - SNR_augmented(80%).</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4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5.</a:t>
            </a:r>
          </a:p>
          <a:p>
            <a:endParaRPr/>
          </a:p>
          <a:p>
            <a:r>
              <a:t>[SUGGESTED EXPLANATION / SPOKEN SCRIPT]</a:t>
            </a:r>
          </a:p>
          <a:p>
            <a:r>
              <a:t>Topic 5 addresses a classic AMC failure mode: 16QAM vs 64QAM confusion. In finite bursts of 128 samples, the outer rings of 64QAM look identical to 16QAM. Residual skip connections preserve high-frequency amplitude-phase distinctions.</a:t>
            </a:r>
          </a:p>
          <a:p>
            <a:endParaRPr/>
          </a:p>
          <a:p>
            <a:r>
              <a:t>[KEY POINTS TO EMPHASIZE]</a:t>
            </a:r>
          </a:p>
          <a:p>
            <a:r>
              <a:t>Residual block: y = F(x, {W_i}) + x. Analyze sub-matrix C[16QAM, 64QAM] at SNR = +8 dB, +12 dB, +16 dB.</a:t>
            </a:r>
          </a:p>
          <a:p>
            <a:endParaRPr/>
          </a:p>
          <a:p>
            <a:r>
              <a:t>[FIGURE / TABLE / DIAGRAM GUIDANCE]</a:t>
            </a:r>
          </a:p>
          <a:p>
            <a:r>
              <a:t>Left card details technical methodology and tasks for Topic 5; right card specifies live demo expectations.</a:t>
            </a:r>
          </a:p>
          <a:p>
            <a:endParaRPr/>
          </a:p>
          <a:p>
            <a:r>
              <a:t>[EQUATION / MATHEMATICAL MODEL GUIDANCE]</a:t>
            </a:r>
          </a:p>
          <a:p>
            <a:r>
              <a:t>Gradient flow: dE/dx = dE/dy * (dF/dx + 1).</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5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6.</a:t>
            </a:r>
          </a:p>
          <a:p>
            <a:endParaRPr/>
          </a:p>
          <a:p>
            <a:r>
              <a:t>[SUGGESTED EXPLANATION / SPOKEN SCRIPT]</a:t>
            </a:r>
          </a:p>
          <a:p>
            <a:r>
              <a:t>Topic 6 investigates multi-domain representations. By converting 1D I/Q bursts into 2D STFT spectrograms or 2D constellation density maps, we can leverage 2D computer vision backbones. Students evaluate accuracy vs compute trade-offs.</a:t>
            </a:r>
          </a:p>
          <a:p>
            <a:endParaRPr/>
          </a:p>
          <a:p>
            <a:r>
              <a:t>[KEY POINTS TO EMPHASIZE]</a:t>
            </a:r>
          </a:p>
          <a:p>
            <a:r>
              <a:t>STFT X(m, omega) = sum_n x[n] w[n-m] e^(-j*omega*n). 2D grid shape: [N_batch, 1, 32, 32].</a:t>
            </a:r>
          </a:p>
          <a:p>
            <a:endParaRPr/>
          </a:p>
          <a:p>
            <a:r>
              <a:t>[FIGURE / TABLE / DIAGRAM GUIDANCE]</a:t>
            </a:r>
          </a:p>
          <a:p>
            <a:r>
              <a:t>Left card details technical methodology and tasks for Topic 6; right card specifies live demo expectations.</a:t>
            </a:r>
          </a:p>
          <a:p>
            <a:endParaRPr/>
          </a:p>
          <a:p>
            <a:r>
              <a:t>[EQUATION / MATHEMATICAL MODEL GUIDANCE]</a:t>
            </a:r>
          </a:p>
          <a:p>
            <a:r>
              <a:t>Compare FLOPs(2D CNN) vs FLOPs(1D CNN).</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6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7.</a:t>
            </a:r>
          </a:p>
          <a:p>
            <a:endParaRPr/>
          </a:p>
          <a:p>
            <a:r>
              <a:t>[SUGGESTED EXPLANATION / SPOKEN SCRIPT]</a:t>
            </a:r>
          </a:p>
          <a:p>
            <a:r>
              <a:t>Topic 7 tackles AI overconfidence. Standard softmax outputs high-confidence guesses even on pure noise bursts. Implementing an entropy-calibrated squelch threshold tau allows the receiver to safely output 'UNKNOWN'.</a:t>
            </a:r>
          </a:p>
          <a:p>
            <a:endParaRPr/>
          </a:p>
          <a:p>
            <a:r>
              <a:t>[KEY POINTS TO EMPHASIZE]</a:t>
            </a:r>
          </a:p>
          <a:p>
            <a:r>
              <a:t>Entropy H(p) = -sum_m p_m * log(p_m). Squelch rule: y_hat = argmax(p) if max(p) &gt;= tau else 'UNKNOWN'.</a:t>
            </a:r>
          </a:p>
          <a:p>
            <a:endParaRPr/>
          </a:p>
          <a:p>
            <a:r>
              <a:t>[FIGURE / TABLE / DIAGRAM GUIDANCE]</a:t>
            </a:r>
          </a:p>
          <a:p>
            <a:r>
              <a:t>Left card details technical methodology and tasks for Topic 7; right card specifies live demo expectations.</a:t>
            </a:r>
          </a:p>
          <a:p>
            <a:endParaRPr/>
          </a:p>
          <a:p>
            <a:r>
              <a:t>[EQUATION / MATHEMATICAL MODEL GUIDANCE]</a:t>
            </a:r>
          </a:p>
          <a:p>
            <a:r>
              <a:t>Risk R(tau) vs Coverage C(tau) trade-off curves.</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7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technical scope, methodology, and live demonstration expectations for Topic 8.</a:t>
            </a:r>
          </a:p>
          <a:p>
            <a:endParaRPr/>
          </a:p>
          <a:p>
            <a:r>
              <a:t>[SUGGESTED EXPLANATION / SPOKEN SCRIPT]</a:t>
            </a:r>
          </a:p>
          <a:p>
            <a:r>
              <a:t>Topic 8 focuses on edge AI deployment. A 128-sample burst at 1 Msps arrives every 128 microseconds. Models must execute inference before the next burst arrives. PTQ float32 to int8 reduces memory bandwidth and accelerates inference.</a:t>
            </a:r>
          </a:p>
          <a:p>
            <a:endParaRPr/>
          </a:p>
          <a:p>
            <a:r>
              <a:t>[KEY POINTS TO EMPHASIZE]</a:t>
            </a:r>
          </a:p>
          <a:p>
            <a:r>
              <a:t>Quantization: q = round(r / S) + Z; Scale S = (r_max - r_min) / 255. Deadline: t_infer &lt;= 128 us.</a:t>
            </a:r>
          </a:p>
          <a:p>
            <a:endParaRPr/>
          </a:p>
          <a:p>
            <a:r>
              <a:t>[FIGURE / TABLE / DIAGRAM GUIDANCE]</a:t>
            </a:r>
          </a:p>
          <a:p>
            <a:r>
              <a:t>Left card details technical methodology and tasks for Topic 8; right card specifies live demo expectations.</a:t>
            </a:r>
          </a:p>
          <a:p>
            <a:endParaRPr/>
          </a:p>
          <a:p>
            <a:r>
              <a:t>[EQUATION / MATHEMATICAL MODEL GUIDANCE]</a:t>
            </a:r>
          </a:p>
          <a:p>
            <a:r>
              <a:t>Throughput = N_bursts / t_total bursts/sec.</a:t>
            </a:r>
          </a:p>
          <a:p>
            <a:endParaRPr/>
          </a:p>
          <a:p>
            <a:r>
              <a:t>[COMMON MISCONCEPTIONS &amp; PITFALLS]</a:t>
            </a:r>
          </a:p>
          <a:p>
            <a:r>
              <a:t>Make sure students focus on quantitative comparison rather than qualitative statements.</a:t>
            </a:r>
          </a:p>
          <a:p>
            <a:endParaRPr/>
          </a:p>
          <a:p>
            <a:r>
              <a:t>[CLASSROOM INTERACTION &amp; CHALK TALK]</a:t>
            </a:r>
          </a:p>
          <a:p>
            <a:r>
              <a:t>Ask potential Topic 8 team members how they will implement their demo.</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Detail the strict 30-minute session structure and expectations for presentation, demo, and Q&amp;A.</a:t>
            </a:r>
          </a:p>
          <a:p>
            <a:endParaRPr/>
          </a:p>
          <a:p>
            <a:r>
              <a:t>[SUGGESTED EXPLANATION / SPOKEN SCRIPT]</a:t>
            </a:r>
          </a:p>
          <a:p>
            <a:r>
              <a:t>Each team has exactly 30 minutes. You will deliver a 15-minute presentation covering theory, results, and failure analysis. Then you have 10 minutes for an interactive live demo. Finally, we have 5 minutes of technical Q&amp;A where all teammates will be questioned.</a:t>
            </a:r>
          </a:p>
          <a:p>
            <a:endParaRPr/>
          </a:p>
          <a:p>
            <a:r>
              <a:t>[KEY POINTS TO EMPHASIZE]</a:t>
            </a:r>
          </a:p>
          <a:p>
            <a:r>
              <a:t>15m Presentation + 10m Live Demo + 5m Q&amp;A. Balanced team speaking roles are required.</a:t>
            </a:r>
          </a:p>
          <a:p>
            <a:endParaRPr/>
          </a:p>
          <a:p>
            <a:r>
              <a:t>[FIGURE / TABLE / DIAGRAM GUIDANCE]</a:t>
            </a:r>
          </a:p>
          <a:p>
            <a:r>
              <a:t>Three-stage colored cards: Blue (Presentation), Green (Demo), Purple (Q&amp;A).</a:t>
            </a:r>
          </a:p>
          <a:p>
            <a:endParaRPr/>
          </a:p>
          <a:p>
            <a:r>
              <a:t>[EQUATION / MATHEMATICAL MODEL GUIDANCE]</a:t>
            </a:r>
          </a:p>
          <a:p>
            <a:r>
              <a:t>N/A for schedule slide.</a:t>
            </a:r>
          </a:p>
          <a:p>
            <a:endParaRPr/>
          </a:p>
          <a:p>
            <a:r>
              <a:t>[COMMON MISCONCEPTIONS &amp; PITFALLS]</a:t>
            </a:r>
          </a:p>
          <a:p>
            <a:r>
              <a:t>Teams sometimes spend 25 minutes on slides and have no time for their demo. Strict timers will be displayed.</a:t>
            </a:r>
          </a:p>
          <a:p>
            <a:endParaRPr/>
          </a:p>
          <a:p>
            <a:r>
              <a:t>[CLASSROOM INTERACTION &amp; CHALK TALK]</a:t>
            </a:r>
          </a:p>
          <a:p>
            <a:r>
              <a:t>Ask teams: 'Have you practiced running your full slide deck in under 15 minutes?'</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Enforce the strict overtime deduction policy to motivate team rehearsal and professional pacing.</a:t>
            </a:r>
          </a:p>
          <a:p>
            <a:endParaRPr/>
          </a:p>
          <a:p>
            <a:r>
              <a:t>[SUGGESTED EXPLANATION / SPOKEN SCRIPT]</a:t>
            </a:r>
          </a:p>
          <a:p>
            <a:r>
              <a:t>Time management is an engineering skill. If you speak for 16 minutes, you lose 2 points. If you reach 20 minutes, you lose 10 points and your presentation is immediately cut off. Rehearse with a stopwatch!</a:t>
            </a:r>
          </a:p>
          <a:p>
            <a:endParaRPr/>
          </a:p>
          <a:p>
            <a:r>
              <a:t>[KEY POINTS TO EMPHASIZE]</a:t>
            </a:r>
          </a:p>
          <a:p>
            <a:r>
              <a:t>15-minute strict cap. Deductions: -2 pts/min over 16:00 up to -10 pts maximum at 20:00.</a:t>
            </a:r>
          </a:p>
          <a:p>
            <a:endParaRPr/>
          </a:p>
          <a:p>
            <a:r>
              <a:t>[FIGURE / TABLE / DIAGRAM GUIDANCE]</a:t>
            </a:r>
          </a:p>
          <a:p>
            <a:r>
              <a:t>Red/rose warning container card with explicit progressive deduction tiers.</a:t>
            </a:r>
          </a:p>
          <a:p>
            <a:endParaRPr/>
          </a:p>
          <a:p>
            <a:r>
              <a:t>[EQUATION / MATHEMATICAL MODEL GUIDANCE]</a:t>
            </a:r>
          </a:p>
          <a:p>
            <a:r>
              <a:t>Penalty = min(10, 2 * ceil(t_elapsed - 15)).</a:t>
            </a:r>
          </a:p>
          <a:p>
            <a:endParaRPr/>
          </a:p>
          <a:p>
            <a:r>
              <a:t>[COMMON MISCONCEPTIONS &amp; PITFALLS]</a:t>
            </a:r>
          </a:p>
          <a:p>
            <a:r>
              <a:t>Thinking that having more slides justifies exceeding time. You must curate your material to fit 15 minutes.</a:t>
            </a:r>
          </a:p>
          <a:p>
            <a:endParaRPr/>
          </a:p>
          <a:p>
            <a:r>
              <a:t>[CLASSROOM INTERACTION &amp; CHALK TALK]</a:t>
            </a:r>
          </a:p>
          <a:p>
            <a:r>
              <a:t>Ask teams: 'Who in your team is designated as the timekeeper during rehearsal?'</a:t>
            </a:r>
          </a:p>
          <a:p>
            <a:endParaRPr/>
          </a:p>
          <a:p>
            <a:r>
              <a:t>[SUGGESTED TEACHING TIME]</a:t>
            </a:r>
          </a:p>
          <a:p>
            <a:r>
              <a:t>3-4 minutes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slide design standards and mandatory compliance with the Clean White Academic template.</a:t>
            </a:r>
          </a:p>
          <a:p>
            <a:endParaRPr/>
          </a:p>
          <a:p>
            <a:r>
              <a:t>[SUGGESTED EXPLANATION / SPOKEN SCRIPT]</a:t>
            </a:r>
          </a:p>
          <a:p>
            <a:r>
              <a:t>Your presentation slides must strictly use the provided Clean White Academic template. Do not use black or dark backgrounds. Use Manrope for titles, Inter for body text, container cards to organize ideas, and include labeled SNR curves and confusion matrices.</a:t>
            </a:r>
          </a:p>
          <a:p>
            <a:endParaRPr/>
          </a:p>
          <a:p>
            <a:r>
              <a:t>[KEY POINTS TO EMPHASIZE]</a:t>
            </a:r>
          </a:p>
          <a:p>
            <a:r>
              <a:t>Use official course template. Pure white canvas (#FFFFFF). High contrast. No walls of text.</a:t>
            </a:r>
          </a:p>
          <a:p>
            <a:endParaRPr/>
          </a:p>
          <a:p>
            <a:r>
              <a:t>[FIGURE / TABLE / DIAGRAM GUIDANCE]</a:t>
            </a:r>
          </a:p>
          <a:p>
            <a:r>
              <a:t>Two container cards detailing theme colors and typography rules.</a:t>
            </a:r>
          </a:p>
          <a:p>
            <a:endParaRPr/>
          </a:p>
          <a:p>
            <a:r>
              <a:t>[EQUATION / MATHEMATICAL MODEL GUIDANCE]</a:t>
            </a:r>
          </a:p>
          <a:p>
            <a:r>
              <a:t>N/A for design standards slide.</a:t>
            </a:r>
          </a:p>
          <a:p>
            <a:endParaRPr/>
          </a:p>
          <a:p>
            <a:r>
              <a:t>[COMMON MISCONCEPTIONS &amp; PITFALLS]</a:t>
            </a:r>
          </a:p>
          <a:p>
            <a:r>
              <a:t>Thinking that decorative dark templates look cooler. In university academic defenses, projector readability and clean white contrast are required.</a:t>
            </a:r>
          </a:p>
          <a:p>
            <a:endParaRPr/>
          </a:p>
          <a:p>
            <a:r>
              <a:t>[CLASSROOM INTERACTION &amp; CHALK TALK]</a:t>
            </a:r>
          </a:p>
          <a:p>
            <a:r>
              <a:t>Remind students where to download the official template file.</a:t>
            </a:r>
          </a:p>
          <a:p>
            <a:endParaRPr/>
          </a:p>
          <a:p>
            <a:r>
              <a:t>[SUGGESTED TEACHING TIME]</a:t>
            </a:r>
          </a:p>
          <a:p>
            <a:r>
              <a:t>3-4 minutes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Define the 3 mandatory project deliverables required from every team prior to the defense.</a:t>
            </a:r>
          </a:p>
          <a:p>
            <a:endParaRPr/>
          </a:p>
          <a:p>
            <a:r>
              <a:t>[SUGGESTED EXPLANATION / SPOKEN SCRIPT]</a:t>
            </a:r>
          </a:p>
          <a:p>
            <a:r>
              <a:t>Every team must submit three deliverables: First, a clean GitHub repository with a 1-command reproducible README. Second, your completed presentation PPTX file. Third, a 30-60 second screen-recording video of your demo embedded directly in your slides as a fail-safe.</a:t>
            </a:r>
          </a:p>
          <a:p>
            <a:endParaRPr/>
          </a:p>
          <a:p>
            <a:r>
              <a:t>[KEY POINTS TO EMPHASIZE]</a:t>
            </a:r>
          </a:p>
          <a:p>
            <a:r>
              <a:t>GitHub repo (1-command execution) + PPTX slides + Fail-safe demo MP4.</a:t>
            </a:r>
          </a:p>
          <a:p>
            <a:endParaRPr/>
          </a:p>
          <a:p>
            <a:r>
              <a:t>[FIGURE / TABLE / DIAGRAM GUIDANCE]</a:t>
            </a:r>
          </a:p>
          <a:p>
            <a:r>
              <a:t>Three cards describing the repository, presentation slides, and fail-safe video.</a:t>
            </a:r>
          </a:p>
          <a:p>
            <a:endParaRPr/>
          </a:p>
          <a:p>
            <a:r>
              <a:t>[EQUATION / MATHEMATICAL MODEL GUIDANCE]</a:t>
            </a:r>
          </a:p>
          <a:p>
            <a:r>
              <a:t>N/A for deliverables slide.</a:t>
            </a:r>
          </a:p>
          <a:p>
            <a:endParaRPr/>
          </a:p>
          <a:p>
            <a:r>
              <a:t>[COMMON MISCONCEPTIONS &amp; PITFALLS]</a:t>
            </a:r>
          </a:p>
          <a:p>
            <a:r>
              <a:t>Thinking that a repo with broken paths or missing requirements.txt is acceptable. Another engineer must be able to clone and run in &lt; 30 seconds.</a:t>
            </a:r>
          </a:p>
          <a:p>
            <a:endParaRPr/>
          </a:p>
          <a:p>
            <a:r>
              <a:t>[CLASSROOM INTERACTION &amp; CHALK TALK]</a:t>
            </a:r>
          </a:p>
          <a:p>
            <a:r>
              <a:t>Ask students: 'Have you tested cloning your repository into a fresh virtual environment?'</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3 primary technical dimensions of the assessment rubric comprising 60 out of 100 points.</a:t>
            </a:r>
          </a:p>
          <a:p>
            <a:endParaRPr/>
          </a:p>
          <a:p>
            <a:r>
              <a:t>[SUGGESTED EXPLANATION / SPOKEN SCRIPT]</a:t>
            </a:r>
          </a:p>
          <a:p>
            <a:r>
              <a:t>The core technical evaluation comprises 60 points: 20 points for technical understanding of RF physics, 20 points for clean modular code without data leakage, and 20 points for comprehensive SNR curves, confusion matrices, and root-cause failure analysis.</a:t>
            </a:r>
          </a:p>
          <a:p>
            <a:endParaRPr/>
          </a:p>
          <a:p>
            <a:r>
              <a:t>[KEY POINTS TO EMPHASIZE]</a:t>
            </a:r>
          </a:p>
          <a:p>
            <a:r>
              <a:t>Technical Understanding (20) + Code Architecture (20) + Experimental Analysis (20) = 60 pts.</a:t>
            </a:r>
          </a:p>
          <a:p>
            <a:endParaRPr/>
          </a:p>
          <a:p>
            <a:r>
              <a:t>[FIGURE / TABLE / DIAGRAM GUIDANCE]</a:t>
            </a:r>
          </a:p>
          <a:p>
            <a:r>
              <a:t>Three-column card layout displaying criteria for full, partial, and minimal credit.</a:t>
            </a:r>
          </a:p>
          <a:p>
            <a:endParaRPr/>
          </a:p>
          <a:p>
            <a:r>
              <a:t>[EQUATION / MATHEMATICAL MODEL GUIDANCE]</a:t>
            </a:r>
          </a:p>
          <a:p>
            <a:r>
              <a:t>r[n] = h * s[n] + w[n]; Accuracy(SNR); Macro-F1 = (1/M) * sum(2*P_m*R_m / (P_m + R_m)).</a:t>
            </a:r>
          </a:p>
          <a:p>
            <a:endParaRPr/>
          </a:p>
          <a:p>
            <a:r>
              <a:t>[COMMON MISCONCEPTIONS &amp; PITFALLS]</a:t>
            </a:r>
          </a:p>
          <a:p>
            <a:r>
              <a:t>Reporting only a single global accuracy percentage will severely limit your score on Dimension 3.</a:t>
            </a:r>
          </a:p>
          <a:p>
            <a:endParaRPr/>
          </a:p>
          <a:p>
            <a:r>
              <a:t>[CLASSROOM INTERACTION &amp; CHALK TALK]</a:t>
            </a:r>
          </a:p>
          <a:p>
            <a:r>
              <a:t>Ask students what makes a root-cause failure analysis compelling.</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Explain the 4 practical and defense dimensions comprising the remaining 40 points of the 100-point rubric.</a:t>
            </a:r>
          </a:p>
          <a:p>
            <a:endParaRPr/>
          </a:p>
          <a:p>
            <a:r>
              <a:t>[SUGGESTED EXPLANATION / SPOKEN SCRIPT]</a:t>
            </a:r>
          </a:p>
          <a:p>
            <a:r>
              <a:t>The remaining 40 points evaluate professional execution: 15 points for your live interactive demo and backup video, 10 points for slide design and team delivery, 10 points for technical Q&amp;A defense, and 5 points for a reproducible GitHub repository.</a:t>
            </a:r>
          </a:p>
          <a:p>
            <a:endParaRPr/>
          </a:p>
          <a:p>
            <a:r>
              <a:t>[KEY POINTS TO EMPHASIZE]</a:t>
            </a:r>
          </a:p>
          <a:p>
            <a:r>
              <a:t>Live Demo (15) + Slide Design (10) + Q&amp;A Defense (10) + GitHub Repo (5) = 40 pts. Total = 100 pts.</a:t>
            </a:r>
          </a:p>
          <a:p>
            <a:endParaRPr/>
          </a:p>
          <a:p>
            <a:r>
              <a:t>[FIGURE / TABLE / DIAGRAM GUIDANCE]</a:t>
            </a:r>
          </a:p>
          <a:p>
            <a:r>
              <a:t>Four-column card layout displaying criteria for Dimensions 4 through 7.</a:t>
            </a:r>
          </a:p>
          <a:p>
            <a:endParaRPr/>
          </a:p>
          <a:p>
            <a:r>
              <a:t>[EQUATION / MATHEMATICAL MODEL GUIDANCE]</a:t>
            </a:r>
          </a:p>
          <a:p>
            <a:r>
              <a:t>Total = Sum(Dim_i) = 100 pts.</a:t>
            </a:r>
          </a:p>
          <a:p>
            <a:endParaRPr/>
          </a:p>
          <a:p>
            <a:r>
              <a:t>[COMMON MISCONCEPTIONS &amp; PITFALLS]</a:t>
            </a:r>
          </a:p>
          <a:p>
            <a:r>
              <a:t>Thinking that having good code excuses a poorly rehearsed demo or failure during Q&amp;A.</a:t>
            </a:r>
          </a:p>
          <a:p>
            <a:endParaRPr/>
          </a:p>
          <a:p>
            <a:r>
              <a:t>[CLASSROOM INTERACTION &amp; CHALK TALK]</a:t>
            </a:r>
          </a:p>
          <a:p>
            <a:r>
              <a:t>Ensure all students know that individual participation during Q&amp;A affects their score.</a:t>
            </a:r>
          </a:p>
          <a:p>
            <a:endParaRPr/>
          </a:p>
          <a:p>
            <a:r>
              <a:t>[SUGGESTED TEACHING TIME]</a:t>
            </a:r>
          </a:p>
          <a:p>
            <a:r>
              <a:t>4-5 minutes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Provide a comprehensive 10-point pre-defense checklist to ensure zero operational failure during the final defense.</a:t>
            </a:r>
          </a:p>
          <a:p>
            <a:endParaRPr/>
          </a:p>
          <a:p>
            <a:r>
              <a:t>[SUGGESTED EXPLANATION / SPOKEN SCRIPT]</a:t>
            </a:r>
          </a:p>
          <a:p>
            <a:r>
              <a:t>Before you step up to defend your project, go through this 10-point checklist. Make sure your baseband tensor formats, SNR curves, confusion matrices, demo timing, embedded backup video, and GitHub repo are completely verified.</a:t>
            </a:r>
          </a:p>
          <a:p>
            <a:endParaRPr/>
          </a:p>
          <a:p>
            <a:r>
              <a:t>[KEY POINTS TO EMPHASIZE]</a:t>
            </a:r>
          </a:p>
          <a:p>
            <a:r>
              <a:t>10-point readiness checklist divided into Technical (5 points) and Operational (5 points).</a:t>
            </a:r>
          </a:p>
          <a:p>
            <a:endParaRPr/>
          </a:p>
          <a:p>
            <a:r>
              <a:t>[FIGURE / TABLE / DIAGRAM GUIDANCE]</a:t>
            </a:r>
          </a:p>
          <a:p>
            <a:r>
              <a:t>Two container cards showing 5 technical checks on the left and 5 operational checks on the right.</a:t>
            </a:r>
          </a:p>
          <a:p>
            <a:endParaRPr/>
          </a:p>
          <a:p>
            <a:r>
              <a:t>[EQUATION / MATHEMATICAL MODEL GUIDANCE]</a:t>
            </a:r>
          </a:p>
          <a:p>
            <a:r>
              <a:t>N/A for checklist slide.</a:t>
            </a:r>
          </a:p>
          <a:p>
            <a:endParaRPr/>
          </a:p>
          <a:p>
            <a:r>
              <a:t>[COMMON MISCONCEPTIONS &amp; PITFALLS]</a:t>
            </a:r>
          </a:p>
          <a:p>
            <a:r>
              <a:t>Forgetting to embed the backup video, leading to zero demo points if the live environment crashes.</a:t>
            </a:r>
          </a:p>
          <a:p>
            <a:endParaRPr/>
          </a:p>
          <a:p>
            <a:r>
              <a:t>[CLASSROOM INTERACTION &amp; CHALK TALK]</a:t>
            </a:r>
          </a:p>
          <a:p>
            <a:r>
              <a:t>Have each team leader confirm that they have recorded their 45-second backup video.</a:t>
            </a:r>
          </a:p>
          <a:p>
            <a:endParaRPr/>
          </a:p>
          <a:p>
            <a:r>
              <a:t>[SUGGESTED TEACHING TIME]</a:t>
            </a:r>
          </a:p>
          <a:p>
            <a:r>
              <a:t>3-4 minutes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OBJECTIVE]</a:t>
            </a:r>
          </a:p>
          <a:p>
            <a:r>
              <a:t>Conclude the Capstone Mini-Project Briefing and open the floor for student questions and topic selection.</a:t>
            </a:r>
          </a:p>
          <a:p>
            <a:endParaRPr/>
          </a:p>
          <a:p>
            <a:r>
              <a:t>[SUGGESTED EXPLANATION / SPOKEN SCRIPT]</a:t>
            </a:r>
          </a:p>
          <a:p>
            <a:r>
              <a:t>In conclusion, this project is your bridge to professional engineering and graduate-level wireless AI research. Focus on physical rigor, build great demos, manage your time, and enjoy the process. I am now taking questions on topic selection, evaluation criteria, or setup logistics.</a:t>
            </a:r>
          </a:p>
          <a:p>
            <a:endParaRPr/>
          </a:p>
          <a:p>
            <a:r>
              <a:t>[KEY POINTS TO EMPHASIZE]</a:t>
            </a:r>
          </a:p>
          <a:p>
            <a:r>
              <a:t>Culminating milestone. Physics-grounded ML. 30-minute defense session. Open floor for Q&amp;A.</a:t>
            </a:r>
          </a:p>
          <a:p>
            <a:endParaRPr/>
          </a:p>
          <a:p>
            <a:r>
              <a:t>[FIGURE / TABLE / DIAGRAM GUIDANCE]</a:t>
            </a:r>
          </a:p>
          <a:p>
            <a:r>
              <a:t>Clean closing container card with key takeaways.</a:t>
            </a:r>
          </a:p>
          <a:p>
            <a:endParaRPr/>
          </a:p>
          <a:p>
            <a:r>
              <a:t>[EQUATION / MATHEMATICAL MODEL GUIDANCE]</a:t>
            </a:r>
          </a:p>
          <a:p>
            <a:r>
              <a:t>N/A for conclusion slide.</a:t>
            </a:r>
          </a:p>
          <a:p>
            <a:endParaRPr/>
          </a:p>
          <a:p>
            <a:r>
              <a:t>[COMMON MISCONCEPTIONS &amp; PITFALLS]</a:t>
            </a:r>
          </a:p>
          <a:p>
            <a:r>
              <a:t>N/A</a:t>
            </a:r>
          </a:p>
          <a:p>
            <a:endParaRPr/>
          </a:p>
          <a:p>
            <a:r>
              <a:t>[CLASSROOM INTERACTION &amp; CHALK TALK]</a:t>
            </a:r>
          </a:p>
          <a:p>
            <a:r>
              <a:t>Invite student teams to ask any remaining clarifying questions.</a:t>
            </a:r>
          </a:p>
          <a:p>
            <a:endParaRPr/>
          </a:p>
          <a:p>
            <a:r>
              <a:t>[SUGGESTED TEACHING TIME]</a:t>
            </a:r>
          </a:p>
          <a:p>
            <a:r>
              <a:t>3-5 minutes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1371600"/>
            <a:ext cx="146304" cy="4297680"/>
          </a:xfrm>
          <a:prstGeom prst="roundRect">
            <a:avLst/>
          </a:prstGeom>
          <a:solidFill>
            <a:srgbClr val="0284C7"/>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51560" y="1371600"/>
            <a:ext cx="5303520" cy="38404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lIns="137160" rtlCol="0" anchor="ctr"/>
          <a:lstStyle/>
          <a:p>
            <a:pPr algn="ctr">
              <a:defRPr sz="1300" b="1">
                <a:solidFill>
                  <a:srgbClr val="0284C7"/>
                </a:solidFill>
                <a:latin typeface="Manrope"/>
              </a:defRPr>
            </a:pPr>
            <a:r>
              <a:t>EE136 • MACHINE LEARNING FOR WIRELESS COMMUNICATIONS</a:t>
            </a:r>
          </a:p>
        </p:txBody>
      </p:sp>
      <p:sp>
        <p:nvSpPr>
          <p:cNvPr id="4" name="TextBox 3"/>
          <p:cNvSpPr txBox="1"/>
          <p:nvPr/>
        </p:nvSpPr>
        <p:spPr>
          <a:xfrm>
            <a:off x="1051560" y="1965960"/>
            <a:ext cx="10058400" cy="1280160"/>
          </a:xfrm>
          <a:prstGeom prst="rect">
            <a:avLst/>
          </a:prstGeom>
          <a:noFill/>
        </p:spPr>
        <p:txBody>
          <a:bodyPr wrap="square">
            <a:spAutoFit/>
          </a:bodyPr>
          <a:lstStyle/>
          <a:p>
            <a:pPr>
              <a:defRPr sz="3600" b="1">
                <a:solidFill>
                  <a:srgbClr val="0F172A"/>
                </a:solidFill>
                <a:latin typeface="Manrope"/>
              </a:defRPr>
            </a:pPr>
            <a:r>
              <a:t>Capstone Mini-Project Brief</a:t>
            </a:r>
          </a:p>
        </p:txBody>
      </p:sp>
      <p:sp>
        <p:nvSpPr>
          <p:cNvPr id="5" name="TextBox 4"/>
          <p:cNvSpPr txBox="1"/>
          <p:nvPr/>
        </p:nvSpPr>
        <p:spPr>
          <a:xfrm>
            <a:off x="1051560" y="3337560"/>
            <a:ext cx="10058400" cy="731520"/>
          </a:xfrm>
          <a:prstGeom prst="rect">
            <a:avLst/>
          </a:prstGeom>
          <a:noFill/>
        </p:spPr>
        <p:txBody>
          <a:bodyPr wrap="square">
            <a:spAutoFit/>
          </a:bodyPr>
          <a:lstStyle/>
          <a:p>
            <a:pPr>
              <a:defRPr sz="1800">
                <a:solidFill>
                  <a:srgbClr val="334155"/>
                </a:solidFill>
                <a:latin typeface="Inter"/>
              </a:defRPr>
            </a:pPr>
            <a:r>
              <a:t>Wireless Intelligence &amp; Automatic Modulation Classification (AMC)</a:t>
            </a:r>
            <a:br/>
            <a:r>
              <a:t>5 Student Teams • 8 Specialized Topics • 30-Minute Live Defense Protocol</a:t>
            </a:r>
          </a:p>
        </p:txBody>
      </p:sp>
      <p:sp>
        <p:nvSpPr>
          <p:cNvPr id="6" name="Oval 5"/>
          <p:cNvSpPr/>
          <p:nvPr/>
        </p:nvSpPr>
        <p:spPr>
          <a:xfrm>
            <a:off x="1051560" y="4343400"/>
            <a:ext cx="365760" cy="365760"/>
          </a:xfrm>
          <a:prstGeom prst="ellipse">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4343400"/>
            <a:ext cx="9601200" cy="411480"/>
          </a:xfrm>
          <a:prstGeom prst="rect">
            <a:avLst/>
          </a:prstGeom>
          <a:noFill/>
        </p:spPr>
        <p:txBody>
          <a:bodyPr wrap="square">
            <a:spAutoFit/>
          </a:bodyPr>
          <a:lstStyle/>
          <a:p>
            <a:pPr>
              <a:defRPr sz="1300" b="1">
                <a:solidFill>
                  <a:srgbClr val="0F172A"/>
                </a:solidFill>
                <a:latin typeface="Inter"/>
              </a:defRPr>
            </a:pPr>
            <a:r>
              <a:t>Course: EE136IU  |  Instructor: Huynh Vo Trung Dung, Ph. D.  |  Scope: Culminating Week 8 Defense</a:t>
            </a:r>
          </a:p>
        </p:txBody>
      </p:sp>
      <p:sp>
        <p:nvSpPr>
          <p:cNvPr id="8" name="Oval 7"/>
          <p:cNvSpPr/>
          <p:nvPr/>
        </p:nvSpPr>
        <p:spPr>
          <a:xfrm>
            <a:off x="9601200" y="438912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21240" y="438912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241280" y="438912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561320" y="438912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881360" y="438912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201400" y="438912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601200" y="4709159"/>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921240" y="4709159"/>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241280" y="4709159"/>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561320" y="4709159"/>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81360" y="4709159"/>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201400" y="4709159"/>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601200" y="502920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21240" y="502920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241280" y="502920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561320" y="502920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881360" y="502920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201400" y="502920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601200" y="534924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921240" y="534924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241280" y="534924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561320" y="534924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881360" y="5349240"/>
            <a:ext cx="73152" cy="73152"/>
          </a:xfrm>
          <a:prstGeom prst="ellipse">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201400" y="5349240"/>
            <a:ext cx="73152" cy="7315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34" name="TextBox 33"/>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 of 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1 • PROJECT OVERVIEW</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Capstone Engineering Synthesis &amp; Core Mission</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Integrating RF Signal Processing, Baseband Physics, and Modern Data-Driven Modeling</a:t>
            </a:r>
          </a:p>
        </p:txBody>
      </p:sp>
      <p:sp>
        <p:nvSpPr>
          <p:cNvPr id="5" name="Rounded Rectangle 4"/>
          <p:cNvSpPr/>
          <p:nvPr/>
        </p:nvSpPr>
        <p:spPr>
          <a:xfrm>
            <a:off x="731520" y="1691640"/>
            <a:ext cx="521208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4754880" cy="3794760"/>
          </a:xfrm>
          <a:prstGeom prst="rect">
            <a:avLst/>
          </a:prstGeom>
          <a:noFill/>
        </p:spPr>
        <p:txBody>
          <a:bodyPr wrap="square">
            <a:spAutoFit/>
          </a:bodyPr>
          <a:lstStyle/>
          <a:p>
            <a:pPr>
              <a:defRPr sz="1700" b="1">
                <a:solidFill>
                  <a:srgbClr val="0F172A"/>
                </a:solidFill>
                <a:latin typeface="Manrope"/>
              </a:defRPr>
            </a:pPr>
            <a:r>
              <a:t>Culminating Synthesis</a:t>
            </a:r>
          </a:p>
          <a:p>
            <a:pPr>
              <a:spcBef>
                <a:spcPts val="1000"/>
              </a:spcBef>
            </a:pPr>
            <a:r>
              <a:rPr sz="1400" b="1">
                <a:solidFill>
                  <a:srgbClr val="0284C7"/>
                </a:solidFill>
                <a:latin typeface="Inter"/>
              </a:rPr>
              <a:t>• Culminating Milestone: </a:t>
            </a:r>
            <a:r>
              <a:rPr sz="1400">
                <a:solidFill>
                  <a:srgbClr val="334155"/>
                </a:solidFill>
                <a:latin typeface="Inter"/>
              </a:rPr>
              <a:t>Serves as the final engineering synthesis for EE136, consolidating theoretical and practical competencies.</a:t>
            </a:r>
          </a:p>
          <a:p>
            <a:pPr>
              <a:spcBef>
                <a:spcPts val="1000"/>
              </a:spcBef>
            </a:pPr>
            <a:r>
              <a:rPr sz="1400" b="1">
                <a:solidFill>
                  <a:srgbClr val="0284C7"/>
                </a:solidFill>
                <a:latin typeface="Inter"/>
              </a:rPr>
              <a:t>• Physical Domain Grounding: </a:t>
            </a:r>
            <a:r>
              <a:rPr sz="1400">
                <a:solidFill>
                  <a:srgbClr val="334155"/>
                </a:solidFill>
                <a:latin typeface="Inter"/>
              </a:rPr>
              <a:t>Machine learning is not treated as a black-box. Teams must integrate complex baseband mechanics (I/Q channels, SNR calibration, and oscillator mismatch).</a:t>
            </a:r>
          </a:p>
          <a:p>
            <a:pPr>
              <a:spcBef>
                <a:spcPts val="1000"/>
              </a:spcBef>
            </a:pPr>
            <a:r>
              <a:rPr sz="1400" b="1">
                <a:solidFill>
                  <a:srgbClr val="0284C7"/>
                </a:solidFill>
                <a:latin typeface="Inter"/>
              </a:rPr>
              <a:t>• Focus on AMC: </a:t>
            </a:r>
            <a:r>
              <a:rPr sz="1400">
                <a:solidFill>
                  <a:srgbClr val="334155"/>
                </a:solidFill>
                <a:latin typeface="Inter"/>
              </a:rPr>
              <a:t>Automatic Modulation Classification (AMC) serves as the core wireless intelligence application, demonstrating autonomous waveform recognition under realistic channel stress.</a:t>
            </a:r>
          </a:p>
        </p:txBody>
      </p:sp>
      <p:sp>
        <p:nvSpPr>
          <p:cNvPr id="7" name="Rounded Rectangle 6"/>
          <p:cNvSpPr/>
          <p:nvPr/>
        </p:nvSpPr>
        <p:spPr>
          <a:xfrm>
            <a:off x="6248095" y="1691640"/>
            <a:ext cx="5212080"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76695" y="1874519"/>
            <a:ext cx="4754880" cy="3794760"/>
          </a:xfrm>
          <a:prstGeom prst="rect">
            <a:avLst/>
          </a:prstGeom>
          <a:noFill/>
        </p:spPr>
        <p:txBody>
          <a:bodyPr wrap="square">
            <a:spAutoFit/>
          </a:bodyPr>
          <a:lstStyle/>
          <a:p>
            <a:pPr>
              <a:defRPr sz="1700" b="1">
                <a:solidFill>
                  <a:srgbClr val="0284C7"/>
                </a:solidFill>
                <a:latin typeface="Manrope"/>
              </a:defRPr>
            </a:pPr>
            <a:r>
              <a:t>Primary Project Objective</a:t>
            </a:r>
          </a:p>
          <a:p>
            <a:pPr>
              <a:spcBef>
                <a:spcPts val="800"/>
              </a:spcBef>
            </a:pPr>
            <a:r>
              <a:rPr sz="1350" b="1">
                <a:solidFill>
                  <a:srgbClr val="0F172A"/>
                </a:solidFill>
                <a:latin typeface="Inter"/>
              </a:rPr>
              <a:t>• End-to-End System: </a:t>
            </a:r>
            <a:r>
              <a:rPr sz="1350">
                <a:solidFill>
                  <a:srgbClr val="334155"/>
                </a:solidFill>
                <a:latin typeface="Inter"/>
              </a:rPr>
              <a:t>Build a reproducible, robust wireless ML receiver system within a focused technical topic.</a:t>
            </a:r>
          </a:p>
          <a:p>
            <a:pPr>
              <a:spcBef>
                <a:spcPts val="800"/>
              </a:spcBef>
            </a:pPr>
            <a:r>
              <a:rPr sz="1350" b="1">
                <a:solidFill>
                  <a:srgbClr val="0F172A"/>
                </a:solidFill>
                <a:latin typeface="Inter"/>
              </a:rPr>
              <a:t>• Engineering Justification: </a:t>
            </a:r>
            <a:r>
              <a:rPr sz="1350">
                <a:solidFill>
                  <a:srgbClr val="334155"/>
                </a:solidFill>
                <a:latin typeface="Inter"/>
              </a:rPr>
              <a:t>Justify all architectural, hyperparameter, and algorithmic choices through empirical evidence rather than heuristic trial-and-error.</a:t>
            </a:r>
          </a:p>
          <a:p>
            <a:pPr>
              <a:spcBef>
                <a:spcPts val="800"/>
              </a:spcBef>
            </a:pPr>
            <a:r>
              <a:rPr sz="1350" b="1">
                <a:solidFill>
                  <a:srgbClr val="0F172A"/>
                </a:solidFill>
                <a:latin typeface="Inter"/>
              </a:rPr>
              <a:t>• Multidimensional Evaluation: </a:t>
            </a:r>
            <a:r>
              <a:rPr sz="1350">
                <a:solidFill>
                  <a:srgbClr val="334155"/>
                </a:solidFill>
                <a:latin typeface="Inter"/>
              </a:rPr>
              <a:t>Evaluate solutions using SNR-conditioned curves, confusion matrix diagnostics, channel impairment breakdown, and root-cause failure analysis.</a:t>
            </a:r>
          </a:p>
          <a:p>
            <a:pPr>
              <a:spcBef>
                <a:spcPts val="800"/>
              </a:spcBef>
            </a:pPr>
            <a:r>
              <a:rPr sz="1350" b="1">
                <a:solidFill>
                  <a:srgbClr val="0F172A"/>
                </a:solidFill>
                <a:latin typeface="Inter"/>
              </a:rPr>
              <a:t>• No Aggregate Cheating: </a:t>
            </a:r>
            <a:r>
              <a:rPr sz="1350">
                <a:solidFill>
                  <a:srgbClr val="334155"/>
                </a:solidFill>
                <a:latin typeface="Inter"/>
              </a:rPr>
              <a:t>Global aggregate accuracy alone is unacceptable; performance must be broken down by SNR and per-class modulation lattices.</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2 of 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2 • TECHNICAL BASELINE</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Baseband Signal &amp; Tensor Specifications</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Standardized Physical Layer Interfaces Required Across All 8 Project Topics</a:t>
            </a:r>
          </a:p>
        </p:txBody>
      </p:sp>
      <p:sp>
        <p:nvSpPr>
          <p:cNvPr id="5" name="Rounded Rectangle 4"/>
          <p:cNvSpPr/>
          <p:nvPr/>
        </p:nvSpPr>
        <p:spPr>
          <a:xfrm>
            <a:off x="731520" y="1691640"/>
            <a:ext cx="3364992"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999232" cy="3794760"/>
          </a:xfrm>
          <a:prstGeom prst="rect">
            <a:avLst/>
          </a:prstGeom>
          <a:noFill/>
        </p:spPr>
        <p:txBody>
          <a:bodyPr wrap="square">
            <a:spAutoFit/>
          </a:bodyPr>
          <a:lstStyle/>
          <a:p>
            <a:pPr>
              <a:defRPr sz="1500" b="1">
                <a:solidFill>
                  <a:srgbClr val="0284C7"/>
                </a:solidFill>
                <a:latin typeface="Manrope"/>
              </a:defRPr>
            </a:pPr>
            <a:r>
              <a:t>1. I/Q Baseband Tensors</a:t>
            </a:r>
          </a:p>
          <a:p>
            <a:pPr>
              <a:spcBef>
                <a:spcPts val="600"/>
              </a:spcBef>
            </a:pPr>
            <a:r>
              <a:rPr sz="1250" b="1">
                <a:solidFill>
                  <a:srgbClr val="0F172A"/>
                </a:solidFill>
              </a:rPr>
              <a:t>• Burst Length: </a:t>
            </a:r>
            <a:r>
              <a:rPr sz="1250">
                <a:solidFill>
                  <a:srgbClr val="334155"/>
                </a:solidFill>
              </a:rPr>
              <a:t>L = 128 complex baseband samples per burst.</a:t>
            </a:r>
          </a:p>
          <a:p>
            <a:pPr>
              <a:spcBef>
                <a:spcPts val="600"/>
              </a:spcBef>
            </a:pPr>
            <a:r>
              <a:rPr sz="1250" b="1">
                <a:solidFill>
                  <a:srgbClr val="0F172A"/>
                </a:solidFill>
              </a:rPr>
              <a:t>• Tensor Dimension: </a:t>
            </a:r>
            <a:r>
              <a:rPr sz="1250">
                <a:solidFill>
                  <a:srgbClr val="334155"/>
                </a:solidFill>
              </a:rPr>
              <a:t>Formatted as real-valued tensors of shape [N_batch, 2, 128].</a:t>
            </a:r>
          </a:p>
          <a:p>
            <a:pPr>
              <a:spcBef>
                <a:spcPts val="600"/>
              </a:spcBef>
            </a:pPr>
            <a:r>
              <a:rPr sz="1250" b="1">
                <a:solidFill>
                  <a:srgbClr val="0F172A"/>
                </a:solidFill>
              </a:rPr>
              <a:t>• Channel Layout: </a:t>
            </a:r>
            <a:r>
              <a:rPr sz="1250">
                <a:solidFill>
                  <a:srgbClr val="334155"/>
                </a:solidFill>
              </a:rPr>
              <a:t>Row 0: In-phase I[n]; Row 1: Quadrature Q[n].</a:t>
            </a:r>
          </a:p>
          <a:p>
            <a:pPr>
              <a:spcBef>
                <a:spcPts val="600"/>
              </a:spcBef>
            </a:pPr>
            <a:r>
              <a:rPr sz="1250" b="1">
                <a:solidFill>
                  <a:srgbClr val="0F172A"/>
                </a:solidFill>
              </a:rPr>
              <a:t>• Continuous Tracking: </a:t>
            </a:r>
            <a:r>
              <a:rPr sz="1250">
                <a:solidFill>
                  <a:srgbClr val="334155"/>
                </a:solidFill>
              </a:rPr>
              <a:t>Maintains continuous phase trajectories across the 128-sample window.</a:t>
            </a:r>
          </a:p>
        </p:txBody>
      </p:sp>
      <p:sp>
        <p:nvSpPr>
          <p:cNvPr id="7" name="Rounded Rectangle 6"/>
          <p:cNvSpPr/>
          <p:nvPr/>
        </p:nvSpPr>
        <p:spPr>
          <a:xfrm>
            <a:off x="4407408" y="1691640"/>
            <a:ext cx="3364992"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90288" y="1874520"/>
            <a:ext cx="2999232" cy="3794760"/>
          </a:xfrm>
          <a:prstGeom prst="rect">
            <a:avLst/>
          </a:prstGeom>
          <a:noFill/>
        </p:spPr>
        <p:txBody>
          <a:bodyPr wrap="square">
            <a:spAutoFit/>
          </a:bodyPr>
          <a:lstStyle/>
          <a:p>
            <a:pPr>
              <a:defRPr sz="1500" b="1">
                <a:solidFill>
                  <a:srgbClr val="0284C7"/>
                </a:solidFill>
                <a:latin typeface="Manrope"/>
              </a:defRPr>
            </a:pPr>
            <a:r>
              <a:t>2. Modulation Diversity</a:t>
            </a:r>
          </a:p>
          <a:p>
            <a:pPr>
              <a:spcBef>
                <a:spcPts val="500"/>
              </a:spcBef>
            </a:pPr>
            <a:r>
              <a:rPr sz="1250" b="1">
                <a:solidFill>
                  <a:srgbClr val="0F172A"/>
                </a:solidFill>
              </a:rPr>
              <a:t>• Class Count: </a:t>
            </a:r>
            <a:r>
              <a:rPr sz="1250">
                <a:solidFill>
                  <a:srgbClr val="334155"/>
                </a:solidFill>
              </a:rPr>
              <a:t>Minimum 5 distinct digital modulation schemes (standard: 8 classes).</a:t>
            </a:r>
          </a:p>
          <a:p>
            <a:pPr>
              <a:spcBef>
                <a:spcPts val="500"/>
              </a:spcBef>
            </a:pPr>
            <a:r>
              <a:rPr sz="1250" b="1">
                <a:solidFill>
                  <a:srgbClr val="0F172A"/>
                </a:solidFill>
              </a:rPr>
              <a:t>• Family Spanning: </a:t>
            </a:r>
            <a:r>
              <a:rPr sz="1250">
                <a:solidFill>
                  <a:srgbClr val="334155"/>
                </a:solidFill>
              </a:rPr>
              <a:t>Must span at least 2 distinct modulation families:</a:t>
            </a:r>
          </a:p>
          <a:p>
            <a:pPr>
              <a:spcBef>
                <a:spcPts val="500"/>
              </a:spcBef>
            </a:pPr>
            <a:r>
              <a:rPr sz="1250" b="1">
                <a:solidFill>
                  <a:srgbClr val="0F172A"/>
                </a:solidFill>
              </a:rPr>
              <a:t>• PSK Family: </a:t>
            </a:r>
            <a:r>
              <a:rPr sz="1250">
                <a:solidFill>
                  <a:srgbClr val="334155"/>
                </a:solidFill>
              </a:rPr>
              <a:t>BPSK, QPSK, 8PSK (phase-shift keyed).</a:t>
            </a:r>
          </a:p>
          <a:p>
            <a:pPr>
              <a:spcBef>
                <a:spcPts val="500"/>
              </a:spcBef>
            </a:pPr>
            <a:r>
              <a:rPr sz="1250" b="1">
                <a:solidFill>
                  <a:srgbClr val="0F172A"/>
                </a:solidFill>
              </a:rPr>
              <a:t>• QAM Family: </a:t>
            </a:r>
            <a:r>
              <a:rPr sz="1250">
                <a:solidFill>
                  <a:srgbClr val="334155"/>
                </a:solidFill>
              </a:rPr>
              <a:t>16QAM, 64QAM (amplitude-phase keyed).</a:t>
            </a:r>
          </a:p>
          <a:p>
            <a:pPr>
              <a:spcBef>
                <a:spcPts val="500"/>
              </a:spcBef>
            </a:pPr>
            <a:r>
              <a:rPr sz="1250" b="1">
                <a:solidFill>
                  <a:srgbClr val="0F172A"/>
                </a:solidFill>
              </a:rPr>
              <a:t>• FSK / PAM: </a:t>
            </a:r>
            <a:r>
              <a:rPr sz="1250">
                <a:solidFill>
                  <a:srgbClr val="334155"/>
                </a:solidFill>
              </a:rPr>
              <a:t>CPFSK, GFSK, PAM4 (frequency/amplitude keyed).</a:t>
            </a:r>
          </a:p>
        </p:txBody>
      </p:sp>
      <p:sp>
        <p:nvSpPr>
          <p:cNvPr id="9" name="Rounded Rectangle 8"/>
          <p:cNvSpPr/>
          <p:nvPr/>
        </p:nvSpPr>
        <p:spPr>
          <a:xfrm>
            <a:off x="8083296" y="1691640"/>
            <a:ext cx="3364992" cy="4160520"/>
          </a:xfrm>
          <a:prstGeom prst="roundRect">
            <a:avLst/>
          </a:prstGeom>
          <a:solidFill>
            <a:srgbClr val="EFF6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66176" y="1874520"/>
            <a:ext cx="2999232" cy="3794760"/>
          </a:xfrm>
          <a:prstGeom prst="rect">
            <a:avLst/>
          </a:prstGeom>
          <a:noFill/>
        </p:spPr>
        <p:txBody>
          <a:bodyPr wrap="square">
            <a:spAutoFit/>
          </a:bodyPr>
          <a:lstStyle/>
          <a:p>
            <a:pPr>
              <a:defRPr sz="1500" b="1">
                <a:solidFill>
                  <a:srgbClr val="0F2B48"/>
                </a:solidFill>
                <a:latin typeface="Manrope"/>
              </a:defRPr>
            </a:pPr>
            <a:r>
              <a:t>3. Normalization &amp; Isolation</a:t>
            </a:r>
          </a:p>
          <a:p>
            <a:pPr>
              <a:spcBef>
                <a:spcPts val="600"/>
              </a:spcBef>
            </a:pPr>
            <a:r>
              <a:rPr sz="1250" b="1">
                <a:solidFill>
                  <a:srgbClr val="0F172A"/>
                </a:solidFill>
              </a:rPr>
              <a:t>• RMS Energy Scaling: </a:t>
            </a:r>
            <a:r>
              <a:rPr sz="1250">
                <a:solidFill>
                  <a:srgbClr val="334155"/>
                </a:solidFill>
              </a:rPr>
              <a:t>Apply per-burst normalization: r_norm[n] = r[n] / E_rms.</a:t>
            </a:r>
          </a:p>
          <a:p>
            <a:pPr>
              <a:spcBef>
                <a:spcPts val="600"/>
              </a:spcBef>
            </a:pPr>
            <a:r>
              <a:rPr sz="1250" b="1">
                <a:solidFill>
                  <a:srgbClr val="0F172A"/>
                </a:solidFill>
              </a:rPr>
              <a:t>• No Energy Cheating: </a:t>
            </a:r>
            <a:r>
              <a:rPr sz="1250">
                <a:solidFill>
                  <a:srgbClr val="334155"/>
                </a:solidFill>
              </a:rPr>
              <a:t>Prevents classifiers from identifying 64QAM vs BPSK based solely on mean signal power.</a:t>
            </a:r>
          </a:p>
          <a:p>
            <a:pPr>
              <a:spcBef>
                <a:spcPts val="600"/>
              </a:spcBef>
            </a:pPr>
            <a:r>
              <a:rPr sz="1250" b="1">
                <a:solidFill>
                  <a:srgbClr val="0F172A"/>
                </a:solidFill>
              </a:rPr>
              <a:t>• Strict Partitioning: </a:t>
            </a:r>
            <a:r>
              <a:rPr sz="1250">
                <a:solidFill>
                  <a:srgbClr val="334155"/>
                </a:solidFill>
              </a:rPr>
              <a:t>Rigid split (e.g. 70/15/15 train/val/test).</a:t>
            </a:r>
          </a:p>
          <a:p>
            <a:pPr>
              <a:spcBef>
                <a:spcPts val="600"/>
              </a:spcBef>
            </a:pPr>
            <a:r>
              <a:rPr sz="1250" b="1">
                <a:solidFill>
                  <a:srgbClr val="0F172A"/>
                </a:solidFill>
              </a:rPr>
              <a:t>• Zero Data Leakage: </a:t>
            </a:r>
            <a:r>
              <a:rPr sz="1250">
                <a:solidFill>
                  <a:srgbClr val="334155"/>
                </a:solidFill>
              </a:rPr>
              <a:t>No test bursts may share synthetic seed or channel instance with training set.</a:t>
            </a:r>
          </a:p>
        </p:txBody>
      </p:sp>
      <p:sp>
        <p:nvSpPr>
          <p:cNvPr id="11" name="Rectangle 10"/>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3" name="TextBox 12"/>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3 of 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2 • TECHNICAL BASELINE</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SNR Evaluation Grid &amp; Vibe Coding Toolchain</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Standardized Experimental Metrics and Accelerated AI-Assisted Development Stack</a:t>
            </a:r>
          </a:p>
        </p:txBody>
      </p:sp>
      <p:sp>
        <p:nvSpPr>
          <p:cNvPr id="5" name="Rounded Rectangle 4"/>
          <p:cNvSpPr/>
          <p:nvPr/>
        </p:nvSpPr>
        <p:spPr>
          <a:xfrm>
            <a:off x="731520" y="1691640"/>
            <a:ext cx="521208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4754880" cy="3794760"/>
          </a:xfrm>
          <a:prstGeom prst="rect">
            <a:avLst/>
          </a:prstGeom>
          <a:noFill/>
        </p:spPr>
        <p:txBody>
          <a:bodyPr wrap="square">
            <a:spAutoFit/>
          </a:bodyPr>
          <a:lstStyle/>
          <a:p>
            <a:pPr>
              <a:defRPr sz="1700" b="1">
                <a:solidFill>
                  <a:srgbClr val="0284C7"/>
                </a:solidFill>
                <a:latin typeface="Manrope"/>
              </a:defRPr>
            </a:pPr>
            <a:r>
              <a:t>Calibrated SNR Evaluation Grid</a:t>
            </a:r>
          </a:p>
          <a:p>
            <a:pPr>
              <a:spcBef>
                <a:spcPts val="800"/>
              </a:spcBef>
            </a:pPr>
            <a:r>
              <a:rPr sz="1350" b="1">
                <a:solidFill>
                  <a:srgbClr val="0F172A"/>
                </a:solidFill>
              </a:rPr>
              <a:t>• 15-Point Calibrated Grid: </a:t>
            </a:r>
            <a:r>
              <a:rPr sz="1350">
                <a:solidFill>
                  <a:srgbClr val="334155"/>
                </a:solidFill>
              </a:rPr>
              <a:t>Models must be benchmarked across SNR = -10 dB to +18 dB in uniform steps of 2 dB (-10, -8, -6, ..., +16, +18 dB).</a:t>
            </a:r>
          </a:p>
          <a:p>
            <a:pPr>
              <a:spcBef>
                <a:spcPts val="800"/>
              </a:spcBef>
            </a:pPr>
            <a:r>
              <a:rPr sz="1350" b="1">
                <a:solidFill>
                  <a:srgbClr val="0F172A"/>
                </a:solidFill>
              </a:rPr>
              <a:t>• SNR-Conditioned Curves: </a:t>
            </a:r>
            <a:r>
              <a:rPr sz="1350">
                <a:solidFill>
                  <a:srgbClr val="334155"/>
                </a:solidFill>
              </a:rPr>
              <a:t>Plot Accuracy vs. SNR curves showing progressive recovery from noise-limited to high-SNR asymptotic performance.</a:t>
            </a:r>
          </a:p>
          <a:p>
            <a:pPr>
              <a:spcBef>
                <a:spcPts val="800"/>
              </a:spcBef>
            </a:pPr>
            <a:r>
              <a:rPr sz="1350" b="1">
                <a:solidFill>
                  <a:srgbClr val="0F172A"/>
                </a:solidFill>
              </a:rPr>
              <a:t>• Confusion Matrices: </a:t>
            </a:r>
            <a:r>
              <a:rPr sz="1350">
                <a:solidFill>
                  <a:srgbClr val="334155"/>
                </a:solidFill>
              </a:rPr>
              <a:t>Provide row-normalized confusion matrices at key operational points: Low SNR (-4 dB), Medium SNR (+4 dB), and High SNR (+14 dB).</a:t>
            </a:r>
          </a:p>
          <a:p>
            <a:pPr>
              <a:spcBef>
                <a:spcPts val="800"/>
              </a:spcBef>
            </a:pPr>
            <a:r>
              <a:rPr sz="1350" b="1">
                <a:solidFill>
                  <a:srgbClr val="0F172A"/>
                </a:solidFill>
              </a:rPr>
              <a:t>• Macro-F1 Metric: </a:t>
            </a:r>
            <a:r>
              <a:rPr sz="1350">
                <a:solidFill>
                  <a:srgbClr val="334155"/>
                </a:solidFill>
              </a:rPr>
              <a:t>Compute Macro-F1 across classes to ensure balanced recognition performance regardless of sample counts.</a:t>
            </a:r>
          </a:p>
        </p:txBody>
      </p:sp>
      <p:sp>
        <p:nvSpPr>
          <p:cNvPr id="7" name="Rounded Rectangle 6"/>
          <p:cNvSpPr/>
          <p:nvPr/>
        </p:nvSpPr>
        <p:spPr>
          <a:xfrm>
            <a:off x="6248095" y="1691640"/>
            <a:ext cx="5212080" cy="4160520"/>
          </a:xfrm>
          <a:prstGeom prst="roundRect">
            <a:avLst/>
          </a:prstGeom>
          <a:solidFill>
            <a:srgbClr val="EFF6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76695" y="1874519"/>
            <a:ext cx="4754880" cy="3794760"/>
          </a:xfrm>
          <a:prstGeom prst="rect">
            <a:avLst/>
          </a:prstGeom>
          <a:noFill/>
        </p:spPr>
        <p:txBody>
          <a:bodyPr wrap="square">
            <a:spAutoFit/>
          </a:bodyPr>
          <a:lstStyle/>
          <a:p>
            <a:pPr>
              <a:defRPr sz="1700" b="1">
                <a:solidFill>
                  <a:srgbClr val="0F2B48"/>
                </a:solidFill>
                <a:latin typeface="Manrope"/>
              </a:defRPr>
            </a:pPr>
            <a:r>
              <a:t>AI-Assisted 'Vibe Coding' Stack</a:t>
            </a:r>
          </a:p>
          <a:p>
            <a:pPr>
              <a:spcBef>
                <a:spcPts val="800"/>
              </a:spcBef>
            </a:pPr>
            <a:r>
              <a:rPr sz="1350" b="1">
                <a:solidFill>
                  <a:srgbClr val="0F172A"/>
                </a:solidFill>
              </a:rPr>
              <a:t>• Rapid AI Prototyping: </a:t>
            </a:r>
            <a:r>
              <a:rPr sz="1350">
                <a:solidFill>
                  <a:srgbClr val="334155"/>
                </a:solidFill>
              </a:rPr>
              <a:t>Students are actively encouraged to use AI coding assistants (ChatGPT, Claude, Gemini, Cursor, GitHub Copilot) to accelerate boilerplate and UI code.</a:t>
            </a:r>
          </a:p>
          <a:p>
            <a:pPr>
              <a:spcBef>
                <a:spcPts val="800"/>
              </a:spcBef>
            </a:pPr>
            <a:r>
              <a:rPr sz="1350" b="1">
                <a:solidFill>
                  <a:srgbClr val="0F172A"/>
                </a:solidFill>
              </a:rPr>
              <a:t>• Deep Technical Oversight: </a:t>
            </a:r>
            <a:r>
              <a:rPr sz="1350">
                <a:solidFill>
                  <a:srgbClr val="334155"/>
                </a:solidFill>
              </a:rPr>
              <a:t>Vibe coding speeds up syntax, but teams must master and defend the underlying RF mechanics, loss functions, and architectural decisions.</a:t>
            </a:r>
          </a:p>
          <a:p>
            <a:pPr>
              <a:spcBef>
                <a:spcPts val="800"/>
              </a:spcBef>
            </a:pPr>
            <a:r>
              <a:rPr sz="1350" b="1">
                <a:solidFill>
                  <a:srgbClr val="0F172A"/>
                </a:solidFill>
              </a:rPr>
              <a:t>• Scientific Python Ecosystem: </a:t>
            </a:r>
            <a:r>
              <a:rPr sz="1350">
                <a:solidFill>
                  <a:srgbClr val="334155"/>
                </a:solidFill>
              </a:rPr>
              <a:t>Core stack: numpy, scipy.signal, scikit-learn, PyTorch (torch / torch.nn), matplotlib, and seaborn.</a:t>
            </a:r>
          </a:p>
          <a:p>
            <a:pPr>
              <a:spcBef>
                <a:spcPts val="800"/>
              </a:spcBef>
            </a:pPr>
            <a:r>
              <a:rPr sz="1350" b="1">
                <a:solidFill>
                  <a:srgbClr val="0F172A"/>
                </a:solidFill>
              </a:rPr>
              <a:t>• Interactive Demo Framework: </a:t>
            </a:r>
            <a:r>
              <a:rPr sz="1350">
                <a:solidFill>
                  <a:srgbClr val="334155"/>
                </a:solidFill>
              </a:rPr>
              <a:t>Rapid deployment using Streamlit, Gradio, or lightweight CLI interfaces with real-time sliders.</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4 of 21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3 • TOPIC ARCHITECTURE</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The 8 Project Topics Architecture (5 Student Teams)</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Balanced Technical Scopes Spanning Machine Learning, Channel Physics, Multi-Domain Vision &amp; Edge AI</a:t>
            </a:r>
          </a:p>
        </p:txBody>
      </p:sp>
      <p:sp>
        <p:nvSpPr>
          <p:cNvPr id="5" name="Rounded Rectangle 4"/>
          <p:cNvSpPr/>
          <p:nvPr/>
        </p:nvSpPr>
        <p:spPr>
          <a:xfrm>
            <a:off x="731520" y="1691640"/>
            <a:ext cx="521208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28800"/>
            <a:ext cx="4846320" cy="3886200"/>
          </a:xfrm>
          <a:prstGeom prst="rect">
            <a:avLst/>
          </a:prstGeom>
          <a:noFill/>
        </p:spPr>
        <p:txBody>
          <a:bodyPr wrap="square">
            <a:spAutoFit/>
          </a:bodyPr>
          <a:lstStyle/>
          <a:p>
            <a:pPr>
              <a:defRPr sz="1500" b="1">
                <a:solidFill>
                  <a:srgbClr val="0284C7"/>
                </a:solidFill>
                <a:latin typeface="Manrope"/>
              </a:defRPr>
            </a:pPr>
            <a:r>
              <a:t>Tier 1: ML, Features &amp; Channel Physics</a:t>
            </a:r>
          </a:p>
          <a:p>
            <a:pPr>
              <a:spcBef>
                <a:spcPts val="600"/>
              </a:spcBef>
            </a:pPr>
            <a:r>
              <a:rPr sz="1250" b="1">
                <a:solidFill>
                  <a:srgbClr val="0F172A"/>
                </a:solidFill>
              </a:rPr>
              <a:t>• Topic 1: Model Benchmark: </a:t>
            </a:r>
            <a:r>
              <a:rPr sz="1250">
                <a:solidFill>
                  <a:srgbClr val="334155"/>
                </a:solidFill>
              </a:rPr>
              <a:t>Classical ML (SVM/RF) vs. MLP vs. 1D CNN across 8 classes.</a:t>
            </a:r>
          </a:p>
          <a:p>
            <a:pPr>
              <a:spcBef>
                <a:spcPts val="600"/>
              </a:spcBef>
            </a:pPr>
            <a:r>
              <a:rPr sz="1250" b="1">
                <a:solidFill>
                  <a:srgbClr val="0F172A"/>
                </a:solidFill>
              </a:rPr>
              <a:t>• Topic 2: Feature Engineering: </a:t>
            </a:r>
            <a:r>
              <a:rPr sz="1250">
                <a:solidFill>
                  <a:srgbClr val="334155"/>
                </a:solidFill>
              </a:rPr>
              <a:t>Higher-order cumulants &amp; FFT spectral statistics vs. raw I/Q learning.</a:t>
            </a:r>
          </a:p>
          <a:p>
            <a:pPr>
              <a:spcBef>
                <a:spcPts val="600"/>
              </a:spcBef>
            </a:pPr>
            <a:r>
              <a:rPr sz="1250" b="1">
                <a:solidFill>
                  <a:srgbClr val="0F172A"/>
                </a:solidFill>
              </a:rPr>
              <a:t>• Topic 3: CFO &amp; Jitter Resilience: </a:t>
            </a:r>
            <a:r>
              <a:rPr sz="1250">
                <a:solidFill>
                  <a:srgbClr val="334155"/>
                </a:solidFill>
              </a:rPr>
              <a:t>Stress-testing classifiers under oscillator mismatch (0.5% to 5% fs).</a:t>
            </a:r>
          </a:p>
          <a:p>
            <a:pPr>
              <a:spcBef>
                <a:spcPts val="600"/>
              </a:spcBef>
            </a:pPr>
            <a:r>
              <a:rPr sz="1250" b="1">
                <a:solidFill>
                  <a:srgbClr val="0F172A"/>
                </a:solidFill>
              </a:rPr>
              <a:t>• Topic 4: Data Augmentation: </a:t>
            </a:r>
            <a:r>
              <a:rPr sz="1250">
                <a:solidFill>
                  <a:srgbClr val="334155"/>
                </a:solidFill>
              </a:rPr>
              <a:t>Stochastic RF phase rotation &amp; noise injection for low-SNR sensitivity.</a:t>
            </a:r>
          </a:p>
        </p:txBody>
      </p:sp>
      <p:sp>
        <p:nvSpPr>
          <p:cNvPr id="7" name="Rounded Rectangle 6"/>
          <p:cNvSpPr/>
          <p:nvPr/>
        </p:nvSpPr>
        <p:spPr>
          <a:xfrm>
            <a:off x="6248095" y="1691640"/>
            <a:ext cx="521208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30975" y="1828800"/>
            <a:ext cx="4846320" cy="3886200"/>
          </a:xfrm>
          <a:prstGeom prst="rect">
            <a:avLst/>
          </a:prstGeom>
          <a:noFill/>
        </p:spPr>
        <p:txBody>
          <a:bodyPr wrap="square">
            <a:spAutoFit/>
          </a:bodyPr>
          <a:lstStyle/>
          <a:p>
            <a:pPr>
              <a:defRPr sz="1500" b="1">
                <a:solidFill>
                  <a:srgbClr val="2563EB"/>
                </a:solidFill>
                <a:latin typeface="Manrope"/>
              </a:defRPr>
            </a:pPr>
            <a:r>
              <a:t>Tier 2: Architectures, Vision &amp; Edge AI</a:t>
            </a:r>
          </a:p>
          <a:p>
            <a:pPr>
              <a:spcBef>
                <a:spcPts val="600"/>
              </a:spcBef>
            </a:pPr>
            <a:r>
              <a:rPr sz="1250" b="1">
                <a:solidFill>
                  <a:srgbClr val="0F172A"/>
                </a:solidFill>
              </a:rPr>
              <a:t>• Topic 5: Deep 1D ResNet: </a:t>
            </a:r>
            <a:r>
              <a:rPr sz="1250">
                <a:solidFill>
                  <a:srgbClr val="334155"/>
                </a:solidFill>
              </a:rPr>
              <a:t>Residual skip connections to resolve 16QAM vs. 64QAM lattice ambiguity.</a:t>
            </a:r>
          </a:p>
          <a:p>
            <a:pPr>
              <a:spcBef>
                <a:spcPts val="600"/>
              </a:spcBef>
            </a:pPr>
            <a:r>
              <a:rPr sz="1250" b="1">
                <a:solidFill>
                  <a:srgbClr val="0F172A"/>
                </a:solidFill>
              </a:rPr>
              <a:t>• Topic 6: 2D Spectrogram Vision: </a:t>
            </a:r>
            <a:r>
              <a:rPr sz="1250">
                <a:solidFill>
                  <a:srgbClr val="334155"/>
                </a:solidFill>
              </a:rPr>
              <a:t>STFT time-frequency images &amp; constellation histograms with 2D CNNs.</a:t>
            </a:r>
          </a:p>
          <a:p>
            <a:pPr>
              <a:spcBef>
                <a:spcPts val="600"/>
              </a:spcBef>
            </a:pPr>
            <a:r>
              <a:rPr sz="1250" b="1">
                <a:solidFill>
                  <a:srgbClr val="0F172A"/>
                </a:solidFill>
              </a:rPr>
              <a:t>• Topic 7: Squelch &amp; OOD Rejection: </a:t>
            </a:r>
            <a:r>
              <a:rPr sz="1250">
                <a:solidFill>
                  <a:srgbClr val="334155"/>
                </a:solidFill>
              </a:rPr>
              <a:t>Softmax entropy thresholds (max p &lt; tau) to reject pure noise &amp; aliens.</a:t>
            </a:r>
          </a:p>
          <a:p>
            <a:pPr>
              <a:spcBef>
                <a:spcPts val="600"/>
              </a:spcBef>
            </a:pPr>
            <a:r>
              <a:rPr sz="1250" b="1">
                <a:solidFill>
                  <a:srgbClr val="0F172A"/>
                </a:solidFill>
              </a:rPr>
              <a:t>• Topic 8: Edge int8 Optimization: </a:t>
            </a:r>
            <a:r>
              <a:rPr sz="1250">
                <a:solidFill>
                  <a:srgbClr val="334155"/>
                </a:solidFill>
              </a:rPr>
              <a:t>Post-training quantization (PTQ), ONNX export &amp; &lt; 128 us latency profiling.</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5 of 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01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1: Comprehensive Model Benchmark</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Classical ML vs. MLP vs. 1D CNN Across 8 Digital Modulation Schemes</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Benchmark three distinct modeling tiers on the standard 8-class I/Q dataset under identical train/val/test splits.</a:t>
            </a:r>
          </a:p>
          <a:p>
            <a:pPr>
              <a:spcBef>
                <a:spcPts val="800"/>
              </a:spcBef>
            </a:pPr>
            <a:r>
              <a:rPr sz="1300" b="1">
                <a:solidFill>
                  <a:srgbClr val="0F172A"/>
                </a:solidFill>
              </a:rPr>
              <a:t>• Key Engineering Tasks:</a:t>
            </a:r>
          </a:p>
          <a:p>
            <a:pPr>
              <a:spcBef>
                <a:spcPts val="400"/>
              </a:spcBef>
            </a:pPr>
            <a:r>
              <a:rPr sz="1200">
                <a:solidFill>
                  <a:srgbClr val="334155"/>
                </a:solidFill>
              </a:rPr>
              <a:t>  - Extract 18 domain features (higher-order cumulants, spectral statistics) for an RBF-SVM / Random Forest.</a:t>
            </a:r>
          </a:p>
          <a:p>
            <a:pPr>
              <a:spcBef>
                <a:spcPts val="400"/>
              </a:spcBef>
            </a:pPr>
            <a:r>
              <a:rPr sz="1200">
                <a:solidFill>
                  <a:srgbClr val="334155"/>
                </a:solidFill>
              </a:rPr>
              <a:t>  - Implement a 3-layer Multilayer Perceptron (MLP) on extracted domain features.</a:t>
            </a:r>
          </a:p>
          <a:p>
            <a:pPr>
              <a:spcBef>
                <a:spcPts val="400"/>
              </a:spcBef>
            </a:pPr>
            <a:r>
              <a:rPr sz="1200">
                <a:solidFill>
                  <a:srgbClr val="334155"/>
                </a:solidFill>
              </a:rPr>
              <a:t>  - Implement a 3-block 1D CNN operating directly on raw baseband I/Q observation bursts.</a:t>
            </a:r>
          </a:p>
          <a:p>
            <a:pPr>
              <a:spcBef>
                <a:spcPts val="400"/>
              </a:spcBef>
            </a:pPr>
            <a:r>
              <a:rPr sz="1200">
                <a:solidFill>
                  <a:srgbClr val="334155"/>
                </a:solidFill>
              </a:rPr>
              <a:t>  - Compare Accuracy vs. SNR curves (-10 dB to +18 dB), Macro-F1, training time, and parameter count.</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Interactive dashboard displaying real-time side-by-side classification predictions, class probabilities, and confidence scores from all three models on arbitrary test bursts.</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6 of 21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02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2: Spectral &amp; Temporal Feature Engineering vs. Raw I/Q</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Comparing Physical Cumulants &amp; Spectral Statistics Against Representation Learning</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Compare feature-based machine learning with raw baseband representation learning.</a:t>
            </a:r>
          </a:p>
          <a:p>
            <a:pPr>
              <a:spcBef>
                <a:spcPts val="800"/>
              </a:spcBef>
            </a:pPr>
            <a:r>
              <a:rPr sz="1300" b="1">
                <a:solidFill>
                  <a:srgbClr val="0F172A"/>
                </a:solidFill>
              </a:rPr>
              <a:t>• Key Engineering Tasks:</a:t>
            </a:r>
          </a:p>
          <a:p>
            <a:pPr>
              <a:spcBef>
                <a:spcPts val="400"/>
              </a:spcBef>
            </a:pPr>
            <a:r>
              <a:rPr sz="1200">
                <a:solidFill>
                  <a:srgbClr val="334155"/>
                </a:solidFill>
              </a:rPr>
              <a:t>  - Design a comprehensive feature extractor computing Higher-Order Cumulants (C_40, C_42) and differential phase stats.</a:t>
            </a:r>
          </a:p>
          <a:p>
            <a:pPr>
              <a:spcBef>
                <a:spcPts val="400"/>
              </a:spcBef>
            </a:pPr>
            <a:r>
              <a:rPr sz="1200">
                <a:solidFill>
                  <a:srgbClr val="334155"/>
                </a:solidFill>
              </a:rPr>
              <a:t>  - Extract frequency-domain metrics: FFT power spectrum, spectral centroid, spectral spread, and spectral entropy.</a:t>
            </a:r>
          </a:p>
          <a:p>
            <a:pPr>
              <a:spcBef>
                <a:spcPts val="400"/>
              </a:spcBef>
            </a:pPr>
            <a:r>
              <a:rPr sz="1200">
                <a:solidFill>
                  <a:srgbClr val="334155"/>
                </a:solidFill>
              </a:rPr>
              <a:t>  - Train an XGBoost / SVM classifier and compare against an end-to-end 1D CNN operating on raw I/Q.</a:t>
            </a:r>
          </a:p>
          <a:p>
            <a:pPr>
              <a:spcBef>
                <a:spcPts val="400"/>
              </a:spcBef>
            </a:pPr>
            <a:r>
              <a:rPr sz="1200">
                <a:solidFill>
                  <a:srgbClr val="334155"/>
                </a:solidFill>
              </a:rPr>
              <a:t>  - Quantify low-SNR noise degradation on cumulants vs. CNN temporal convolutional filters.</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Live signal visualizer displaying the computed FFT spectrum, constellation scatter, and extracted feature values alongside the final predicted modulation.</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7 of 21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03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3: Channel Impairment Resilience (CFO &amp; Phase Jitter)</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Quantifying Classifier Degradation Under Oscillator Mismatch &amp; Doppler Drift</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Quantify and analyze the degradation of modulation classifiers when exposed to oscillator mismatch and Doppler drift.</a:t>
            </a:r>
          </a:p>
          <a:p>
            <a:pPr>
              <a:spcBef>
                <a:spcPts val="800"/>
              </a:spcBef>
            </a:pPr>
            <a:r>
              <a:rPr sz="1300" b="1">
                <a:solidFill>
                  <a:srgbClr val="0F172A"/>
                </a:solidFill>
              </a:rPr>
              <a:t>• Key Engineering Tasks:</a:t>
            </a:r>
          </a:p>
          <a:p>
            <a:pPr>
              <a:spcBef>
                <a:spcPts val="400"/>
              </a:spcBef>
            </a:pPr>
            <a:r>
              <a:rPr sz="1200">
                <a:solidFill>
                  <a:srgbClr val="334155"/>
                </a:solidFill>
              </a:rPr>
              <a:t>  - Train baseline classifiers on nominal channels with minimal carrier frequency offset (|Δf| ≤ 0.4% fs).</a:t>
            </a:r>
          </a:p>
          <a:p>
            <a:pPr>
              <a:spcBef>
                <a:spcPts val="400"/>
              </a:spcBef>
            </a:pPr>
            <a:r>
              <a:rPr sz="1200">
                <a:solidFill>
                  <a:srgbClr val="334155"/>
                </a:solidFill>
              </a:rPr>
              <a:t>  - Stress-test models on test sets with escalating CFO (0.5% to 5% fs) and random phase jitter.</a:t>
            </a:r>
          </a:p>
          <a:p>
            <a:pPr>
              <a:spcBef>
                <a:spcPts val="400"/>
              </a:spcBef>
            </a:pPr>
            <a:r>
              <a:rPr sz="1200">
                <a:solidFill>
                  <a:srgbClr val="334155"/>
                </a:solidFill>
              </a:rPr>
              <a:t>  - Identify the exact breakdown threshold where phase rotation destroys constellation geometry.</a:t>
            </a:r>
          </a:p>
          <a:p>
            <a:pPr>
              <a:spcBef>
                <a:spcPts val="400"/>
              </a:spcBef>
            </a:pPr>
            <a:r>
              <a:rPr sz="1200">
                <a:solidFill>
                  <a:srgbClr val="334155"/>
                </a:solidFill>
              </a:rPr>
              <a:t>  - Evaluate mitigation techniques (e.g. data augmentation with random frequency rotation during training).</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Interactive slider allowing real-time injection of CFO into live baseband bursts, dynamically rendering the rotating constellation rings and tracking prediction collapse.</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8 of 21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04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4: Data Augmentation &amp; Noise Resilience for Low-SNR</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Enhancing Receiver Sensitivity in Noise-Limited Regimes (-10 dB to +2 dB)</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Enhance receiver sensitivity in noise-limited regimes (-10 dB to +2 dB) via physical domain data augmentation.</a:t>
            </a:r>
          </a:p>
          <a:p>
            <a:pPr>
              <a:spcBef>
                <a:spcPts val="800"/>
              </a:spcBef>
            </a:pPr>
            <a:r>
              <a:rPr sz="1300" b="1">
                <a:solidFill>
                  <a:srgbClr val="0F172A"/>
                </a:solidFill>
              </a:rPr>
              <a:t>• Key Engineering Tasks:</a:t>
            </a:r>
          </a:p>
          <a:p>
            <a:pPr>
              <a:spcBef>
                <a:spcPts val="400"/>
              </a:spcBef>
            </a:pPr>
            <a:r>
              <a:rPr sz="1200">
                <a:solidFill>
                  <a:srgbClr val="334155"/>
                </a:solidFill>
              </a:rPr>
              <a:t>  - Build a custom PyTorch dataset transform pipeline incorporating stochastic RF augmentations.</a:t>
            </a:r>
          </a:p>
          <a:p>
            <a:pPr>
              <a:spcBef>
                <a:spcPts val="400"/>
              </a:spcBef>
            </a:pPr>
            <a:r>
              <a:rPr sz="1200">
                <a:solidFill>
                  <a:srgbClr val="334155"/>
                </a:solidFill>
              </a:rPr>
              <a:t>  - Implement random phase rotation (θ in [0, 2π)), additive Gaussian noise scaling, time-shift jitter, and amplitude scaling.</a:t>
            </a:r>
          </a:p>
          <a:p>
            <a:pPr>
              <a:spcBef>
                <a:spcPts val="400"/>
              </a:spcBef>
            </a:pPr>
            <a:r>
              <a:rPr sz="1200">
                <a:solidFill>
                  <a:srgbClr val="334155"/>
                </a:solidFill>
              </a:rPr>
              <a:t>  - Train nominal 1D CNN vs. Augmented 1D CNN under identical optimization hyperparameters.</a:t>
            </a:r>
          </a:p>
          <a:p>
            <a:pPr>
              <a:spcBef>
                <a:spcPts val="400"/>
              </a:spcBef>
            </a:pPr>
            <a:r>
              <a:rPr sz="1200">
                <a:solidFill>
                  <a:srgbClr val="334155"/>
                </a:solidFill>
              </a:rPr>
              <a:t>  - Quantify low-SNR sensitivity gain (dB improvement at 80% accuracy threshold).</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Side-by-side prediction test showing how the augmented model correctly identifies severely corrupted signals at -4 dB where the baseline model fails.</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9 of 21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05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5: Deep Residual Learning (1D ResNet) for Dense QAM</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Overcoming Finite-Sample Lattice Confusion Between 16QAM and 64QAM</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Overcome finite-sample lattice confusion between high-order modulations (16QAM vs. 64QAM).</a:t>
            </a:r>
          </a:p>
          <a:p>
            <a:pPr>
              <a:spcBef>
                <a:spcPts val="800"/>
              </a:spcBef>
            </a:pPr>
            <a:r>
              <a:rPr sz="1300" b="1">
                <a:solidFill>
                  <a:srgbClr val="0F172A"/>
                </a:solidFill>
              </a:rPr>
              <a:t>• Key Engineering Tasks:</a:t>
            </a:r>
          </a:p>
          <a:p>
            <a:pPr>
              <a:spcBef>
                <a:spcPts val="400"/>
              </a:spcBef>
            </a:pPr>
            <a:r>
              <a:rPr sz="1200">
                <a:solidFill>
                  <a:srgbClr val="334155"/>
                </a:solidFill>
              </a:rPr>
              <a:t>  - Construct a 1D Residual Network (ResNet) with identity skip connections (y = F(x) + x).</a:t>
            </a:r>
          </a:p>
          <a:p>
            <a:pPr>
              <a:spcBef>
                <a:spcPts val="400"/>
              </a:spcBef>
            </a:pPr>
            <a:r>
              <a:rPr sz="1200">
                <a:solidFill>
                  <a:srgbClr val="334155"/>
                </a:solidFill>
              </a:rPr>
              <a:t>  - Compare against a standard feedforward 1D CNN with matched parameter count.</a:t>
            </a:r>
          </a:p>
          <a:p>
            <a:pPr>
              <a:spcBef>
                <a:spcPts val="400"/>
              </a:spcBef>
            </a:pPr>
            <a:r>
              <a:rPr sz="1200">
                <a:solidFill>
                  <a:srgbClr val="334155"/>
                </a:solidFill>
              </a:rPr>
              <a:t>  - Analyze confusion matrix sub-blocks for 16QAM and 64QAM across positive SNRs (&gt; +8 dB).</a:t>
            </a:r>
          </a:p>
          <a:p>
            <a:pPr>
              <a:spcBef>
                <a:spcPts val="400"/>
              </a:spcBef>
            </a:pPr>
            <a:r>
              <a:rPr sz="1200">
                <a:solidFill>
                  <a:srgbClr val="334155"/>
                </a:solidFill>
              </a:rPr>
              <a:t>  - Demonstrate how residual connections prevent gradient degradation and preserve subtle multi-ring amplitude levels.</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Dedicated QAM test interface displaying 16QAM and 64QAM constellation plots and showing how ResNet skip connections resolve dense constellation ambiguity.</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10 of 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06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6: Multi-Domain 2D Representation (Spectrograms &amp; CNN)</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Transforming 1D Time-Series into 2D Time-Frequency &amp; Spatial Visual Domains</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Evaluate whether transforming 1D time-series into 2D visual representations improves classification accuracy.</a:t>
            </a:r>
          </a:p>
          <a:p>
            <a:pPr>
              <a:spcBef>
                <a:spcPts val="800"/>
              </a:spcBef>
            </a:pPr>
            <a:r>
              <a:rPr sz="1300" b="1">
                <a:solidFill>
                  <a:srgbClr val="0F172A"/>
                </a:solidFill>
              </a:rPr>
              <a:t>• Key Engineering Tasks:</a:t>
            </a:r>
          </a:p>
          <a:p>
            <a:pPr>
              <a:spcBef>
                <a:spcPts val="400"/>
              </a:spcBef>
            </a:pPr>
            <a:r>
              <a:rPr sz="1200">
                <a:solidFill>
                  <a:srgbClr val="334155"/>
                </a:solidFill>
              </a:rPr>
              <a:t>  - Transform 128-sample I/Q bursts into 32 x 32 2D representations using Short-Time Fourier Transform (STFT) spectrograms.</a:t>
            </a:r>
          </a:p>
          <a:p>
            <a:pPr>
              <a:spcBef>
                <a:spcPts val="400"/>
              </a:spcBef>
            </a:pPr>
            <a:r>
              <a:rPr sz="1200">
                <a:solidFill>
                  <a:srgbClr val="334155"/>
                </a:solidFill>
              </a:rPr>
              <a:t>  - Generate 2D Constellation Histogram grids (accumulating I/Q sample density into 2D spatial bins).</a:t>
            </a:r>
          </a:p>
          <a:p>
            <a:pPr>
              <a:spcBef>
                <a:spcPts val="400"/>
              </a:spcBef>
            </a:pPr>
            <a:r>
              <a:rPr sz="1200">
                <a:solidFill>
                  <a:srgbClr val="334155"/>
                </a:solidFill>
              </a:rPr>
              <a:t>  - Train a lightweight 2D CNN (or MobileNetV2 backbone) on the generated 2D image representations.</a:t>
            </a:r>
          </a:p>
          <a:p>
            <a:pPr>
              <a:spcBef>
                <a:spcPts val="400"/>
              </a:spcBef>
            </a:pPr>
            <a:r>
              <a:rPr sz="1200">
                <a:solidFill>
                  <a:srgbClr val="334155"/>
                </a:solidFill>
              </a:rPr>
              <a:t>  - Compare accuracy, inference latency, and memory footprint against 1D CNN baseline.</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Image-based pipeline demo: select a raw burst, instantly render its 2D spectrogram image on screen, and display the 2D CNN inference output.</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11 of 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07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7: Confidence Calibration, Squelch &amp; OOD Signal Rejection</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Preventing Overconfident Misclassifications on Pure Noise and Alien Modulations</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Prevent overconfident false predictions on ambiguous low-SNR signals and unencountered modulation schemes.</a:t>
            </a:r>
          </a:p>
          <a:p>
            <a:pPr>
              <a:spcBef>
                <a:spcPts val="800"/>
              </a:spcBef>
            </a:pPr>
            <a:r>
              <a:rPr sz="1300" b="1">
                <a:solidFill>
                  <a:srgbClr val="0F172A"/>
                </a:solidFill>
              </a:rPr>
              <a:t>• Key Engineering Tasks:</a:t>
            </a:r>
          </a:p>
          <a:p>
            <a:pPr>
              <a:spcBef>
                <a:spcPts val="400"/>
              </a:spcBef>
            </a:pPr>
            <a:r>
              <a:rPr sz="1200">
                <a:solidFill>
                  <a:srgbClr val="334155"/>
                </a:solidFill>
              </a:rPr>
              <a:t>  - Analyze predicted softmax probability distributions and prediction entropy across the SNR grid.</a:t>
            </a:r>
          </a:p>
          <a:p>
            <a:pPr>
              <a:spcBef>
                <a:spcPts val="400"/>
              </a:spcBef>
            </a:pPr>
            <a:r>
              <a:rPr sz="1200">
                <a:solidFill>
                  <a:srgbClr val="334155"/>
                </a:solidFill>
              </a:rPr>
              <a:t>  - Implement a squelch abstention mechanism: if max_m p_m &lt; tau (e.g. tau = 0.55), output 'UNKNOWN / NOISE'.</a:t>
            </a:r>
          </a:p>
          <a:p>
            <a:pPr>
              <a:spcBef>
                <a:spcPts val="400"/>
              </a:spcBef>
            </a:pPr>
            <a:r>
              <a:rPr sz="1200">
                <a:solidFill>
                  <a:srgbClr val="334155"/>
                </a:solidFill>
              </a:rPr>
              <a:t>  - Evaluate false positive rates on pure AWGN noise bursts and out-of-distribution alien signals (e.g. analog AM/FM).</a:t>
            </a:r>
          </a:p>
          <a:p>
            <a:pPr>
              <a:spcBef>
                <a:spcPts val="400"/>
              </a:spcBef>
            </a:pPr>
            <a:r>
              <a:rPr sz="1200">
                <a:solidFill>
                  <a:srgbClr val="334155"/>
                </a:solidFill>
              </a:rPr>
              <a:t>  - Plot Risk-Coverage curves and Calibrated Rejection Rate vs SNR.</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Squelch demonstration injecting pure AWGN noise bursts or alien signals, proving the system safely flags 'UNKNOWN' instead of outputting erroneous high-confidence guesses.</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12 of 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TOPIC 08 • PROJECT SPECIFICATION</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Topic 8: Edge-Ready Model Optimization (int8 PTQ &amp; Profiling)</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Deploying Deep Neural Receivers Under Strict Real-Time Burst Deadlines</a:t>
            </a:r>
          </a:p>
        </p:txBody>
      </p:sp>
      <p:sp>
        <p:nvSpPr>
          <p:cNvPr id="5" name="Rounded Rectangle 4"/>
          <p:cNvSpPr/>
          <p:nvPr/>
        </p:nvSpPr>
        <p:spPr>
          <a:xfrm>
            <a:off x="731520" y="1691640"/>
            <a:ext cx="594360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5486400" cy="3794760"/>
          </a:xfrm>
          <a:prstGeom prst="rect">
            <a:avLst/>
          </a:prstGeom>
          <a:noFill/>
        </p:spPr>
        <p:txBody>
          <a:bodyPr wrap="square">
            <a:spAutoFit/>
          </a:bodyPr>
          <a:lstStyle/>
          <a:p>
            <a:pPr>
              <a:defRPr sz="1600" b="1">
                <a:solidFill>
                  <a:srgbClr val="0284C7"/>
                </a:solidFill>
                <a:latin typeface="Manrope"/>
              </a:defRPr>
            </a:pPr>
            <a:r>
              <a:t>Technical Scope &amp; Methodology</a:t>
            </a:r>
          </a:p>
          <a:p>
            <a:pPr>
              <a:spcBef>
                <a:spcPts val="800"/>
              </a:spcBef>
            </a:pPr>
            <a:r>
              <a:rPr sz="1300" b="1">
                <a:solidFill>
                  <a:srgbClr val="0F172A"/>
                </a:solidFill>
              </a:rPr>
              <a:t>• Core Focus: </a:t>
            </a:r>
            <a:r>
              <a:rPr sz="1300">
                <a:solidFill>
                  <a:srgbClr val="334155"/>
                </a:solidFill>
              </a:rPr>
              <a:t>Optimize deep neural receivers for real-time edge execution on constrained hardware (embedded CPUs / microcontrollers).</a:t>
            </a:r>
          </a:p>
          <a:p>
            <a:pPr>
              <a:spcBef>
                <a:spcPts val="800"/>
              </a:spcBef>
            </a:pPr>
            <a:r>
              <a:rPr sz="1300" b="1">
                <a:solidFill>
                  <a:srgbClr val="0F172A"/>
                </a:solidFill>
              </a:rPr>
              <a:t>• Key Engineering Tasks:</a:t>
            </a:r>
          </a:p>
          <a:p>
            <a:pPr>
              <a:spcBef>
                <a:spcPts val="400"/>
              </a:spcBef>
            </a:pPr>
            <a:r>
              <a:rPr sz="1200">
                <a:solidFill>
                  <a:srgbClr val="334155"/>
                </a:solidFill>
              </a:rPr>
              <a:t>  - Take a trained PyTorch 1D CNN and apply Post-Training Static/Dynamic Quantization (PTQ float32 -&gt; int8).</a:t>
            </a:r>
          </a:p>
          <a:p>
            <a:pPr>
              <a:spcBef>
                <a:spcPts val="400"/>
              </a:spcBef>
            </a:pPr>
            <a:r>
              <a:rPr sz="1200">
                <a:solidFill>
                  <a:srgbClr val="334155"/>
                </a:solidFill>
              </a:rPr>
              <a:t>  - Export the quantized model to ONNX runtime format for optimized CPU execution.</a:t>
            </a:r>
          </a:p>
          <a:p>
            <a:pPr>
              <a:spcBef>
                <a:spcPts val="400"/>
              </a:spcBef>
            </a:pPr>
            <a:r>
              <a:rPr sz="1200">
                <a:solidFill>
                  <a:srgbClr val="334155"/>
                </a:solidFill>
              </a:rPr>
              <a:t>  - Measure model file size compression (4x reduction), RAM footprint, and accuracy degradation (delta &lt; 1%).</a:t>
            </a:r>
          </a:p>
          <a:p>
            <a:pPr>
              <a:spcBef>
                <a:spcPts val="400"/>
              </a:spcBef>
            </a:pPr>
            <a:r>
              <a:rPr sz="1200">
                <a:solidFill>
                  <a:srgbClr val="334155"/>
                </a:solidFill>
              </a:rPr>
              <a:t>  - Profile per-burst CPU inference latency against the 128 us real-time burst deadline.</a:t>
            </a:r>
          </a:p>
        </p:txBody>
      </p:sp>
      <p:sp>
        <p:nvSpPr>
          <p:cNvPr id="7" name="Rounded Rectangle 6"/>
          <p:cNvSpPr/>
          <p:nvPr/>
        </p:nvSpPr>
        <p:spPr>
          <a:xfrm>
            <a:off x="6949440" y="1691640"/>
            <a:ext cx="4510735" cy="4160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1874519"/>
            <a:ext cx="4053535" cy="3794760"/>
          </a:xfrm>
          <a:prstGeom prst="rect">
            <a:avLst/>
          </a:prstGeom>
          <a:noFill/>
        </p:spPr>
        <p:txBody>
          <a:bodyPr wrap="square">
            <a:spAutoFit/>
          </a:bodyPr>
          <a:lstStyle/>
          <a:p>
            <a:pPr>
              <a:defRPr sz="1500" b="1">
                <a:solidFill>
                  <a:srgbClr val="0F2B48"/>
                </a:solidFill>
                <a:latin typeface="Manrope"/>
              </a:defRPr>
            </a:pPr>
            <a:r>
              <a:t>LIVE DEMONSTRATION FOCUS</a:t>
            </a:r>
          </a:p>
          <a:p>
            <a:pPr>
              <a:spcBef>
                <a:spcPts val="1000"/>
              </a:spcBef>
            </a:pPr>
            <a:r>
              <a:rPr sz="1300" b="1">
                <a:solidFill>
                  <a:srgbClr val="0284C7"/>
                </a:solidFill>
              </a:rPr>
              <a:t>Demo Deliverable: </a:t>
            </a:r>
            <a:r>
              <a:rPr sz="1300">
                <a:solidFill>
                  <a:srgbClr val="334155"/>
                </a:solidFill>
              </a:rPr>
              <a:t>Live hardware benchmarking tool running 1,000 bursts through float32 vs. int8 models, displaying real-time execution speeds (ms/burst), memory footprints, and throughput side-by-side.</a:t>
            </a:r>
          </a:p>
          <a:p>
            <a:pPr>
              <a:spcBef>
                <a:spcPts val="800"/>
              </a:spcBef>
            </a:pPr>
            <a:r>
              <a:rPr sz="1200" b="1">
                <a:solidFill>
                  <a:srgbClr val="0F172A"/>
                </a:solidFill>
              </a:rPr>
              <a:t>• Execution Format: </a:t>
            </a:r>
            <a:r>
              <a:rPr sz="1200">
                <a:solidFill>
                  <a:srgbClr val="334155"/>
                </a:solidFill>
              </a:rPr>
              <a:t>Streamlit / Gradio web UI or interactive real-time CLI application.</a:t>
            </a:r>
          </a:p>
          <a:p>
            <a:pPr>
              <a:spcBef>
                <a:spcPts val="800"/>
              </a:spcBef>
            </a:pPr>
            <a:r>
              <a:rPr sz="1200" b="1">
                <a:solidFill>
                  <a:srgbClr val="0F172A"/>
                </a:solidFill>
              </a:rPr>
              <a:t>• Live Manipulation: </a:t>
            </a:r>
            <a:r>
              <a:rPr sz="1200">
                <a:solidFill>
                  <a:srgbClr val="334155"/>
                </a:solidFill>
              </a:rPr>
              <a:t>Demonstrate live responsiveness when adjusting parameters or feeding arbitrary test bursts.</a:t>
            </a:r>
          </a:p>
          <a:p>
            <a:pPr>
              <a:spcBef>
                <a:spcPts val="800"/>
              </a:spcBef>
            </a:pPr>
            <a:r>
              <a:rPr sz="1200" b="1">
                <a:solidFill>
                  <a:srgbClr val="0F172A"/>
                </a:solidFill>
              </a:rPr>
              <a:t>• Fail-Safe Mandate: </a:t>
            </a:r>
            <a:r>
              <a:rPr sz="1200">
                <a:solidFill>
                  <a:srgbClr val="334155"/>
                </a:solidFill>
              </a:rPr>
              <a:t>Embed a 30-60 second pre-recorded screen-recording MP4 inside the presentation deck.</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13 of 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4 • DEFENSE PROTOCOL</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Defense Session Schedule &amp; Time Allocation</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Each Team is Allocated Exactly 30 Minutes Structured into Three Sequential Phases</a:t>
            </a:r>
          </a:p>
        </p:txBody>
      </p:sp>
      <p:sp>
        <p:nvSpPr>
          <p:cNvPr id="5" name="Rounded Rectangle 4"/>
          <p:cNvSpPr/>
          <p:nvPr/>
        </p:nvSpPr>
        <p:spPr>
          <a:xfrm>
            <a:off x="731520" y="1691640"/>
            <a:ext cx="3364992" cy="416052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999232" cy="3794760"/>
          </a:xfrm>
          <a:prstGeom prst="rect">
            <a:avLst/>
          </a:prstGeom>
          <a:noFill/>
        </p:spPr>
        <p:txBody>
          <a:bodyPr wrap="square">
            <a:spAutoFit/>
          </a:bodyPr>
          <a:lstStyle/>
          <a:p>
            <a:pPr>
              <a:defRPr sz="1600" b="1">
                <a:solidFill>
                  <a:srgbClr val="0284C7"/>
                </a:solidFill>
                <a:latin typeface="Manrope"/>
              </a:defRPr>
            </a:pPr>
            <a:r>
              <a:t>15 MINUTES (STRICT)</a:t>
            </a:r>
          </a:p>
          <a:p>
            <a:pPr>
              <a:defRPr sz="1400" b="1">
                <a:solidFill>
                  <a:srgbClr val="0F172A"/>
                </a:solidFill>
                <a:latin typeface="Manrope"/>
              </a:defRPr>
            </a:pPr>
            <a:r>
              <a:t>Technical Presentation</a:t>
            </a:r>
          </a:p>
          <a:p>
            <a:pPr>
              <a:spcBef>
                <a:spcPts val="500"/>
              </a:spcBef>
            </a:pPr>
            <a:r>
              <a:rPr sz="1200" b="1">
                <a:solidFill>
                  <a:srgbClr val="0F172A"/>
                </a:solidFill>
              </a:rPr>
              <a:t>• Problem Framing: </a:t>
            </a:r>
            <a:r>
              <a:rPr sz="1200">
                <a:solidFill>
                  <a:srgbClr val="334155"/>
                </a:solidFill>
              </a:rPr>
              <a:t>Physical background, motivation, and system model.</a:t>
            </a:r>
          </a:p>
          <a:p>
            <a:pPr>
              <a:spcBef>
                <a:spcPts val="500"/>
              </a:spcBef>
            </a:pPr>
            <a:r>
              <a:rPr sz="1200" b="1">
                <a:solidFill>
                  <a:srgbClr val="0F172A"/>
                </a:solidFill>
              </a:rPr>
              <a:t>• Architecture &amp; Math: </a:t>
            </a:r>
            <a:r>
              <a:rPr sz="1200">
                <a:solidFill>
                  <a:srgbClr val="334155"/>
                </a:solidFill>
              </a:rPr>
              <a:t>Neural network layers, loss functions, and derivations.</a:t>
            </a:r>
          </a:p>
          <a:p>
            <a:pPr>
              <a:spcBef>
                <a:spcPts val="500"/>
              </a:spcBef>
            </a:pPr>
            <a:r>
              <a:rPr sz="1200" b="1">
                <a:solidFill>
                  <a:srgbClr val="0F172A"/>
                </a:solidFill>
              </a:rPr>
              <a:t>• SNR Benchmarks: </a:t>
            </a:r>
            <a:r>
              <a:rPr sz="1200">
                <a:solidFill>
                  <a:srgbClr val="334155"/>
                </a:solidFill>
              </a:rPr>
              <a:t>Accuracy vs. SNR curves and Macro-F1 curves.</a:t>
            </a:r>
          </a:p>
          <a:p>
            <a:pPr>
              <a:spcBef>
                <a:spcPts val="500"/>
              </a:spcBef>
            </a:pPr>
            <a:r>
              <a:rPr sz="1200" b="1">
                <a:solidFill>
                  <a:srgbClr val="0F172A"/>
                </a:solidFill>
              </a:rPr>
              <a:t>• Confusion Matrices: </a:t>
            </a:r>
            <a:r>
              <a:rPr sz="1200">
                <a:solidFill>
                  <a:srgbClr val="334155"/>
                </a:solidFill>
              </a:rPr>
              <a:t>Detailed analysis across SNR regimes.</a:t>
            </a:r>
          </a:p>
          <a:p>
            <a:pPr>
              <a:spcBef>
                <a:spcPts val="500"/>
              </a:spcBef>
            </a:pPr>
            <a:r>
              <a:rPr sz="1200" b="1">
                <a:solidFill>
                  <a:srgbClr val="0F172A"/>
                </a:solidFill>
              </a:rPr>
              <a:t>• Failure Analysis: </a:t>
            </a:r>
            <a:r>
              <a:rPr sz="1200">
                <a:solidFill>
                  <a:srgbClr val="334155"/>
                </a:solidFill>
              </a:rPr>
              <a:t>Root-cause diagnostics of misclassifications.</a:t>
            </a:r>
          </a:p>
        </p:txBody>
      </p:sp>
      <p:sp>
        <p:nvSpPr>
          <p:cNvPr id="7" name="Rounded Rectangle 6"/>
          <p:cNvSpPr/>
          <p:nvPr/>
        </p:nvSpPr>
        <p:spPr>
          <a:xfrm>
            <a:off x="4407408" y="1691640"/>
            <a:ext cx="3364992" cy="4160520"/>
          </a:xfrm>
          <a:prstGeom prst="roundRect">
            <a:avLst/>
          </a:prstGeom>
          <a:solidFill>
            <a:srgbClr val="EFF6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90288" y="1874520"/>
            <a:ext cx="2999232" cy="3794760"/>
          </a:xfrm>
          <a:prstGeom prst="rect">
            <a:avLst/>
          </a:prstGeom>
          <a:noFill/>
        </p:spPr>
        <p:txBody>
          <a:bodyPr wrap="square">
            <a:spAutoFit/>
          </a:bodyPr>
          <a:lstStyle/>
          <a:p>
            <a:pPr>
              <a:defRPr sz="1600" b="1">
                <a:solidFill>
                  <a:srgbClr val="16A34A"/>
                </a:solidFill>
                <a:latin typeface="Manrope"/>
              </a:defRPr>
            </a:pPr>
            <a:r>
              <a:t>10 MINUTES</a:t>
            </a:r>
          </a:p>
          <a:p>
            <a:pPr>
              <a:defRPr sz="1400" b="1">
                <a:solidFill>
                  <a:srgbClr val="0F172A"/>
                </a:solidFill>
                <a:latin typeface="Manrope"/>
              </a:defRPr>
            </a:pPr>
            <a:r>
              <a:t>Interactive Live Demo</a:t>
            </a:r>
          </a:p>
          <a:p>
            <a:pPr>
              <a:spcBef>
                <a:spcPts val="500"/>
              </a:spcBef>
            </a:pPr>
            <a:r>
              <a:rPr sz="1200" b="1">
                <a:solidFill>
                  <a:srgbClr val="0F172A"/>
                </a:solidFill>
              </a:rPr>
              <a:t>• Live Execution: </a:t>
            </a:r>
            <a:r>
              <a:rPr sz="1200">
                <a:solidFill>
                  <a:srgbClr val="334155"/>
                </a:solidFill>
              </a:rPr>
              <a:t>Run real-time inference on arbitrary unseen test bursts.</a:t>
            </a:r>
          </a:p>
          <a:p>
            <a:pPr>
              <a:spcBef>
                <a:spcPts val="500"/>
              </a:spcBef>
            </a:pPr>
            <a:r>
              <a:rPr sz="1200" b="1">
                <a:solidFill>
                  <a:srgbClr val="0F172A"/>
                </a:solidFill>
              </a:rPr>
              <a:t>• Parameter Testing: </a:t>
            </a:r>
            <a:r>
              <a:rPr sz="1200">
                <a:solidFill>
                  <a:srgbClr val="334155"/>
                </a:solidFill>
              </a:rPr>
              <a:t>Adjust SNR, CFO, noise, or model quantization live.</a:t>
            </a:r>
          </a:p>
          <a:p>
            <a:pPr>
              <a:spcBef>
                <a:spcPts val="500"/>
              </a:spcBef>
            </a:pPr>
            <a:r>
              <a:rPr sz="1200" b="1">
                <a:solidFill>
                  <a:srgbClr val="0F172A"/>
                </a:solidFill>
              </a:rPr>
              <a:t>• Latency / Memory: </a:t>
            </a:r>
            <a:r>
              <a:rPr sz="1200">
                <a:solidFill>
                  <a:srgbClr val="334155"/>
                </a:solidFill>
              </a:rPr>
              <a:t>Demonstrate live hardware benchmarking or speed metrics.</a:t>
            </a:r>
          </a:p>
          <a:p>
            <a:pPr>
              <a:spcBef>
                <a:spcPts val="500"/>
              </a:spcBef>
            </a:pPr>
            <a:r>
              <a:rPr sz="1200" b="1">
                <a:solidFill>
                  <a:srgbClr val="0F172A"/>
                </a:solidFill>
              </a:rPr>
              <a:t>• Code Walkthrough: </a:t>
            </a:r>
            <a:r>
              <a:rPr sz="1200">
                <a:solidFill>
                  <a:srgbClr val="334155"/>
                </a:solidFill>
              </a:rPr>
              <a:t>Briefly highlight clean modular PyTorch codebase.</a:t>
            </a:r>
          </a:p>
          <a:p>
            <a:pPr>
              <a:spcBef>
                <a:spcPts val="500"/>
              </a:spcBef>
            </a:pPr>
            <a:r>
              <a:rPr sz="1200" b="1">
                <a:solidFill>
                  <a:srgbClr val="0F172A"/>
                </a:solidFill>
              </a:rPr>
              <a:t>• Fail-Safe Video: </a:t>
            </a:r>
            <a:r>
              <a:rPr sz="1200">
                <a:solidFill>
                  <a:srgbClr val="334155"/>
                </a:solidFill>
              </a:rPr>
              <a:t>Backup video ready in deck if hardware hiccups occur.</a:t>
            </a:r>
          </a:p>
        </p:txBody>
      </p:sp>
      <p:sp>
        <p:nvSpPr>
          <p:cNvPr id="9" name="Rounded Rectangle 8"/>
          <p:cNvSpPr/>
          <p:nvPr/>
        </p:nvSpPr>
        <p:spPr>
          <a:xfrm>
            <a:off x="8083296" y="1691640"/>
            <a:ext cx="3364992" cy="4160520"/>
          </a:xfrm>
          <a:prstGeom prst="roundRect">
            <a:avLst/>
          </a:prstGeom>
          <a:solidFill>
            <a:srgbClr val="F8FAFC"/>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66176" y="1874520"/>
            <a:ext cx="2999232" cy="3794760"/>
          </a:xfrm>
          <a:prstGeom prst="rect">
            <a:avLst/>
          </a:prstGeom>
          <a:noFill/>
        </p:spPr>
        <p:txBody>
          <a:bodyPr wrap="square">
            <a:spAutoFit/>
          </a:bodyPr>
          <a:lstStyle/>
          <a:p>
            <a:pPr>
              <a:defRPr sz="1600" b="1">
                <a:solidFill>
                  <a:srgbClr val="7C3AED"/>
                </a:solidFill>
                <a:latin typeface="Manrope"/>
              </a:defRPr>
            </a:pPr>
            <a:r>
              <a:t>5 MINUTES</a:t>
            </a:r>
          </a:p>
          <a:p>
            <a:pPr>
              <a:defRPr sz="1400" b="1">
                <a:solidFill>
                  <a:srgbClr val="0F172A"/>
                </a:solidFill>
                <a:latin typeface="Manrope"/>
              </a:defRPr>
            </a:pPr>
            <a:r>
              <a:t>Faculty &amp; Peer Q&amp;A</a:t>
            </a:r>
          </a:p>
          <a:p>
            <a:pPr>
              <a:spcBef>
                <a:spcPts val="500"/>
              </a:spcBef>
            </a:pPr>
            <a:r>
              <a:rPr sz="1200" b="1">
                <a:solidFill>
                  <a:srgbClr val="0F172A"/>
                </a:solidFill>
              </a:rPr>
              <a:t>• Technical Defense: </a:t>
            </a:r>
            <a:r>
              <a:rPr sz="1200">
                <a:solidFill>
                  <a:srgbClr val="334155"/>
                </a:solidFill>
              </a:rPr>
              <a:t>Defend algorithmic, mathematical, and architectural decisions.</a:t>
            </a:r>
          </a:p>
          <a:p>
            <a:pPr>
              <a:spcBef>
                <a:spcPts val="500"/>
              </a:spcBef>
            </a:pPr>
            <a:r>
              <a:rPr sz="1200" b="1">
                <a:solidFill>
                  <a:srgbClr val="0F172A"/>
                </a:solidFill>
              </a:rPr>
              <a:t>• Edge Cases: </a:t>
            </a:r>
            <a:r>
              <a:rPr sz="1200">
                <a:solidFill>
                  <a:srgbClr val="334155"/>
                </a:solidFill>
              </a:rPr>
              <a:t>Explain theoretical limits and boundary conditions.</a:t>
            </a:r>
          </a:p>
          <a:p>
            <a:pPr>
              <a:spcBef>
                <a:spcPts val="500"/>
              </a:spcBef>
            </a:pPr>
            <a:r>
              <a:rPr sz="1200" b="1">
                <a:solidFill>
                  <a:srgbClr val="0F172A"/>
                </a:solidFill>
              </a:rPr>
              <a:t>• Team Engagement: </a:t>
            </a:r>
            <a:r>
              <a:rPr sz="1200">
                <a:solidFill>
                  <a:srgbClr val="334155"/>
                </a:solidFill>
              </a:rPr>
              <a:t>All team members must participate in answering.</a:t>
            </a:r>
          </a:p>
          <a:p>
            <a:pPr>
              <a:spcBef>
                <a:spcPts val="500"/>
              </a:spcBef>
            </a:pPr>
            <a:r>
              <a:rPr sz="1200" b="1">
                <a:solidFill>
                  <a:srgbClr val="0F172A"/>
                </a:solidFill>
              </a:rPr>
              <a:t>• Peer Questions: </a:t>
            </a:r>
            <a:r>
              <a:rPr sz="1200">
                <a:solidFill>
                  <a:srgbClr val="334155"/>
                </a:solidFill>
              </a:rPr>
              <a:t>Open floor for classmates to inquire on methodology.</a:t>
            </a:r>
          </a:p>
          <a:p>
            <a:pPr>
              <a:spcBef>
                <a:spcPts val="500"/>
              </a:spcBef>
            </a:pPr>
            <a:r>
              <a:rPr sz="1200" b="1">
                <a:solidFill>
                  <a:srgbClr val="0F172A"/>
                </a:solidFill>
              </a:rPr>
              <a:t>• Scoring Synthesis: </a:t>
            </a:r>
            <a:r>
              <a:rPr sz="1200">
                <a:solidFill>
                  <a:srgbClr val="334155"/>
                </a:solidFill>
              </a:rPr>
              <a:t>Final rubric points compiled immediately.</a:t>
            </a:r>
          </a:p>
        </p:txBody>
      </p:sp>
      <p:sp>
        <p:nvSpPr>
          <p:cNvPr id="11" name="Rectangle 10"/>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3" name="TextBox 12"/>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14 of 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4 • TIME MANAGEMENT</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Overtime Penalty Rule (Strictly Enforced)</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Professional Engineering Time Management is a Mandatory Competency</a:t>
            </a:r>
          </a:p>
        </p:txBody>
      </p:sp>
      <p:sp>
        <p:nvSpPr>
          <p:cNvPr id="5" name="Rounded Rectangle 4"/>
          <p:cNvSpPr/>
          <p:nvPr/>
        </p:nvSpPr>
        <p:spPr>
          <a:xfrm>
            <a:off x="731520" y="1691640"/>
            <a:ext cx="10728655" cy="4160520"/>
          </a:xfrm>
          <a:prstGeom prst="roundRect">
            <a:avLst/>
          </a:prstGeom>
          <a:solidFill>
            <a:srgbClr val="FFF1F2"/>
          </a:solidFill>
          <a:ln w="254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874519"/>
            <a:ext cx="10180015" cy="3794760"/>
          </a:xfrm>
          <a:prstGeom prst="rect">
            <a:avLst/>
          </a:prstGeom>
          <a:noFill/>
        </p:spPr>
        <p:txBody>
          <a:bodyPr wrap="square">
            <a:spAutoFit/>
          </a:bodyPr>
          <a:lstStyle/>
          <a:p>
            <a:pPr>
              <a:defRPr sz="1800" b="1">
                <a:solidFill>
                  <a:srgbClr val="E11D48"/>
                </a:solidFill>
                <a:latin typeface="Manrope"/>
              </a:defRPr>
            </a:pPr>
            <a:r>
              <a:t>⚠️ Mandatory Engineering Time Management Standard</a:t>
            </a:r>
          </a:p>
          <a:p>
            <a:pPr>
              <a:spcBef>
                <a:spcPts val="800"/>
              </a:spcBef>
              <a:defRPr sz="1400">
                <a:solidFill>
                  <a:srgbClr val="0F172A"/>
                </a:solidFill>
                <a:latin typeface="Inter"/>
              </a:defRPr>
            </a:pPr>
            <a:r>
              <a:t>In professional engineering presentations and customer defenses, exceeding allotted time results in loss of credibility and immediate session termination. Presentations exceeding the 15-minute presentation limit will receive point deductions as follows:</a:t>
            </a:r>
          </a:p>
          <a:p>
            <a:pPr>
              <a:spcBef>
                <a:spcPts val="600"/>
              </a:spcBef>
            </a:pPr>
            <a:r>
              <a:rPr sz="1300" b="1">
                <a:solidFill>
                  <a:srgbClr val="0F172A"/>
                </a:solidFill>
              </a:rPr>
              <a:t>• 0 to 60s Over (15:01 – 16:00): </a:t>
            </a:r>
            <a:r>
              <a:rPr sz="1300">
                <a:solidFill>
                  <a:srgbClr val="334155"/>
                </a:solidFill>
              </a:rPr>
              <a:t>Grace Period / Warning → </a:t>
            </a:r>
            <a:r>
              <a:rPr sz="1300" b="1">
                <a:solidFill>
                  <a:srgbClr val="E11D48"/>
                </a:solidFill>
              </a:rPr>
              <a:t>0 pts deducted</a:t>
            </a:r>
          </a:p>
          <a:p>
            <a:pPr>
              <a:spcBef>
                <a:spcPts val="600"/>
              </a:spcBef>
            </a:pPr>
            <a:r>
              <a:rPr sz="1300" b="1">
                <a:solidFill>
                  <a:srgbClr val="0F172A"/>
                </a:solidFill>
              </a:rPr>
              <a:t>• 1 to 2 mins Over (16:01 – 17:00): </a:t>
            </a:r>
            <a:r>
              <a:rPr sz="1300">
                <a:solidFill>
                  <a:srgbClr val="334155"/>
                </a:solidFill>
              </a:rPr>
              <a:t>Minor Overtime Penalty → </a:t>
            </a:r>
            <a:r>
              <a:rPr sz="1300" b="1">
                <a:solidFill>
                  <a:srgbClr val="E11D48"/>
                </a:solidFill>
              </a:rPr>
              <a:t>-2 Points deducted</a:t>
            </a:r>
          </a:p>
          <a:p>
            <a:pPr>
              <a:spcBef>
                <a:spcPts val="600"/>
              </a:spcBef>
            </a:pPr>
            <a:r>
              <a:rPr sz="1300" b="1">
                <a:solidFill>
                  <a:srgbClr val="0F172A"/>
                </a:solidFill>
              </a:rPr>
              <a:t>• 2 to 3 mins Over (17:01 – 18:00): </a:t>
            </a:r>
            <a:r>
              <a:rPr sz="1300">
                <a:solidFill>
                  <a:srgbClr val="334155"/>
                </a:solidFill>
              </a:rPr>
              <a:t>Moderate Overtime Penalty → </a:t>
            </a:r>
            <a:r>
              <a:rPr sz="1300" b="1">
                <a:solidFill>
                  <a:srgbClr val="E11D48"/>
                </a:solidFill>
              </a:rPr>
              <a:t>-4 Points deducted</a:t>
            </a:r>
          </a:p>
          <a:p>
            <a:pPr>
              <a:spcBef>
                <a:spcPts val="600"/>
              </a:spcBef>
            </a:pPr>
            <a:r>
              <a:rPr sz="1300" b="1">
                <a:solidFill>
                  <a:srgbClr val="0F172A"/>
                </a:solidFill>
              </a:rPr>
              <a:t>• 3 to 4 mins Over (18:01 – 19:00): </a:t>
            </a:r>
            <a:r>
              <a:rPr sz="1300">
                <a:solidFill>
                  <a:srgbClr val="334155"/>
                </a:solidFill>
              </a:rPr>
              <a:t>Substantial Overtime Penalty → </a:t>
            </a:r>
            <a:r>
              <a:rPr sz="1300" b="1">
                <a:solidFill>
                  <a:srgbClr val="E11D48"/>
                </a:solidFill>
              </a:rPr>
              <a:t>-6 Points deducted</a:t>
            </a:r>
          </a:p>
          <a:p>
            <a:pPr>
              <a:spcBef>
                <a:spcPts val="600"/>
              </a:spcBef>
            </a:pPr>
            <a:r>
              <a:rPr sz="1300" b="1">
                <a:solidFill>
                  <a:srgbClr val="0F172A"/>
                </a:solidFill>
              </a:rPr>
              <a:t>• 4 to 5 mins Over (19:01 – 20:00): </a:t>
            </a:r>
            <a:r>
              <a:rPr sz="1300">
                <a:solidFill>
                  <a:srgbClr val="334155"/>
                </a:solidFill>
              </a:rPr>
              <a:t>Severe Overtime Penalty → </a:t>
            </a:r>
            <a:r>
              <a:rPr sz="1300" b="1">
                <a:solidFill>
                  <a:srgbClr val="E11D48"/>
                </a:solidFill>
              </a:rPr>
              <a:t>-8 Points deducted</a:t>
            </a:r>
          </a:p>
          <a:p>
            <a:pPr>
              <a:spcBef>
                <a:spcPts val="600"/>
              </a:spcBef>
            </a:pPr>
            <a:r>
              <a:rPr sz="1300" b="1">
                <a:solidFill>
                  <a:srgbClr val="0F172A"/>
                </a:solidFill>
              </a:rPr>
              <a:t>• &gt; 5 mins Over (&gt; 20:00): </a:t>
            </a:r>
            <a:r>
              <a:rPr sz="1300">
                <a:solidFill>
                  <a:srgbClr val="334155"/>
                </a:solidFill>
              </a:rPr>
              <a:t>Maximum Penalty / Hard Stop → </a:t>
            </a:r>
            <a:r>
              <a:rPr sz="1300" b="1">
                <a:solidFill>
                  <a:srgbClr val="E11D48"/>
                </a:solidFill>
              </a:rPr>
              <a:t>-10 Points (Halted)</a:t>
            </a:r>
          </a:p>
        </p:txBody>
      </p:sp>
      <p:sp>
        <p:nvSpPr>
          <p:cNvPr id="7" name="Rectangle 6"/>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9" name="TextBox 8"/>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15 of 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5 • SLIDE STANDARDS</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Presentation Slide Design &amp; Template Requirements</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All Teams Must Use the Official Clean White Academic PowerPoint Template</a:t>
            </a:r>
          </a:p>
        </p:txBody>
      </p:sp>
      <p:sp>
        <p:nvSpPr>
          <p:cNvPr id="5" name="Rounded Rectangle 4"/>
          <p:cNvSpPr/>
          <p:nvPr/>
        </p:nvSpPr>
        <p:spPr>
          <a:xfrm>
            <a:off x="731520" y="1691640"/>
            <a:ext cx="521208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4754880" cy="3794760"/>
          </a:xfrm>
          <a:prstGeom prst="rect">
            <a:avLst/>
          </a:prstGeom>
          <a:noFill/>
        </p:spPr>
        <p:txBody>
          <a:bodyPr wrap="square">
            <a:spAutoFit/>
          </a:bodyPr>
          <a:lstStyle/>
          <a:p>
            <a:pPr>
              <a:defRPr sz="1700" b="1">
                <a:solidFill>
                  <a:srgbClr val="0284C7"/>
                </a:solidFill>
                <a:latin typeface="Manrope"/>
              </a:defRPr>
            </a:pPr>
            <a:r>
              <a:t>Clean White Academic Theme</a:t>
            </a:r>
          </a:p>
          <a:p>
            <a:pPr>
              <a:spcBef>
                <a:spcPts val="800"/>
              </a:spcBef>
            </a:pPr>
            <a:r>
              <a:rPr sz="1350" b="1">
                <a:solidFill>
                  <a:srgbClr val="0F172A"/>
                </a:solidFill>
              </a:rPr>
              <a:t>• Official Template: </a:t>
            </a:r>
            <a:r>
              <a:rPr sz="1350">
                <a:solidFill>
                  <a:srgbClr val="334155"/>
                </a:solidFill>
              </a:rPr>
              <a:t>Must use EE136IU_Capstone_Mini_Project_AMC.pptx as base.</a:t>
            </a:r>
          </a:p>
          <a:p>
            <a:pPr>
              <a:spcBef>
                <a:spcPts val="800"/>
              </a:spcBef>
            </a:pPr>
            <a:r>
              <a:rPr sz="1350" b="1">
                <a:solidFill>
                  <a:srgbClr val="0F172A"/>
                </a:solidFill>
              </a:rPr>
              <a:t>• Pure White Canvas: </a:t>
            </a:r>
            <a:r>
              <a:rPr sz="1350">
                <a:solidFill>
                  <a:srgbClr val="334155"/>
                </a:solidFill>
              </a:rPr>
              <a:t>100% solid white background (#FFFFFF) with high-contrast dark charcoal text (#0F172A).</a:t>
            </a:r>
          </a:p>
          <a:p>
            <a:pPr>
              <a:spcBef>
                <a:spcPts val="800"/>
              </a:spcBef>
            </a:pPr>
            <a:r>
              <a:rPr sz="1350" b="1">
                <a:solidFill>
                  <a:srgbClr val="0F172A"/>
                </a:solidFill>
              </a:rPr>
              <a:t>• Container Cards: </a:t>
            </a:r>
            <a:r>
              <a:rPr sz="1350">
                <a:solidFill>
                  <a:srgbClr val="334155"/>
                </a:solidFill>
              </a:rPr>
              <a:t>Light slate containers (#F8FAFC) with subtle borders (#E2E8F0) to chunk complex engineering concepts.</a:t>
            </a:r>
          </a:p>
          <a:p>
            <a:pPr>
              <a:spcBef>
                <a:spcPts val="800"/>
              </a:spcBef>
            </a:pPr>
            <a:r>
              <a:rPr sz="1350" b="1">
                <a:solidFill>
                  <a:srgbClr val="0F172A"/>
                </a:solidFill>
              </a:rPr>
              <a:t>• Tech Blue Accents: </a:t>
            </a:r>
            <a:r>
              <a:rPr sz="1350">
                <a:solidFill>
                  <a:srgbClr val="334155"/>
                </a:solidFill>
              </a:rPr>
              <a:t>Primary accents in Tech Blue (#0284C7) and Deep Blue (#2563EB) for keywords, badges, and progress markers.</a:t>
            </a:r>
          </a:p>
        </p:txBody>
      </p:sp>
      <p:sp>
        <p:nvSpPr>
          <p:cNvPr id="7" name="Rounded Rectangle 6"/>
          <p:cNvSpPr/>
          <p:nvPr/>
        </p:nvSpPr>
        <p:spPr>
          <a:xfrm>
            <a:off x="6248095" y="1691640"/>
            <a:ext cx="5212080" cy="4160520"/>
          </a:xfrm>
          <a:prstGeom prst="roundRect">
            <a:avLst/>
          </a:prstGeom>
          <a:solidFill>
            <a:srgbClr val="EFF6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76695" y="1874519"/>
            <a:ext cx="4754880" cy="3794760"/>
          </a:xfrm>
          <a:prstGeom prst="rect">
            <a:avLst/>
          </a:prstGeom>
          <a:noFill/>
        </p:spPr>
        <p:txBody>
          <a:bodyPr wrap="square">
            <a:spAutoFit/>
          </a:bodyPr>
          <a:lstStyle/>
          <a:p>
            <a:pPr>
              <a:defRPr sz="1700" b="1">
                <a:solidFill>
                  <a:srgbClr val="0F2B48"/>
                </a:solidFill>
                <a:latin typeface="Manrope"/>
              </a:defRPr>
            </a:pPr>
            <a:r>
              <a:t>Typography &amp; Visual Structure</a:t>
            </a:r>
          </a:p>
          <a:p>
            <a:pPr>
              <a:spcBef>
                <a:spcPts val="800"/>
              </a:spcBef>
            </a:pPr>
            <a:r>
              <a:rPr sz="1350" b="1">
                <a:solidFill>
                  <a:srgbClr val="0F172A"/>
                </a:solidFill>
              </a:rPr>
              <a:t>• Typography Hierarchy: </a:t>
            </a:r>
            <a:r>
              <a:rPr sz="1350">
                <a:solidFill>
                  <a:srgbClr val="334155"/>
                </a:solidFill>
              </a:rPr>
              <a:t>Manrope for slide titles and card headers; Inter for body text; Consolas for equations and code.</a:t>
            </a:r>
          </a:p>
          <a:p>
            <a:pPr>
              <a:spcBef>
                <a:spcPts val="800"/>
              </a:spcBef>
            </a:pPr>
            <a:r>
              <a:rPr sz="1350" b="1">
                <a:solidFill>
                  <a:srgbClr val="0F172A"/>
                </a:solidFill>
              </a:rPr>
              <a:t>• No Walls of Text: </a:t>
            </a:r>
            <a:r>
              <a:rPr sz="1350">
                <a:solidFill>
                  <a:srgbClr val="334155"/>
                </a:solidFill>
              </a:rPr>
              <a:t>Transform dense paragraphs into structured comparison cards, labeled diagrams, and clear bullet points.</a:t>
            </a:r>
          </a:p>
          <a:p>
            <a:pPr>
              <a:spcBef>
                <a:spcPts val="800"/>
              </a:spcBef>
            </a:pPr>
            <a:r>
              <a:rPr sz="1350" b="1">
                <a:solidFill>
                  <a:srgbClr val="0F172A"/>
                </a:solidFill>
              </a:rPr>
              <a:t>• Data Visualization: </a:t>
            </a:r>
            <a:r>
              <a:rPr sz="1350">
                <a:solidFill>
                  <a:srgbClr val="334155"/>
                </a:solidFill>
              </a:rPr>
              <a:t>Include high-contrast, labeled SNR benchmark curves, row-normalized confusion matrices, and loss curves.</a:t>
            </a:r>
          </a:p>
          <a:p>
            <a:pPr>
              <a:spcBef>
                <a:spcPts val="800"/>
              </a:spcBef>
            </a:pPr>
            <a:r>
              <a:rPr sz="1350" b="1">
                <a:solidFill>
                  <a:srgbClr val="0F172A"/>
                </a:solidFill>
              </a:rPr>
              <a:t>• Global Footers: </a:t>
            </a:r>
            <a:r>
              <a:rPr sz="1350">
                <a:solidFill>
                  <a:srgbClr val="334155"/>
                </a:solidFill>
              </a:rPr>
              <a:t>Every slide must retain the standard course breadcrumb and right-aligned slide number (Slide X of Y).</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16 of 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6 • PROJECT DELIVERABLES</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Mandatory Project Deliverables Checklist</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Three Required Submissions for Comprehensive Engineering Assessment</a:t>
            </a:r>
          </a:p>
        </p:txBody>
      </p:sp>
      <p:sp>
        <p:nvSpPr>
          <p:cNvPr id="5" name="Rounded Rectangle 4"/>
          <p:cNvSpPr/>
          <p:nvPr/>
        </p:nvSpPr>
        <p:spPr>
          <a:xfrm>
            <a:off x="731520" y="1691640"/>
            <a:ext cx="3364992"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20"/>
            <a:ext cx="2999232" cy="3794760"/>
          </a:xfrm>
          <a:prstGeom prst="rect">
            <a:avLst/>
          </a:prstGeom>
          <a:noFill/>
        </p:spPr>
        <p:txBody>
          <a:bodyPr wrap="square">
            <a:spAutoFit/>
          </a:bodyPr>
          <a:lstStyle/>
          <a:p>
            <a:pPr>
              <a:defRPr sz="1500" b="1">
                <a:solidFill>
                  <a:srgbClr val="0284C7"/>
                </a:solidFill>
                <a:latin typeface="Manrope"/>
              </a:defRPr>
            </a:pPr>
            <a:r>
              <a:t>1. GitHub Repository</a:t>
            </a:r>
          </a:p>
          <a:p>
            <a:pPr>
              <a:spcBef>
                <a:spcPts val="600"/>
              </a:spcBef>
            </a:pPr>
            <a:r>
              <a:rPr sz="1250" b="1">
                <a:solidFill>
                  <a:srgbClr val="0F172A"/>
                </a:solidFill>
              </a:rPr>
              <a:t>• Modular Code: </a:t>
            </a:r>
            <a:r>
              <a:rPr sz="1250">
                <a:solidFill>
                  <a:srgbClr val="334155"/>
                </a:solidFill>
              </a:rPr>
              <a:t>Clean Python source code organized into dataset/, models/, utils/, and demo/.</a:t>
            </a:r>
          </a:p>
          <a:p>
            <a:pPr>
              <a:spcBef>
                <a:spcPts val="600"/>
              </a:spcBef>
            </a:pPr>
            <a:r>
              <a:rPr sz="1250" b="1">
                <a:solidFill>
                  <a:srgbClr val="0F172A"/>
                </a:solidFill>
              </a:rPr>
              <a:t>• Dependency File: </a:t>
            </a:r>
            <a:r>
              <a:rPr sz="1250">
                <a:solidFill>
                  <a:srgbClr val="334155"/>
                </a:solidFill>
              </a:rPr>
              <a:t>Explicit requirements.txt or environment.yml.</a:t>
            </a:r>
          </a:p>
          <a:p>
            <a:pPr>
              <a:spcBef>
                <a:spcPts val="600"/>
              </a:spcBef>
            </a:pPr>
            <a:r>
              <a:rPr sz="1250" b="1">
                <a:solidFill>
                  <a:srgbClr val="0F172A"/>
                </a:solidFill>
              </a:rPr>
              <a:t>• 1-Command README: </a:t>
            </a:r>
            <a:r>
              <a:rPr sz="1250">
                <a:solidFill>
                  <a:srgbClr val="334155"/>
                </a:solidFill>
              </a:rPr>
              <a:t>Comprehensive README with 1-command instruction to reproduce dataset, train, and run demo in &lt; 30s.</a:t>
            </a:r>
          </a:p>
          <a:p>
            <a:pPr>
              <a:spcBef>
                <a:spcPts val="600"/>
              </a:spcBef>
            </a:pPr>
            <a:r>
              <a:rPr sz="1250" b="1">
                <a:solidFill>
                  <a:srgbClr val="0F172A"/>
                </a:solidFill>
              </a:rPr>
              <a:t>• Deterministic Seeds: </a:t>
            </a:r>
            <a:r>
              <a:rPr sz="1250">
                <a:solidFill>
                  <a:srgbClr val="334155"/>
                </a:solidFill>
              </a:rPr>
              <a:t>Fixed random seeds ensuring 100% reproducibility.</a:t>
            </a:r>
          </a:p>
        </p:txBody>
      </p:sp>
      <p:sp>
        <p:nvSpPr>
          <p:cNvPr id="7" name="Rounded Rectangle 6"/>
          <p:cNvSpPr/>
          <p:nvPr/>
        </p:nvSpPr>
        <p:spPr>
          <a:xfrm>
            <a:off x="4407408" y="1691640"/>
            <a:ext cx="3364992"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90288" y="1874520"/>
            <a:ext cx="2999232" cy="3794760"/>
          </a:xfrm>
          <a:prstGeom prst="rect">
            <a:avLst/>
          </a:prstGeom>
          <a:noFill/>
        </p:spPr>
        <p:txBody>
          <a:bodyPr wrap="square">
            <a:spAutoFit/>
          </a:bodyPr>
          <a:lstStyle/>
          <a:p>
            <a:pPr>
              <a:defRPr sz="1500" b="1">
                <a:solidFill>
                  <a:srgbClr val="2563EB"/>
                </a:solidFill>
                <a:latin typeface="Manrope"/>
              </a:defRPr>
            </a:pPr>
            <a:r>
              <a:t>2. Presentation Slides</a:t>
            </a:r>
          </a:p>
          <a:p>
            <a:pPr>
              <a:spcBef>
                <a:spcPts val="600"/>
              </a:spcBef>
            </a:pPr>
            <a:r>
              <a:rPr sz="1250" b="1">
                <a:solidFill>
                  <a:srgbClr val="0F172A"/>
                </a:solidFill>
              </a:rPr>
              <a:t>• Template Compliance: </a:t>
            </a:r>
            <a:r>
              <a:rPr sz="1250">
                <a:solidFill>
                  <a:srgbClr val="334155"/>
                </a:solidFill>
              </a:rPr>
              <a:t>Complete .pptx file built strictly on official course template.</a:t>
            </a:r>
          </a:p>
          <a:p>
            <a:pPr>
              <a:spcBef>
                <a:spcPts val="600"/>
              </a:spcBef>
            </a:pPr>
            <a:r>
              <a:rPr sz="1250" b="1">
                <a:solidFill>
                  <a:srgbClr val="0F172A"/>
                </a:solidFill>
              </a:rPr>
              <a:t>• Complete Narrative: </a:t>
            </a:r>
            <a:r>
              <a:rPr sz="1250">
                <a:solidFill>
                  <a:srgbClr val="334155"/>
                </a:solidFill>
              </a:rPr>
              <a:t>Covers problem framing, math models, architecture, SNR curves, and diagnostics.</a:t>
            </a:r>
          </a:p>
          <a:p>
            <a:pPr>
              <a:spcBef>
                <a:spcPts val="600"/>
              </a:spcBef>
            </a:pPr>
            <a:r>
              <a:rPr sz="1250" b="1">
                <a:solidFill>
                  <a:srgbClr val="0F172A"/>
                </a:solidFill>
              </a:rPr>
              <a:t>• High-Contrast Figures: </a:t>
            </a:r>
            <a:r>
              <a:rPr sz="1250">
                <a:solidFill>
                  <a:srgbClr val="334155"/>
                </a:solidFill>
              </a:rPr>
              <a:t>Crisp, labeled plots and confusion matrices.</a:t>
            </a:r>
          </a:p>
          <a:p>
            <a:pPr>
              <a:spcBef>
                <a:spcPts val="600"/>
              </a:spcBef>
            </a:pPr>
            <a:r>
              <a:rPr sz="1250" b="1">
                <a:solidFill>
                  <a:srgbClr val="0F172A"/>
                </a:solidFill>
              </a:rPr>
              <a:t>• Team Distribution: </a:t>
            </a:r>
            <a:r>
              <a:rPr sz="1250">
                <a:solidFill>
                  <a:srgbClr val="334155"/>
                </a:solidFill>
              </a:rPr>
              <a:t>Clearly marked speaking roles for all teammates.</a:t>
            </a:r>
          </a:p>
        </p:txBody>
      </p:sp>
      <p:sp>
        <p:nvSpPr>
          <p:cNvPr id="9" name="Rounded Rectangle 8"/>
          <p:cNvSpPr/>
          <p:nvPr/>
        </p:nvSpPr>
        <p:spPr>
          <a:xfrm>
            <a:off x="8083296" y="1691640"/>
            <a:ext cx="3364992" cy="4160520"/>
          </a:xfrm>
          <a:prstGeom prst="roundRect">
            <a:avLst/>
          </a:prstGeom>
          <a:solidFill>
            <a:srgbClr val="EFF6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66176" y="1874520"/>
            <a:ext cx="2999232" cy="3794760"/>
          </a:xfrm>
          <a:prstGeom prst="rect">
            <a:avLst/>
          </a:prstGeom>
          <a:noFill/>
        </p:spPr>
        <p:txBody>
          <a:bodyPr wrap="square">
            <a:spAutoFit/>
          </a:bodyPr>
          <a:lstStyle/>
          <a:p>
            <a:pPr>
              <a:defRPr sz="1500" b="1">
                <a:solidFill>
                  <a:srgbClr val="0F2B48"/>
                </a:solidFill>
                <a:latin typeface="Manrope"/>
              </a:defRPr>
            </a:pPr>
            <a:r>
              <a:t>3. Fail-Safe Demo Video</a:t>
            </a:r>
          </a:p>
          <a:p>
            <a:pPr>
              <a:spcBef>
                <a:spcPts val="600"/>
              </a:spcBef>
            </a:pPr>
            <a:r>
              <a:rPr sz="1250" b="1">
                <a:solidFill>
                  <a:srgbClr val="0F172A"/>
                </a:solidFill>
              </a:rPr>
              <a:t>• Backup Video: </a:t>
            </a:r>
            <a:r>
              <a:rPr sz="1250">
                <a:solidFill>
                  <a:srgbClr val="334155"/>
                </a:solidFill>
              </a:rPr>
              <a:t>A 30–60 second screen-recording MP4 of the working interactive demo.</a:t>
            </a:r>
          </a:p>
          <a:p>
            <a:pPr>
              <a:spcBef>
                <a:spcPts val="600"/>
              </a:spcBef>
            </a:pPr>
            <a:r>
              <a:rPr sz="1250" b="1">
                <a:solidFill>
                  <a:srgbClr val="0F172A"/>
                </a:solidFill>
              </a:rPr>
              <a:t>• Embedded in Deck: </a:t>
            </a:r>
            <a:r>
              <a:rPr sz="1250">
                <a:solidFill>
                  <a:srgbClr val="334155"/>
                </a:solidFill>
              </a:rPr>
              <a:t>Embedded directly inside the slide deck as a fail-safe.</a:t>
            </a:r>
          </a:p>
          <a:p>
            <a:pPr>
              <a:spcBef>
                <a:spcPts val="600"/>
              </a:spcBef>
            </a:pPr>
            <a:r>
              <a:rPr sz="1250" b="1">
                <a:solidFill>
                  <a:srgbClr val="0F172A"/>
                </a:solidFill>
              </a:rPr>
              <a:t>• Crash Protection: </a:t>
            </a:r>
            <a:r>
              <a:rPr sz="1250">
                <a:solidFill>
                  <a:srgbClr val="334155"/>
                </a:solidFill>
              </a:rPr>
              <a:t>Protects against live terminal errors, GPU memory glitches, or OS freezes.</a:t>
            </a:r>
          </a:p>
          <a:p>
            <a:pPr>
              <a:spcBef>
                <a:spcPts val="600"/>
              </a:spcBef>
            </a:pPr>
            <a:r>
              <a:rPr sz="1250" b="1">
                <a:solidFill>
                  <a:srgbClr val="0F172A"/>
                </a:solidFill>
              </a:rPr>
              <a:t>• Zero Demo Failure: </a:t>
            </a:r>
            <a:r>
              <a:rPr sz="1250">
                <a:solidFill>
                  <a:srgbClr val="334155"/>
                </a:solidFill>
              </a:rPr>
              <a:t>Ensures full credit can be awarded even if live execution has hiccups.</a:t>
            </a:r>
          </a:p>
        </p:txBody>
      </p:sp>
      <p:sp>
        <p:nvSpPr>
          <p:cNvPr id="11" name="Rectangle 10"/>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3" name="TextBox 12"/>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17 of 21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7 • ASSESSMENT RUBRIC</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Generalized Assessment Rubric — Part 1: Technical Core (60 Pts)</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Standardized Evaluation Dimensions 1 to 3 Applied Across All 8 Topics</a:t>
            </a:r>
          </a:p>
        </p:txBody>
      </p:sp>
      <p:sp>
        <p:nvSpPr>
          <p:cNvPr id="5" name="Rounded Rectangle 4"/>
          <p:cNvSpPr/>
          <p:nvPr/>
        </p:nvSpPr>
        <p:spPr>
          <a:xfrm>
            <a:off x="731520" y="1691640"/>
            <a:ext cx="3364992"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856232"/>
            <a:ext cx="3035808" cy="3831336"/>
          </a:xfrm>
          <a:prstGeom prst="rect">
            <a:avLst/>
          </a:prstGeom>
          <a:noFill/>
        </p:spPr>
        <p:txBody>
          <a:bodyPr wrap="square">
            <a:spAutoFit/>
          </a:bodyPr>
          <a:lstStyle/>
          <a:p>
            <a:pPr>
              <a:defRPr sz="1350" b="1">
                <a:solidFill>
                  <a:srgbClr val="0284C7"/>
                </a:solidFill>
                <a:latin typeface="Manrope"/>
              </a:defRPr>
            </a:pPr>
            <a:r>
              <a:t>1. Technical Understanding (20 pts)</a:t>
            </a:r>
          </a:p>
          <a:p>
            <a:pPr>
              <a:spcBef>
                <a:spcPts val="600"/>
              </a:spcBef>
            </a:pPr>
            <a:r>
              <a:rPr sz="1150" b="1">
                <a:solidFill>
                  <a:srgbClr val="0F172A"/>
                </a:solidFill>
              </a:rPr>
              <a:t>Full Credit (20 pts): </a:t>
            </a:r>
            <a:r>
              <a:rPr sz="1150">
                <a:solidFill>
                  <a:srgbClr val="334155"/>
                </a:solidFill>
              </a:rPr>
              <a:t>Deep mastery of baseband signal models (r[n] = hs[n] + w[n]), channel mechanics (CFO, phase, noise), and physical rationale. Correct math.</a:t>
            </a:r>
          </a:p>
          <a:p>
            <a:pPr>
              <a:spcBef>
                <a:spcPts val="600"/>
              </a:spcBef>
            </a:pPr>
            <a:r>
              <a:rPr sz="1150" b="1">
                <a:solidFill>
                  <a:srgbClr val="0F172A"/>
                </a:solidFill>
              </a:rPr>
              <a:t>Partial Credit (10-15 pts): </a:t>
            </a:r>
            <a:r>
              <a:rPr sz="1150">
                <a:solidFill>
                  <a:srgbClr val="334155"/>
                </a:solidFill>
              </a:rPr>
              <a:t>Understands basic concepts but lacks depth in physical channel mechanics. Minor math imprecisions.</a:t>
            </a:r>
          </a:p>
          <a:p>
            <a:pPr>
              <a:spcBef>
                <a:spcPts val="600"/>
              </a:spcBef>
            </a:pPr>
            <a:r>
              <a:rPr sz="1150" b="1">
                <a:solidFill>
                  <a:srgbClr val="0F172A"/>
                </a:solidFill>
              </a:rPr>
              <a:t>Minimal Credit (&lt; 10 pts): </a:t>
            </a:r>
            <a:r>
              <a:rPr sz="1150">
                <a:solidFill>
                  <a:srgbClr val="334155"/>
                </a:solidFill>
              </a:rPr>
              <a:t>Treats ML as a black-box without wireless grounding; incorrect equations.</a:t>
            </a:r>
          </a:p>
        </p:txBody>
      </p:sp>
      <p:sp>
        <p:nvSpPr>
          <p:cNvPr id="7" name="Rounded Rectangle 6"/>
          <p:cNvSpPr/>
          <p:nvPr/>
        </p:nvSpPr>
        <p:spPr>
          <a:xfrm>
            <a:off x="4407408" y="1691640"/>
            <a:ext cx="3364992"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856232"/>
            <a:ext cx="3035808" cy="3831336"/>
          </a:xfrm>
          <a:prstGeom prst="rect">
            <a:avLst/>
          </a:prstGeom>
          <a:noFill/>
        </p:spPr>
        <p:txBody>
          <a:bodyPr wrap="square">
            <a:spAutoFit/>
          </a:bodyPr>
          <a:lstStyle/>
          <a:p>
            <a:pPr>
              <a:defRPr sz="1350" b="1">
                <a:solidFill>
                  <a:srgbClr val="0284C7"/>
                </a:solidFill>
                <a:latin typeface="Manrope"/>
              </a:defRPr>
            </a:pPr>
            <a:r>
              <a:t>2. Code Architecture (20 pts)</a:t>
            </a:r>
          </a:p>
          <a:p>
            <a:pPr>
              <a:spcBef>
                <a:spcPts val="600"/>
              </a:spcBef>
            </a:pPr>
            <a:r>
              <a:rPr sz="1150" b="1">
                <a:solidFill>
                  <a:srgbClr val="0F172A"/>
                </a:solidFill>
              </a:rPr>
              <a:t>Full Credit (20 pts): </a:t>
            </a:r>
            <a:r>
              <a:rPr sz="1150">
                <a:solidFill>
                  <a:srgbClr val="334155"/>
                </a:solidFill>
              </a:rPr>
              <a:t>Clean, modular Python/PyTorch code. Strict anti-leakage split, correct RMS normalization, proper training loops with validation checkpoints.</a:t>
            </a:r>
          </a:p>
          <a:p>
            <a:pPr>
              <a:spcBef>
                <a:spcPts val="600"/>
              </a:spcBef>
            </a:pPr>
            <a:r>
              <a:rPr sz="1150" b="1">
                <a:solidFill>
                  <a:srgbClr val="0F172A"/>
                </a:solidFill>
              </a:rPr>
              <a:t>Partial Credit (10-15 pts): </a:t>
            </a:r>
            <a:r>
              <a:rPr sz="1150">
                <a:solidFill>
                  <a:srgbClr val="334155"/>
                </a:solidFill>
              </a:rPr>
              <a:t>Working code but poorly modularized; minor inefficiencies; minimal documentation.</a:t>
            </a:r>
          </a:p>
          <a:p>
            <a:pPr>
              <a:spcBef>
                <a:spcPts val="600"/>
              </a:spcBef>
            </a:pPr>
            <a:r>
              <a:rPr sz="1150" b="1">
                <a:solidFill>
                  <a:srgbClr val="0F172A"/>
                </a:solidFill>
              </a:rPr>
              <a:t>Minimal Credit (&lt; 10 pts): </a:t>
            </a:r>
            <a:r>
              <a:rPr sz="1150">
                <a:solidFill>
                  <a:srgbClr val="334155"/>
                </a:solidFill>
              </a:rPr>
              <a:t>Broken code; data leakage between train and test sets; missing normalization; severe overfitting.</a:t>
            </a:r>
          </a:p>
        </p:txBody>
      </p:sp>
      <p:sp>
        <p:nvSpPr>
          <p:cNvPr id="9" name="Rounded Rectangle 8"/>
          <p:cNvSpPr/>
          <p:nvPr/>
        </p:nvSpPr>
        <p:spPr>
          <a:xfrm>
            <a:off x="8083296" y="1691640"/>
            <a:ext cx="3364992"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47888" y="1856232"/>
            <a:ext cx="3035808" cy="3831336"/>
          </a:xfrm>
          <a:prstGeom prst="rect">
            <a:avLst/>
          </a:prstGeom>
          <a:noFill/>
        </p:spPr>
        <p:txBody>
          <a:bodyPr wrap="square">
            <a:spAutoFit/>
          </a:bodyPr>
          <a:lstStyle/>
          <a:p>
            <a:pPr>
              <a:defRPr sz="1350" b="1">
                <a:solidFill>
                  <a:srgbClr val="0284C7"/>
                </a:solidFill>
                <a:latin typeface="Manrope"/>
              </a:defRPr>
            </a:pPr>
            <a:r>
              <a:t>3. Experimental Analysis (20 pts)</a:t>
            </a:r>
          </a:p>
          <a:p>
            <a:pPr>
              <a:spcBef>
                <a:spcPts val="600"/>
              </a:spcBef>
            </a:pPr>
            <a:r>
              <a:rPr sz="1150" b="1">
                <a:solidFill>
                  <a:srgbClr val="0F172A"/>
                </a:solidFill>
              </a:rPr>
              <a:t>Full Credit (20 pts): </a:t>
            </a:r>
            <a:r>
              <a:rPr sz="1150">
                <a:solidFill>
                  <a:srgbClr val="334155"/>
                </a:solidFill>
              </a:rPr>
              <a:t>Complete Accuracy vs. SNR curves (-10 to +18 dB); normalized confusion matrices; Macro-F1; insightful root-cause failure analysis (why models fail).</a:t>
            </a:r>
          </a:p>
          <a:p>
            <a:pPr>
              <a:spcBef>
                <a:spcPts val="600"/>
              </a:spcBef>
            </a:pPr>
            <a:r>
              <a:rPr sz="1150" b="1">
                <a:solidFill>
                  <a:srgbClr val="0F172A"/>
                </a:solidFill>
              </a:rPr>
              <a:t>Partial Credit (10-15 pts): </a:t>
            </a:r>
            <a:r>
              <a:rPr sz="1150">
                <a:solidFill>
                  <a:srgbClr val="334155"/>
                </a:solidFill>
              </a:rPr>
              <a:t>Standard accuracy curves provided but lacks deep failure diagnosis, per-class breakdown, or Macro-F1.</a:t>
            </a:r>
          </a:p>
          <a:p>
            <a:pPr>
              <a:spcBef>
                <a:spcPts val="600"/>
              </a:spcBef>
            </a:pPr>
            <a:r>
              <a:rPr sz="1150" b="1">
                <a:solidFill>
                  <a:srgbClr val="0F172A"/>
                </a:solidFill>
              </a:rPr>
              <a:t>Minimal Credit (&lt; 10 pts): </a:t>
            </a:r>
            <a:r>
              <a:rPr sz="1150">
                <a:solidFill>
                  <a:srgbClr val="334155"/>
                </a:solidFill>
              </a:rPr>
              <a:t>Reports only a single global accuracy percentage; missing SNR curves; zero failure interpretation.</a:t>
            </a:r>
          </a:p>
        </p:txBody>
      </p:sp>
      <p:sp>
        <p:nvSpPr>
          <p:cNvPr id="11" name="Rectangle 10"/>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3" name="TextBox 12"/>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18 of 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7 • ASSESSMENT RUBRIC</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Generalized Assessment Rubric — Part 2: Defense &amp; Practice (40 Pts)</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Standardized Evaluation Dimensions 4 to 7 Applied Across All 8 Topics</a:t>
            </a:r>
          </a:p>
        </p:txBody>
      </p:sp>
      <p:sp>
        <p:nvSpPr>
          <p:cNvPr id="5" name="Rounded Rectangle 4"/>
          <p:cNvSpPr/>
          <p:nvPr/>
        </p:nvSpPr>
        <p:spPr>
          <a:xfrm>
            <a:off x="731520" y="1691640"/>
            <a:ext cx="2487168"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28800"/>
            <a:ext cx="2212848" cy="3886200"/>
          </a:xfrm>
          <a:prstGeom prst="rect">
            <a:avLst/>
          </a:prstGeom>
          <a:noFill/>
        </p:spPr>
        <p:txBody>
          <a:bodyPr wrap="square">
            <a:spAutoFit/>
          </a:bodyPr>
          <a:lstStyle/>
          <a:p>
            <a:pPr>
              <a:defRPr sz="1300" b="1">
                <a:solidFill>
                  <a:srgbClr val="16A34A"/>
                </a:solidFill>
                <a:latin typeface="Manrope"/>
              </a:defRPr>
            </a:pPr>
            <a:r>
              <a:t>4. Live Demo (15 pts)</a:t>
            </a:r>
          </a:p>
          <a:p>
            <a:pPr>
              <a:spcBef>
                <a:spcPts val="500"/>
              </a:spcBef>
            </a:pPr>
            <a:r>
              <a:rPr sz="1100" b="1">
                <a:solidFill>
                  <a:srgbClr val="0F172A"/>
                </a:solidFill>
              </a:rPr>
              <a:t>Full (15 pts): </a:t>
            </a:r>
            <a:r>
              <a:rPr sz="1100">
                <a:solidFill>
                  <a:srgbClr val="334155"/>
                </a:solidFill>
              </a:rPr>
              <a:t>Seamless 10-min live demo (Streamlit/CLI). Live sliders/inference. Embedded video backup.</a:t>
            </a:r>
          </a:p>
          <a:p>
            <a:pPr>
              <a:spcBef>
                <a:spcPts val="500"/>
              </a:spcBef>
            </a:pPr>
            <a:r>
              <a:rPr sz="1100" b="1">
                <a:solidFill>
                  <a:srgbClr val="0F172A"/>
                </a:solidFill>
              </a:rPr>
              <a:t>Partial (8-12 pts): </a:t>
            </a:r>
            <a:r>
              <a:rPr sz="1100">
                <a:solidFill>
                  <a:srgbClr val="334155"/>
                </a:solidFill>
              </a:rPr>
              <a:t>Demo works but static (pre-computed cells); minor glitches.</a:t>
            </a:r>
          </a:p>
          <a:p>
            <a:pPr>
              <a:spcBef>
                <a:spcPts val="500"/>
              </a:spcBef>
            </a:pPr>
            <a:r>
              <a:rPr sz="1100" b="1">
                <a:solidFill>
                  <a:srgbClr val="0F172A"/>
                </a:solidFill>
              </a:rPr>
              <a:t>Minimal (&lt; 8 pts): </a:t>
            </a:r>
            <a:r>
              <a:rPr sz="1100">
                <a:solidFill>
                  <a:srgbClr val="334155"/>
                </a:solidFill>
              </a:rPr>
              <a:t>Demo crashes; no backup video; unexecutable.</a:t>
            </a:r>
          </a:p>
        </p:txBody>
      </p:sp>
      <p:sp>
        <p:nvSpPr>
          <p:cNvPr id="7" name="Rounded Rectangle 6"/>
          <p:cNvSpPr/>
          <p:nvPr/>
        </p:nvSpPr>
        <p:spPr>
          <a:xfrm>
            <a:off x="3474720" y="1691640"/>
            <a:ext cx="2487168"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1828800"/>
            <a:ext cx="2212848" cy="3886200"/>
          </a:xfrm>
          <a:prstGeom prst="rect">
            <a:avLst/>
          </a:prstGeom>
          <a:noFill/>
        </p:spPr>
        <p:txBody>
          <a:bodyPr wrap="square">
            <a:spAutoFit/>
          </a:bodyPr>
          <a:lstStyle/>
          <a:p>
            <a:pPr>
              <a:defRPr sz="1300" b="1">
                <a:solidFill>
                  <a:srgbClr val="2563EB"/>
                </a:solidFill>
                <a:latin typeface="Manrope"/>
              </a:defRPr>
            </a:pPr>
            <a:r>
              <a:t>5. Slide Design (10 pts)</a:t>
            </a:r>
          </a:p>
          <a:p>
            <a:pPr>
              <a:spcBef>
                <a:spcPts val="500"/>
              </a:spcBef>
            </a:pPr>
            <a:r>
              <a:rPr sz="1100" b="1">
                <a:solidFill>
                  <a:srgbClr val="0F172A"/>
                </a:solidFill>
              </a:rPr>
              <a:t>Full (10 pts): </a:t>
            </a:r>
            <a:r>
              <a:rPr sz="1100">
                <a:solidFill>
                  <a:srgbClr val="334155"/>
                </a:solidFill>
              </a:rPr>
              <a:t>Strict Clean White template compliance; strong visual hierarchy; balanced speaking time.</a:t>
            </a:r>
          </a:p>
          <a:p>
            <a:pPr>
              <a:spcBef>
                <a:spcPts val="500"/>
              </a:spcBef>
            </a:pPr>
            <a:r>
              <a:rPr sz="1100" b="1">
                <a:solidFill>
                  <a:srgbClr val="0F172A"/>
                </a:solidFill>
              </a:rPr>
              <a:t>Partial (5-8 pts): </a:t>
            </a:r>
            <a:r>
              <a:rPr sz="1100">
                <a:solidFill>
                  <a:srgbClr val="334155"/>
                </a:solidFill>
              </a:rPr>
              <a:t>Slight clutter; uneven team speaking distribution.</a:t>
            </a:r>
          </a:p>
          <a:p>
            <a:pPr>
              <a:spcBef>
                <a:spcPts val="500"/>
              </a:spcBef>
            </a:pPr>
            <a:r>
              <a:rPr sz="1100" b="1">
                <a:solidFill>
                  <a:srgbClr val="0F172A"/>
                </a:solidFill>
              </a:rPr>
              <a:t>Minimal (&lt; 5 pts): </a:t>
            </a:r>
            <a:r>
              <a:rPr sz="1100">
                <a:solidFill>
                  <a:srgbClr val="334155"/>
                </a:solidFill>
              </a:rPr>
              <a:t>Disregards template; walls of text; unreadable figures.</a:t>
            </a:r>
          </a:p>
        </p:txBody>
      </p:sp>
      <p:sp>
        <p:nvSpPr>
          <p:cNvPr id="9" name="Rounded Rectangle 8"/>
          <p:cNvSpPr/>
          <p:nvPr/>
        </p:nvSpPr>
        <p:spPr>
          <a:xfrm>
            <a:off x="6217920" y="1691640"/>
            <a:ext cx="2487168"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828800"/>
            <a:ext cx="2212848" cy="3886200"/>
          </a:xfrm>
          <a:prstGeom prst="rect">
            <a:avLst/>
          </a:prstGeom>
          <a:noFill/>
        </p:spPr>
        <p:txBody>
          <a:bodyPr wrap="square">
            <a:spAutoFit/>
          </a:bodyPr>
          <a:lstStyle/>
          <a:p>
            <a:pPr>
              <a:defRPr sz="1300" b="1">
                <a:solidFill>
                  <a:srgbClr val="7C3AED"/>
                </a:solidFill>
                <a:latin typeface="Manrope"/>
              </a:defRPr>
            </a:pPr>
            <a:r>
              <a:t>6. Q&amp;A Defense (10 pts)</a:t>
            </a:r>
          </a:p>
          <a:p>
            <a:pPr>
              <a:spcBef>
                <a:spcPts val="500"/>
              </a:spcBef>
            </a:pPr>
            <a:r>
              <a:rPr sz="1100" b="1">
                <a:solidFill>
                  <a:srgbClr val="0F172A"/>
                </a:solidFill>
              </a:rPr>
              <a:t>Full (10 pts): </a:t>
            </a:r>
            <a:r>
              <a:rPr sz="1100">
                <a:solidFill>
                  <a:srgbClr val="334155"/>
                </a:solidFill>
              </a:rPr>
              <a:t>Confident, technically precise answers; clear grasp of model trade-offs &amp; limits.</a:t>
            </a:r>
          </a:p>
          <a:p>
            <a:pPr>
              <a:spcBef>
                <a:spcPts val="500"/>
              </a:spcBef>
            </a:pPr>
            <a:r>
              <a:rPr sz="1100" b="1">
                <a:solidFill>
                  <a:srgbClr val="0F172A"/>
                </a:solidFill>
              </a:rPr>
              <a:t>Partial (5-8 pts): </a:t>
            </a:r>
            <a:r>
              <a:rPr sz="1100">
                <a:solidFill>
                  <a:srgbClr val="334155"/>
                </a:solidFill>
              </a:rPr>
              <a:t>Answers adequately but requires prompting; minor hesitation.</a:t>
            </a:r>
          </a:p>
          <a:p>
            <a:pPr>
              <a:spcBef>
                <a:spcPts val="500"/>
              </a:spcBef>
            </a:pPr>
            <a:r>
              <a:rPr sz="1100" b="1">
                <a:solidFill>
                  <a:srgbClr val="0F172A"/>
                </a:solidFill>
              </a:rPr>
              <a:t>Minimal (&lt; 5 pts): </a:t>
            </a:r>
            <a:r>
              <a:rPr sz="1100">
                <a:solidFill>
                  <a:srgbClr val="334155"/>
                </a:solidFill>
              </a:rPr>
              <a:t>Unable to answer basic questions on math, code, or results.</a:t>
            </a:r>
          </a:p>
        </p:txBody>
      </p:sp>
      <p:sp>
        <p:nvSpPr>
          <p:cNvPr id="11" name="Rounded Rectangle 10"/>
          <p:cNvSpPr/>
          <p:nvPr/>
        </p:nvSpPr>
        <p:spPr>
          <a:xfrm>
            <a:off x="8961120" y="1691640"/>
            <a:ext cx="2487168" cy="4160520"/>
          </a:xfrm>
          <a:prstGeom prst="roundRect">
            <a:avLst/>
          </a:prstGeom>
          <a:solidFill>
            <a:srgbClr val="EFF6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98280" y="1828800"/>
            <a:ext cx="2212848" cy="3886200"/>
          </a:xfrm>
          <a:prstGeom prst="rect">
            <a:avLst/>
          </a:prstGeom>
          <a:noFill/>
        </p:spPr>
        <p:txBody>
          <a:bodyPr wrap="square">
            <a:spAutoFit/>
          </a:bodyPr>
          <a:lstStyle/>
          <a:p>
            <a:pPr>
              <a:defRPr sz="1300" b="1">
                <a:solidFill>
                  <a:srgbClr val="0F2B48"/>
                </a:solidFill>
                <a:latin typeface="Manrope"/>
              </a:defRPr>
            </a:pPr>
            <a:r>
              <a:t>7. GitHub Repo (5 pts)</a:t>
            </a:r>
          </a:p>
          <a:p>
            <a:pPr>
              <a:spcBef>
                <a:spcPts val="500"/>
              </a:spcBef>
            </a:pPr>
            <a:r>
              <a:rPr sz="1100" b="1">
                <a:solidFill>
                  <a:srgbClr val="0F172A"/>
                </a:solidFill>
              </a:rPr>
              <a:t>Full (5 pts): </a:t>
            </a:r>
            <a:r>
              <a:rPr sz="1100">
                <a:solidFill>
                  <a:srgbClr val="334155"/>
                </a:solidFill>
              </a:rPr>
              <a:t>Clean repo, requirements.txt, fixed seeds, 1-command README execution in &lt; 30s.</a:t>
            </a:r>
          </a:p>
          <a:p>
            <a:pPr>
              <a:spcBef>
                <a:spcPts val="500"/>
              </a:spcBef>
            </a:pPr>
            <a:r>
              <a:rPr sz="1100" b="1">
                <a:solidFill>
                  <a:srgbClr val="0F172A"/>
                </a:solidFill>
              </a:rPr>
              <a:t>Partial (3-4 pts): </a:t>
            </a:r>
            <a:r>
              <a:rPr sz="1100">
                <a:solidFill>
                  <a:srgbClr val="334155"/>
                </a:solidFill>
              </a:rPr>
              <a:t>Repo exists but README incomplete or requires troubleshooting.</a:t>
            </a:r>
          </a:p>
          <a:p>
            <a:pPr>
              <a:spcBef>
                <a:spcPts val="500"/>
              </a:spcBef>
            </a:pPr>
            <a:r>
              <a:rPr sz="1100" b="1">
                <a:solidFill>
                  <a:srgbClr val="0F172A"/>
                </a:solidFill>
              </a:rPr>
              <a:t>Minimal (&lt; 3 pts): </a:t>
            </a:r>
            <a:r>
              <a:rPr sz="1100">
                <a:solidFill>
                  <a:srgbClr val="334155"/>
                </a:solidFill>
              </a:rPr>
              <a:t>Incomplete repo; missing dependencies; non-reproducible.</a:t>
            </a:r>
          </a:p>
        </p:txBody>
      </p:sp>
      <p:sp>
        <p:nvSpPr>
          <p:cNvPr id="13" name="Rectangle 12"/>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5" name="TextBox 14"/>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19 of 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SECTION 8 • TEAM CHECKLIST</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Pre-Defense Team Verification Checklist</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Mandatory Readiness Gate for All Student Teams Before Entering the Defense Hall</a:t>
            </a:r>
          </a:p>
        </p:txBody>
      </p:sp>
      <p:sp>
        <p:nvSpPr>
          <p:cNvPr id="5" name="Rounded Rectangle 4"/>
          <p:cNvSpPr/>
          <p:nvPr/>
        </p:nvSpPr>
        <p:spPr>
          <a:xfrm>
            <a:off x="731520" y="1691640"/>
            <a:ext cx="5212080" cy="4160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4754880" cy="3794760"/>
          </a:xfrm>
          <a:prstGeom prst="rect">
            <a:avLst/>
          </a:prstGeom>
          <a:noFill/>
        </p:spPr>
        <p:txBody>
          <a:bodyPr wrap="square">
            <a:spAutoFit/>
          </a:bodyPr>
          <a:lstStyle/>
          <a:p>
            <a:pPr>
              <a:defRPr sz="1600" b="1">
                <a:solidFill>
                  <a:srgbClr val="0284C7"/>
                </a:solidFill>
                <a:latin typeface="Manrope"/>
              </a:defRPr>
            </a:pPr>
            <a:r>
              <a:t>Technical &amp; Modeling Verification</a:t>
            </a:r>
          </a:p>
          <a:p>
            <a:pPr>
              <a:spcBef>
                <a:spcPts val="600"/>
              </a:spcBef>
            </a:pPr>
            <a:r>
              <a:rPr sz="1250" b="1">
                <a:solidFill>
                  <a:srgbClr val="0284C7"/>
                </a:solidFill>
              </a:rPr>
              <a:t>[✓] Topic Scope: </a:t>
            </a:r>
            <a:r>
              <a:rPr sz="1250">
                <a:solidFill>
                  <a:srgbClr val="334155"/>
                </a:solidFill>
              </a:rPr>
              <a:t>Assigned topic clearly addressed with all topic-specific tasks completed.</a:t>
            </a:r>
          </a:p>
          <a:p>
            <a:pPr>
              <a:spcBef>
                <a:spcPts val="600"/>
              </a:spcBef>
            </a:pPr>
            <a:r>
              <a:rPr sz="1250" b="1">
                <a:solidFill>
                  <a:srgbClr val="0284C7"/>
                </a:solidFill>
              </a:rPr>
              <a:t>[✓] Baseband Tensors: </a:t>
            </a:r>
            <a:r>
              <a:rPr sz="1250">
                <a:solidFill>
                  <a:srgbClr val="334155"/>
                </a:solidFill>
              </a:rPr>
              <a:t>Verified [N_batch, 2, 128] shape with per-burst RMS normalization.</a:t>
            </a:r>
          </a:p>
          <a:p>
            <a:pPr>
              <a:spcBef>
                <a:spcPts val="600"/>
              </a:spcBef>
            </a:pPr>
            <a:r>
              <a:rPr sz="1250" b="1">
                <a:solidFill>
                  <a:srgbClr val="0284C7"/>
                </a:solidFill>
              </a:rPr>
              <a:t>[✓] SNR Grid Evaluated: </a:t>
            </a:r>
            <a:r>
              <a:rPr sz="1250">
                <a:solidFill>
                  <a:srgbClr val="334155"/>
                </a:solidFill>
              </a:rPr>
              <a:t>Models evaluated across all 15 points from -10 dB to +18 dB.</a:t>
            </a:r>
          </a:p>
          <a:p>
            <a:pPr>
              <a:spcBef>
                <a:spcPts val="600"/>
              </a:spcBef>
            </a:pPr>
            <a:r>
              <a:rPr sz="1250" b="1">
                <a:solidFill>
                  <a:srgbClr val="0284C7"/>
                </a:solidFill>
              </a:rPr>
              <a:t>[✓] Confusion Matrices: </a:t>
            </a:r>
            <a:r>
              <a:rPr sz="1250">
                <a:solidFill>
                  <a:srgbClr val="334155"/>
                </a:solidFill>
              </a:rPr>
              <a:t>Row-normalized confusion matrices and Macro-F1 computed.</a:t>
            </a:r>
          </a:p>
          <a:p>
            <a:pPr>
              <a:spcBef>
                <a:spcPts val="600"/>
              </a:spcBef>
            </a:pPr>
            <a:r>
              <a:rPr sz="1250" b="1">
                <a:solidFill>
                  <a:srgbClr val="0284C7"/>
                </a:solidFill>
              </a:rPr>
              <a:t>[✓] Failure Analysis: </a:t>
            </a:r>
            <a:r>
              <a:rPr sz="1250">
                <a:solidFill>
                  <a:srgbClr val="334155"/>
                </a:solidFill>
              </a:rPr>
              <a:t>Root-cause failure mechanisms explained using signal theory.</a:t>
            </a:r>
          </a:p>
        </p:txBody>
      </p:sp>
      <p:sp>
        <p:nvSpPr>
          <p:cNvPr id="7" name="Rounded Rectangle 6"/>
          <p:cNvSpPr/>
          <p:nvPr/>
        </p:nvSpPr>
        <p:spPr>
          <a:xfrm>
            <a:off x="6248095" y="1691640"/>
            <a:ext cx="5212080" cy="4160520"/>
          </a:xfrm>
          <a:prstGeom prst="roundRect">
            <a:avLst/>
          </a:prstGeom>
          <a:solidFill>
            <a:srgbClr val="EFF6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76695" y="1874519"/>
            <a:ext cx="4754880" cy="3794760"/>
          </a:xfrm>
          <a:prstGeom prst="rect">
            <a:avLst/>
          </a:prstGeom>
          <a:noFill/>
        </p:spPr>
        <p:txBody>
          <a:bodyPr wrap="square">
            <a:spAutoFit/>
          </a:bodyPr>
          <a:lstStyle/>
          <a:p>
            <a:pPr>
              <a:defRPr sz="1600" b="1">
                <a:solidFill>
                  <a:srgbClr val="0F2B48"/>
                </a:solidFill>
                <a:latin typeface="Manrope"/>
              </a:defRPr>
            </a:pPr>
            <a:r>
              <a:t>Operational &amp; Presentation Verification</a:t>
            </a:r>
          </a:p>
          <a:p>
            <a:pPr>
              <a:spcBef>
                <a:spcPts val="600"/>
              </a:spcBef>
            </a:pPr>
            <a:r>
              <a:rPr sz="1250" b="1">
                <a:solidFill>
                  <a:srgbClr val="0F2B48"/>
                </a:solidFill>
              </a:rPr>
              <a:t>[✓] Live Demo Timed: </a:t>
            </a:r>
            <a:r>
              <a:rPr sz="1250">
                <a:solidFill>
                  <a:srgbClr val="334155"/>
                </a:solidFill>
              </a:rPr>
              <a:t>Interactive demo tested and timed to fit inside 10 minutes.</a:t>
            </a:r>
          </a:p>
          <a:p>
            <a:pPr>
              <a:spcBef>
                <a:spcPts val="600"/>
              </a:spcBef>
            </a:pPr>
            <a:r>
              <a:rPr sz="1250" b="1">
                <a:solidFill>
                  <a:srgbClr val="0F2B48"/>
                </a:solidFill>
              </a:rPr>
              <a:t>[✓] Video Backup: </a:t>
            </a:r>
            <a:r>
              <a:rPr sz="1250">
                <a:solidFill>
                  <a:srgbClr val="334155"/>
                </a:solidFill>
              </a:rPr>
              <a:t>45-second fallback MP4 recorded and embedded in slide deck.</a:t>
            </a:r>
          </a:p>
          <a:p>
            <a:pPr>
              <a:spcBef>
                <a:spcPts val="600"/>
              </a:spcBef>
            </a:pPr>
            <a:r>
              <a:rPr sz="1250" b="1">
                <a:solidFill>
                  <a:srgbClr val="0F2B48"/>
                </a:solidFill>
              </a:rPr>
              <a:t>[✓] Template Compliance: </a:t>
            </a:r>
            <a:r>
              <a:rPr sz="1250">
                <a:solidFill>
                  <a:srgbClr val="334155"/>
                </a:solidFill>
              </a:rPr>
              <a:t>Slides strictly use Clean White Academic course template.</a:t>
            </a:r>
          </a:p>
          <a:p>
            <a:pPr>
              <a:spcBef>
                <a:spcPts val="600"/>
              </a:spcBef>
            </a:pPr>
            <a:r>
              <a:rPr sz="1250" b="1">
                <a:solidFill>
                  <a:srgbClr val="0F2B48"/>
                </a:solidFill>
              </a:rPr>
              <a:t>[✓] 15-Minute Rehearsal: </a:t>
            </a:r>
            <a:r>
              <a:rPr sz="1250">
                <a:solidFill>
                  <a:srgbClr val="334155"/>
                </a:solidFill>
              </a:rPr>
              <a:t>15-minute presentation rehearsed with equal speaking roles.</a:t>
            </a:r>
          </a:p>
          <a:p>
            <a:pPr>
              <a:spcBef>
                <a:spcPts val="600"/>
              </a:spcBef>
            </a:pPr>
            <a:r>
              <a:rPr sz="1250" b="1">
                <a:solidFill>
                  <a:srgbClr val="0F2B48"/>
                </a:solidFill>
              </a:rPr>
              <a:t>[✓] GitHub Reproducibility: </a:t>
            </a:r>
            <a:r>
              <a:rPr sz="1250">
                <a:solidFill>
                  <a:srgbClr val="334155"/>
                </a:solidFill>
              </a:rPr>
              <a:t>Public repo tested with 1-command end-to-end execution (&lt; 30s).</a:t>
            </a:r>
          </a:p>
        </p:txBody>
      </p:sp>
      <p:sp>
        <p:nvSpPr>
          <p:cNvPr id="9" name="Rectangle 8"/>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11" name="TextBox 10"/>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20 of 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438912"/>
            <a:ext cx="3474720" cy="292608"/>
          </a:xfrm>
          <a:prstGeom prst="roundRect">
            <a:avLst/>
          </a:prstGeom>
          <a:solidFill>
            <a:srgbClr val="EF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defRPr sz="1100" b="1">
                <a:solidFill>
                  <a:srgbClr val="0284C7"/>
                </a:solidFill>
                <a:latin typeface="Manrope"/>
              </a:defRPr>
            </a:pPr>
            <a:r>
              <a:t>CAPSTONE SYNTHESIS • FINAL DEFENSE</a:t>
            </a:r>
          </a:p>
        </p:txBody>
      </p:sp>
      <p:sp>
        <p:nvSpPr>
          <p:cNvPr id="3" name="TextBox 2"/>
          <p:cNvSpPr txBox="1"/>
          <p:nvPr/>
        </p:nvSpPr>
        <p:spPr>
          <a:xfrm>
            <a:off x="731520" y="804672"/>
            <a:ext cx="10728655" cy="502920"/>
          </a:xfrm>
          <a:prstGeom prst="rect">
            <a:avLst/>
          </a:prstGeom>
          <a:noFill/>
        </p:spPr>
        <p:txBody>
          <a:bodyPr wrap="square" lIns="0" tIns="0" rIns="0" bIns="0">
            <a:spAutoFit/>
          </a:bodyPr>
          <a:lstStyle/>
          <a:p>
            <a:pPr>
              <a:defRPr sz="2200" b="1">
                <a:solidFill>
                  <a:srgbClr val="0F172A"/>
                </a:solidFill>
                <a:latin typeface="Manrope"/>
              </a:defRPr>
            </a:pPr>
            <a:r>
              <a:t>Conclusion &amp; Open Technical Q&amp;A</a:t>
            </a:r>
          </a:p>
        </p:txBody>
      </p:sp>
      <p:sp>
        <p:nvSpPr>
          <p:cNvPr id="4" name="TextBox 3"/>
          <p:cNvSpPr txBox="1"/>
          <p:nvPr/>
        </p:nvSpPr>
        <p:spPr>
          <a:xfrm>
            <a:off x="731520" y="1298448"/>
            <a:ext cx="10728655" cy="320040"/>
          </a:xfrm>
          <a:prstGeom prst="rect">
            <a:avLst/>
          </a:prstGeom>
          <a:noFill/>
        </p:spPr>
        <p:txBody>
          <a:bodyPr wrap="square" lIns="0" tIns="0" rIns="0" bIns="0">
            <a:spAutoFit/>
          </a:bodyPr>
          <a:lstStyle/>
          <a:p>
            <a:pPr>
              <a:defRPr sz="1300">
                <a:solidFill>
                  <a:srgbClr val="334155"/>
                </a:solidFill>
                <a:latin typeface="Inter"/>
              </a:defRPr>
            </a:pPr>
            <a:r>
              <a:t>Demonstrating Rigorous Engineering, Physical Grounding, and Professional Delivery</a:t>
            </a:r>
          </a:p>
        </p:txBody>
      </p:sp>
      <p:sp>
        <p:nvSpPr>
          <p:cNvPr id="5" name="Rounded Rectangle 4"/>
          <p:cNvSpPr/>
          <p:nvPr/>
        </p:nvSpPr>
        <p:spPr>
          <a:xfrm>
            <a:off x="731520" y="1691640"/>
            <a:ext cx="10728655" cy="416052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65960"/>
            <a:ext cx="9997135" cy="3611880"/>
          </a:xfrm>
          <a:prstGeom prst="rect">
            <a:avLst/>
          </a:prstGeom>
          <a:noFill/>
        </p:spPr>
        <p:txBody>
          <a:bodyPr wrap="square">
            <a:spAutoFit/>
          </a:bodyPr>
          <a:lstStyle/>
          <a:p>
            <a:pPr>
              <a:defRPr sz="2000" b="1">
                <a:solidFill>
                  <a:srgbClr val="0284C7"/>
                </a:solidFill>
                <a:latin typeface="Manrope"/>
              </a:defRPr>
            </a:pPr>
            <a:r>
              <a:t>Key Takeaways &amp; Path to Excellence</a:t>
            </a:r>
          </a:p>
          <a:p>
            <a:pPr>
              <a:spcBef>
                <a:spcPts val="1000"/>
              </a:spcBef>
            </a:pPr>
            <a:r>
              <a:rPr sz="1400" b="1">
                <a:solidFill>
                  <a:srgbClr val="0F172A"/>
                </a:solidFill>
              </a:rPr>
              <a:t>• Culminating Synthesis: </a:t>
            </a:r>
            <a:r>
              <a:rPr sz="1400">
                <a:solidFill>
                  <a:srgbClr val="334155"/>
                </a:solidFill>
              </a:rPr>
              <a:t>This Capstone Mini-Project is your opportunity to showcase senior-level engineering mastery across wireless physical layer communications and modern applied AI.</a:t>
            </a:r>
          </a:p>
          <a:p>
            <a:pPr>
              <a:spcBef>
                <a:spcPts val="1000"/>
              </a:spcBef>
            </a:pPr>
            <a:r>
              <a:rPr sz="1400" b="1">
                <a:solidFill>
                  <a:srgbClr val="0F172A"/>
                </a:solidFill>
              </a:rPr>
              <a:t>• Physics First, ML Second: </a:t>
            </a:r>
            <a:r>
              <a:rPr sz="1400">
                <a:solidFill>
                  <a:srgbClr val="334155"/>
                </a:solidFill>
              </a:rPr>
              <a:t>Always anchor your machine learning decisions in physical wireless reality: noise variance, frequency drift, phase jitter, and constellation geometry.</a:t>
            </a:r>
          </a:p>
          <a:p>
            <a:pPr>
              <a:spcBef>
                <a:spcPts val="1000"/>
              </a:spcBef>
            </a:pPr>
            <a:r>
              <a:rPr sz="1400" b="1">
                <a:solidFill>
                  <a:srgbClr val="0F172A"/>
                </a:solidFill>
              </a:rPr>
              <a:t>• Precision Time Management: </a:t>
            </a:r>
            <a:r>
              <a:rPr sz="1400">
                <a:solidFill>
                  <a:srgbClr val="334155"/>
                </a:solidFill>
              </a:rPr>
              <a:t>Deliver your technical findings within 15 minutes, execute a crisp 10-minute demo, and defend your trade-offs with confidence during Q&amp;A.</a:t>
            </a:r>
          </a:p>
          <a:p>
            <a:pPr>
              <a:spcBef>
                <a:spcPts val="1000"/>
              </a:spcBef>
            </a:pPr>
            <a:r>
              <a:rPr sz="1400" b="1">
                <a:solidFill>
                  <a:srgbClr val="0F172A"/>
                </a:solidFill>
              </a:rPr>
              <a:t>• Good Luck to All 5 Teams! </a:t>
            </a:r>
            <a:r>
              <a:rPr sz="1400">
                <a:solidFill>
                  <a:srgbClr val="334155"/>
                </a:solidFill>
              </a:rPr>
              <a:t>The floor is now open for questions regarding topic selection, dataset specifications, or defense logistics.</a:t>
            </a:r>
          </a:p>
        </p:txBody>
      </p:sp>
      <p:sp>
        <p:nvSpPr>
          <p:cNvPr id="7" name="Rectangle 6"/>
          <p:cNvSpPr/>
          <p:nvPr/>
        </p:nvSpPr>
        <p:spPr>
          <a:xfrm>
            <a:off x="731520" y="6035040"/>
            <a:ext cx="10728655" cy="9144"/>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6172200"/>
            <a:ext cx="7772400" cy="320040"/>
          </a:xfrm>
          <a:prstGeom prst="rect">
            <a:avLst/>
          </a:prstGeom>
          <a:noFill/>
        </p:spPr>
        <p:txBody>
          <a:bodyPr wrap="square" lIns="0" tIns="0" rIns="0" bIns="0">
            <a:spAutoFit/>
          </a:bodyPr>
          <a:lstStyle/>
          <a:p>
            <a:pPr>
              <a:defRPr sz="1000" b="1">
                <a:solidFill>
                  <a:srgbClr val="64748B"/>
                </a:solidFill>
                <a:latin typeface="Inter"/>
              </a:defRPr>
            </a:pPr>
            <a:r>
              <a:t>EE136: Machine Learning for Wireless Communications | Capstone Mini-Project Brief</a:t>
            </a:r>
          </a:p>
        </p:txBody>
      </p:sp>
      <p:sp>
        <p:nvSpPr>
          <p:cNvPr id="9" name="TextBox 8"/>
          <p:cNvSpPr txBox="1"/>
          <p:nvPr/>
        </p:nvSpPr>
        <p:spPr>
          <a:xfrm>
            <a:off x="9601200" y="6172200"/>
            <a:ext cx="1858975" cy="320040"/>
          </a:xfrm>
          <a:prstGeom prst="rect">
            <a:avLst/>
          </a:prstGeom>
          <a:noFill/>
        </p:spPr>
        <p:txBody>
          <a:bodyPr wrap="square" lIns="0" tIns="0" rIns="0" bIns="0">
            <a:spAutoFit/>
          </a:bodyPr>
          <a:lstStyle/>
          <a:p>
            <a:pPr algn="r">
              <a:defRPr sz="1000" b="1">
                <a:solidFill>
                  <a:srgbClr val="334155"/>
                </a:solidFill>
                <a:latin typeface="Inter"/>
              </a:defRPr>
            </a:pPr>
            <a: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8936</Words>
  <Application>Microsoft Macintosh PowerPoint</Application>
  <PresentationFormat>Widescreen</PresentationFormat>
  <Paragraphs>829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Inter</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Huynh Vo Trung Dung</cp:lastModifiedBy>
  <cp:revision>1</cp:revision>
  <dcterms:created xsi:type="dcterms:W3CDTF">2013-01-27T09:14:16Z</dcterms:created>
  <dcterms:modified xsi:type="dcterms:W3CDTF">2026-09-09T15:15:44Z</dcterms:modified>
  <cp:category/>
</cp:coreProperties>
</file>