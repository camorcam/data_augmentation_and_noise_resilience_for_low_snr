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2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12192000" cy="6858000"/>
  <p:notesSz cx="6858000" cy="9144000"/>
  <p:defaultTextStyle>
    <a:defPPr>
      <a:buNone/>
    </a:defPPr>
    <a:lvl1pPr marL="0" algn="l" defTabSz="457200">
      <a:buNone/>
      <a:defRPr sz="1800" kern="1200">
        <a:solidFill>
          <a:schemeClr val="tx1"/>
        </a:solidFill>
        <a:latin typeface="+mn-lt"/>
        <a:ea typeface="+mn-lt"/>
        <a:cs typeface="+mn-lt"/>
      </a:defRPr>
    </a:lvl1pPr>
    <a:lvl2pPr marL="457200" algn="l" defTabSz="457200">
      <a:buNone/>
      <a:defRPr sz="1800" kern="1200">
        <a:solidFill>
          <a:schemeClr val="tx1"/>
        </a:solidFill>
        <a:latin typeface="+mn-lt"/>
        <a:ea typeface="+mn-lt"/>
        <a:cs typeface="+mn-lt"/>
      </a:defRPr>
    </a:lvl2pPr>
    <a:lvl3pPr marL="914400" algn="l" defTabSz="457200">
      <a:buNone/>
      <a:defRPr sz="1800" kern="1200">
        <a:solidFill>
          <a:schemeClr val="tx1"/>
        </a:solidFill>
        <a:latin typeface="+mn-lt"/>
        <a:ea typeface="+mn-lt"/>
        <a:cs typeface="+mn-lt"/>
      </a:defRPr>
    </a:lvl3pPr>
    <a:lvl4pPr marL="1371600" algn="l" defTabSz="457200">
      <a:buNone/>
      <a:defRPr sz="1800" kern="1200">
        <a:solidFill>
          <a:schemeClr val="tx1"/>
        </a:solidFill>
        <a:latin typeface="+mn-lt"/>
        <a:ea typeface="+mn-lt"/>
        <a:cs typeface="+mn-lt"/>
      </a:defRPr>
    </a:lvl4pPr>
    <a:lvl5pPr marL="1828800" algn="l" defTabSz="457200">
      <a:buNone/>
      <a:defRPr sz="1800" kern="1200">
        <a:solidFill>
          <a:schemeClr val="tx1"/>
        </a:solidFill>
        <a:latin typeface="+mn-lt"/>
        <a:ea typeface="+mn-lt"/>
        <a:cs typeface="+mn-lt"/>
      </a:defRPr>
    </a:lvl5pPr>
    <a:lvl6pPr marL="2286000" algn="l" defTabSz="457200">
      <a:buNone/>
      <a:defRPr sz="1800" kern="1200">
        <a:solidFill>
          <a:schemeClr val="tx1"/>
        </a:solidFill>
        <a:latin typeface="+mn-lt"/>
        <a:ea typeface="+mn-lt"/>
        <a:cs typeface="+mn-lt"/>
      </a:defRPr>
    </a:lvl6pPr>
    <a:lvl7pPr marL="2743200" algn="l" defTabSz="457200">
      <a:buNone/>
      <a:defRPr sz="1800" kern="1200">
        <a:solidFill>
          <a:schemeClr val="tx1"/>
        </a:solidFill>
        <a:latin typeface="+mn-lt"/>
        <a:ea typeface="+mn-lt"/>
        <a:cs typeface="+mn-lt"/>
      </a:defRPr>
    </a:lvl7pPr>
    <a:lvl8pPr marL="3200400" algn="l" defTabSz="457200">
      <a:buNone/>
      <a:defRPr sz="1800" kern="1200">
        <a:solidFill>
          <a:schemeClr val="tx1"/>
        </a:solidFill>
        <a:latin typeface="+mn-lt"/>
        <a:ea typeface="+mn-lt"/>
        <a:cs typeface="+mn-lt"/>
      </a:defRPr>
    </a:lvl8pPr>
    <a:lvl9pPr marL="3657600" algn="l" defTabSz="457200">
      <a:buNone/>
      <a:defRPr sz="1800" kern="1200">
        <a:solidFill>
          <a:schemeClr val="tx1"/>
        </a:solidFill>
        <a:latin typeface="+mn-lt"/>
        <a:ea typeface="+mn-lt"/>
        <a:cs typeface="+mn-lt"/>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07" d="100"/>
          <a:sy n="107" d="100"/>
        </p:scale>
        <p:origin x="714" y="9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0:20 — Nhóm em nghiên cứu data augmentation cho nhận dạng điều chế ở SNR thấp. Trọng tâm là một phép so sánh có kiểm soát để xác định augmentation có thực sự giúp hay không.</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0:45 — AMC nhận một burst I/Q kích thước 2 nhân 128 và dự đoán một trong tám loại điều chế. Ở SNR thấp, noise làm các lớp chồng lấn mạnh. Vì vậy nhóm hỏi liệu các biến đổi có ý nghĩa vật lý khi train có cải thiện vùng −10 đến +2 dB hay không.</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0:30 — Ba câu hỏi là: augmentation có giúp low-SNR không, transform nào tốt nhất, và kết quả có ổn định qua nhiều seed không. Cấu hình chỉ được chọn trên validation; test set chỉ được dùng sau khi lựa chọn đã khóa.</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1:10 — Dataset gồm 21,480 burst, tám lớp và 15 mức SNR, được chia cố định thành train, validation và test. Không có exact duplicate giữa các mẫu. Pipeline sinh tín hiệu thêm random initial phase và AWGN, sau đó chuẩn hóa RMS theo từng burst. Tuy nhiên đây vẫn là dữ liệu synthetic, chưa đại diện đầy đủ cho kênh RF thực.</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1:10 — Với mỗi seed từ 42 đến 46, baseline và augmented model dùng cùng initial weights, shuffle, kiến trúc và hyperparameters. Validation chọn checkpoint; test không tham gia model selection. Thiết kế paired này giúp phần chênh lệch phản ánh augmentation thay vì khác biệt ngẫu nhiên giữa hai lần train.</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0:55 — Nhóm khảo sát phase rotation, thêm AWGN, circular shift và amplitude scaling, cả riêng lẻ lẫn kết hợp. Lưu ý phase rotation dùng một góc hằng cho toàn burst; nó không phải CFO, vì CFO tạo phase ramp theo thời gian.</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0:45 — Mọi cấu hình dùng cùng CNN 1D gồm 175,432 tham số, Adam và 25 epoch; chỉ dữ liệu đầu vào lúc train thay đổi. Checkpoint được chọn theo mean validation accuracy trong vùng −10 đến +2 dB, đúng với mục tiêu của đề tài.</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1:00 — Trên validation, phase-only cao nhất với 50.73%, nên được khóa trước khi mở test. Tuy nhiên nó chỉ hơn noise-only 0.16 điểm phần trăm; vì vậy chưa thể kết luận phase rotation về bản chất tốt hơn noise augmentation.</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1:20 — Ba cặp thanh cho thấy phase-only đều tăng global accuracy, Macro-F1 và low-SNR accuracy; mức tăng lớn nhất là 4.72 điểm trong đúng vùng mục tiêu. Đường accuracy theo SNR cho thấy gain tập trung ở vùng thấp: khoảng 5.4 điểm tại −8 dB và 5.1 điểm tại −4 dB, rồi thu hẹp còn 2.25 điểm ở +4 dB. Global-accuracy gain vẫn dương ở cả năm seed.</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 Confusion matrix giúp thấy augmentation không cải thiện đồng đều. Ở −4 dB, CPFSK tăng từ 46 lên 70%, GFSK từ 56 lên 76% và PAM4 cũng tốt hơn. Ở +4 dB, các lớp BPSK, PAM4 và FSK gần như bão hòa. Tuy nhiên lỗi được phân phối lại: QPSK tăng từ 58 lên 72%, trong khi 8PSK giảm 44 xuống 34% và 64QAM giảm 52 xuống 42%. Vì vậy kết luận đúng là hiệu năng tổng thể tăng, không phải mọi class đều tăng.</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1:00 — Training seed chọn checkpoint; burst seed chỉ tái tạo mẫu demo. Phase offset xoay toàn bộ constellation bằng một góc hằng, không mô phỏng CFO. Demo này chỉ minh họa hành vi model; kết luận vẫn dựa trên 6,000 test burst và năm seed.</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1:00 — Kết luận có thể bảo vệ là phase-only, sau khi được chọn bằng validation, cải thiện low-SNR accuracy 4.72 điểm trên frozen synthetic benchmark. Kết quả chưa chứng minh khả năng chống CFO hay tổng quát hóa sang RF thực. Bước tiếp theo là thêm channel impairment, nhiều dataset seed và dữ liệu thu từ phần cứng.</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65E1D1-5860-441E-9A56-1F0D872209D0}"/>
              </a:ext>
            </a:extLst>
          </p:cNvPr>
          <p:cNvSpPr>
            <a:spLocks noGrp="1"/>
          </p:cNvSpPr>
          <p:nvPr>
            <p:ph type="ctrTitle"/>
          </p:nvPr>
        </p:nvSpPr>
        <p:spPr>
          <a:xfrm>
            <a:off x="685800" y="2130425"/>
            <a:ext cx="7772400" cy="1470025"/>
          </a:xfrm>
        </p:spPr>
        <p:txBody>
          <a:bodyPr/>
          <a:lstStyle/>
          <a:p>
            <a:r>
              <a:t>Click to edit Master title style</a:t>
            </a:r>
          </a:p>
        </p:txBody>
      </p:sp>
      <p:sp>
        <p:nvSpPr>
          <p:cNvPr id="3" name="Subtitle 2">
            <a:extLst>
              <a:ext uri="{FF2B5EF4-FFF2-40B4-BE49-F238E27FC236}">
                <a16:creationId xmlns:a16="http://schemas.microsoft.com/office/drawing/2014/main" id="{F7E68A67-7C97-4022-8F11-CF11832FA4F6}"/>
              </a:ext>
            </a:extLst>
          </p:cNvPr>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t>Click to edit Master subtitle style</a:t>
            </a:r>
          </a:p>
        </p:txBody>
      </p:sp>
      <p:sp>
        <p:nvSpPr>
          <p:cNvPr id="4" name="Date Placeholder 3">
            <a:extLst>
              <a:ext uri="{FF2B5EF4-FFF2-40B4-BE49-F238E27FC236}">
                <a16:creationId xmlns:a16="http://schemas.microsoft.com/office/drawing/2014/main" id="{6886C588-23B5-47DF-940F-C10FB9500C19}"/>
              </a:ext>
            </a:extLst>
          </p:cNvPr>
          <p:cNvSpPr>
            <a:spLocks noGrp="1"/>
          </p:cNvSpPr>
          <p:nvPr>
            <p:ph type="dt" idx="10"/>
          </p:nvPr>
        </p:nvSpPr>
        <p:spPr/>
        <p:txBody>
          <a:bodyPr/>
          <a:lstStyle/>
          <a:p>
            <a:fld id="{5BCAD085-E8A6-8845-BD4E-CB4CCA059FC4}" type="datetimeFigureOut">
              <a:t>10/22/2026</a:t>
            </a:fld>
            <a:endParaRPr/>
          </a:p>
        </p:txBody>
      </p:sp>
      <p:sp>
        <p:nvSpPr>
          <p:cNvPr id="5" name="Footer Placeholder 4">
            <a:extLst>
              <a:ext uri="{FF2B5EF4-FFF2-40B4-BE49-F238E27FC236}">
                <a16:creationId xmlns:a16="http://schemas.microsoft.com/office/drawing/2014/main" id="{08D2ECF6-0192-4258-93FE-56D09CF31F8A}"/>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2EFF55C0-8625-4518-8E03-383D5C505792}"/>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6C5EE3-9E2B-443F-82B5-C9DB31C680D5}"/>
              </a:ext>
            </a:extLst>
          </p:cNvPr>
          <p:cNvSpPr>
            <a:spLocks noGrp="1"/>
          </p:cNvSpPr>
          <p:nvPr>
            <p:ph type="title"/>
          </p:nvPr>
        </p:nvSpPr>
        <p:spPr/>
        <p:txBody>
          <a:bodyPr/>
          <a:lstStyle/>
          <a:p>
            <a:r>
              <a:t>Click to edit Master title style</a:t>
            </a:r>
          </a:p>
        </p:txBody>
      </p:sp>
      <p:sp>
        <p:nvSpPr>
          <p:cNvPr id="3" name="Content Placeholder 2">
            <a:extLst>
              <a:ext uri="{FF2B5EF4-FFF2-40B4-BE49-F238E27FC236}">
                <a16:creationId xmlns:a16="http://schemas.microsoft.com/office/drawing/2014/main" id="{ED382E94-969E-4BEC-929B-80E4B64184F3}"/>
              </a:ext>
            </a:extLst>
          </p:cNvPr>
          <p:cNvSpPr>
            <a:spLocks noGrp="1"/>
          </p:cNvSpPr>
          <p:nvPr>
            <p:ph idx="1"/>
          </p:nvPr>
        </p:nvSpPr>
        <p:spPr/>
        <p:txBody>
          <a:body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Date Placeholder 3">
            <a:extLst>
              <a:ext uri="{FF2B5EF4-FFF2-40B4-BE49-F238E27FC236}">
                <a16:creationId xmlns:a16="http://schemas.microsoft.com/office/drawing/2014/main" id="{D4914F9E-9D54-43E5-8D63-DC4DAC26CB20}"/>
              </a:ext>
            </a:extLst>
          </p:cNvPr>
          <p:cNvSpPr>
            <a:spLocks noGrp="1"/>
          </p:cNvSpPr>
          <p:nvPr>
            <p:ph type="dt" idx="10"/>
          </p:nvPr>
        </p:nvSpPr>
        <p:spPr/>
        <p:txBody>
          <a:bodyPr/>
          <a:lstStyle/>
          <a:p>
            <a:fld id="{5BCAD085-E8A6-8845-BD4E-CB4CCA059FC4}" type="datetimeFigureOut">
              <a:t>10/22/2026</a:t>
            </a:fld>
            <a:endParaRPr/>
          </a:p>
        </p:txBody>
      </p:sp>
      <p:sp>
        <p:nvSpPr>
          <p:cNvPr id="5" name="Footer Placeholder 4">
            <a:extLst>
              <a:ext uri="{FF2B5EF4-FFF2-40B4-BE49-F238E27FC236}">
                <a16:creationId xmlns:a16="http://schemas.microsoft.com/office/drawing/2014/main" id="{0CE8893B-A124-4847-9747-F677C2545A3A}"/>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5DC334D1-BA1E-4E13-A056-67CE1B45BB95}"/>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257275-CD3B-447B-98EE-7FEB2DD86490}"/>
              </a:ext>
            </a:extLst>
          </p:cNvPr>
          <p:cNvSpPr>
            <a:spLocks noGrp="1"/>
          </p:cNvSpPr>
          <p:nvPr>
            <p:ph type="title"/>
          </p:nvPr>
        </p:nvSpPr>
        <p:spPr>
          <a:xfrm>
            <a:off x="722313" y="4406900"/>
            <a:ext cx="7772400" cy="1362075"/>
          </a:xfrm>
        </p:spPr>
        <p:txBody>
          <a:bodyPr anchor="t"/>
          <a:lstStyle>
            <a:lvl1pPr algn="l">
              <a:buNone/>
              <a:defRPr sz="4000" b="1" cap="all"/>
            </a:lvl1pPr>
          </a:lstStyle>
          <a:p>
            <a:r>
              <a:t>Click to edit Master title style</a:t>
            </a:r>
          </a:p>
        </p:txBody>
      </p:sp>
      <p:sp>
        <p:nvSpPr>
          <p:cNvPr id="3" name="Text Placeholder 2">
            <a:extLst>
              <a:ext uri="{FF2B5EF4-FFF2-40B4-BE49-F238E27FC236}">
                <a16:creationId xmlns:a16="http://schemas.microsoft.com/office/drawing/2014/main" id="{840DE658-C8E4-48AD-B28A-6B0CB7CA759C}"/>
              </a:ext>
            </a:extLst>
          </p:cNvPr>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buNone/>
            </a:pPr>
            <a:r>
              <a:t>Click to edit Master text styles</a:t>
            </a:r>
          </a:p>
        </p:txBody>
      </p:sp>
      <p:sp>
        <p:nvSpPr>
          <p:cNvPr id="4" name="Date Placeholder 3">
            <a:extLst>
              <a:ext uri="{FF2B5EF4-FFF2-40B4-BE49-F238E27FC236}">
                <a16:creationId xmlns:a16="http://schemas.microsoft.com/office/drawing/2014/main" id="{AD141678-54AB-4313-96D5-E397A21D1112}"/>
              </a:ext>
            </a:extLst>
          </p:cNvPr>
          <p:cNvSpPr>
            <a:spLocks noGrp="1"/>
          </p:cNvSpPr>
          <p:nvPr>
            <p:ph type="dt" idx="10"/>
          </p:nvPr>
        </p:nvSpPr>
        <p:spPr/>
        <p:txBody>
          <a:bodyPr/>
          <a:lstStyle/>
          <a:p>
            <a:fld id="{5BCAD085-E8A6-8845-BD4E-CB4CCA059FC4}" type="datetimeFigureOut">
              <a:t>10/22/2026</a:t>
            </a:fld>
            <a:endParaRPr/>
          </a:p>
        </p:txBody>
      </p:sp>
      <p:sp>
        <p:nvSpPr>
          <p:cNvPr id="5" name="Footer Placeholder 4">
            <a:extLst>
              <a:ext uri="{FF2B5EF4-FFF2-40B4-BE49-F238E27FC236}">
                <a16:creationId xmlns:a16="http://schemas.microsoft.com/office/drawing/2014/main" id="{48F5CA73-6B0C-4E7E-8E07-371D1F420F48}"/>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3BC31B01-2F91-420D-83A2-753FE4836A17}"/>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21CEB3-5793-4B4A-8F19-7B6C6AF36005}"/>
              </a:ext>
            </a:extLst>
          </p:cNvPr>
          <p:cNvSpPr>
            <a:spLocks noGrp="1"/>
          </p:cNvSpPr>
          <p:nvPr>
            <p:ph type="title"/>
          </p:nvPr>
        </p:nvSpPr>
        <p:spPr/>
        <p:txBody>
          <a:bodyPr/>
          <a:lstStyle/>
          <a:p>
            <a:r>
              <a:t>Click to edit Master title style</a:t>
            </a:r>
          </a:p>
        </p:txBody>
      </p:sp>
      <p:sp>
        <p:nvSpPr>
          <p:cNvPr id="3" name="Content Placeholder 2">
            <a:extLst>
              <a:ext uri="{FF2B5EF4-FFF2-40B4-BE49-F238E27FC236}">
                <a16:creationId xmlns:a16="http://schemas.microsoft.com/office/drawing/2014/main" id="{4CFFC553-3864-480E-AB8F-E4FD64059605}"/>
              </a:ext>
            </a:extLst>
          </p:cNvPr>
          <p:cNvSpPr>
            <a:spLocks noGrp="1"/>
          </p:cNvSpPr>
          <p:nvPr>
            <p:ph idx="1"/>
          </p:nvPr>
        </p:nvSpPr>
        <p:spPr>
          <a:xfrm>
            <a:off x="457200" y="1600200"/>
            <a:ext cx="4038600" cy="4525963"/>
          </a:xfrm>
        </p:spPr>
        <p:txBody>
          <a:bodyPr/>
          <a:lstStyle>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Content Placeholder 3">
            <a:extLst>
              <a:ext uri="{FF2B5EF4-FFF2-40B4-BE49-F238E27FC236}">
                <a16:creationId xmlns:a16="http://schemas.microsoft.com/office/drawing/2014/main" id="{E7697B3B-403E-4912-8329-BA32EB86CDB5}"/>
              </a:ext>
            </a:extLst>
          </p:cNvPr>
          <p:cNvSpPr>
            <a:spLocks noGrp="1"/>
          </p:cNvSpPr>
          <p:nvPr>
            <p:ph idx="2"/>
          </p:nvPr>
        </p:nvSpPr>
        <p:spPr>
          <a:xfrm>
            <a:off x="4648200" y="1600200"/>
            <a:ext cx="4038600" cy="4525963"/>
          </a:xfrm>
        </p:spPr>
        <p:txBody>
          <a:bodyPr/>
          <a:lstStyle>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5" name="Date Placeholder 4">
            <a:extLst>
              <a:ext uri="{FF2B5EF4-FFF2-40B4-BE49-F238E27FC236}">
                <a16:creationId xmlns:a16="http://schemas.microsoft.com/office/drawing/2014/main" id="{1ACCE357-2ED8-4436-B313-C459761E2E5C}"/>
              </a:ext>
            </a:extLst>
          </p:cNvPr>
          <p:cNvSpPr>
            <a:spLocks noGrp="1"/>
          </p:cNvSpPr>
          <p:nvPr>
            <p:ph type="dt" idx="10"/>
          </p:nvPr>
        </p:nvSpPr>
        <p:spPr/>
        <p:txBody>
          <a:bodyPr/>
          <a:lstStyle/>
          <a:p>
            <a:fld id="{5BCAD085-E8A6-8845-BD4E-CB4CCA059FC4}" type="datetimeFigureOut">
              <a:t>10/22/2026</a:t>
            </a:fld>
            <a:endParaRPr/>
          </a:p>
        </p:txBody>
      </p:sp>
      <p:sp>
        <p:nvSpPr>
          <p:cNvPr id="6" name="Footer Placeholder 5">
            <a:extLst>
              <a:ext uri="{FF2B5EF4-FFF2-40B4-BE49-F238E27FC236}">
                <a16:creationId xmlns:a16="http://schemas.microsoft.com/office/drawing/2014/main" id="{87A61E5F-04E2-40B2-BE86-1A130D91DCA8}"/>
              </a:ext>
            </a:extLst>
          </p:cNvPr>
          <p:cNvSpPr>
            <a:spLocks noGrp="1"/>
          </p:cNvSpPr>
          <p:nvPr>
            <p:ph type="ftr" idx="11"/>
          </p:nvPr>
        </p:nvSpPr>
        <p:spPr/>
        <p:txBody>
          <a:bodyPr/>
          <a:lstStyle/>
          <a:p>
            <a:endParaRPr/>
          </a:p>
        </p:txBody>
      </p:sp>
      <p:sp>
        <p:nvSpPr>
          <p:cNvPr id="7" name="Slide Number Placeholder 6">
            <a:extLst>
              <a:ext uri="{FF2B5EF4-FFF2-40B4-BE49-F238E27FC236}">
                <a16:creationId xmlns:a16="http://schemas.microsoft.com/office/drawing/2014/main" id="{8A9753A0-E9FA-4652-90C4-4FEA45B81061}"/>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837AF5-A3DD-4681-8E65-A216D20F8293}"/>
              </a:ext>
            </a:extLst>
          </p:cNvPr>
          <p:cNvSpPr>
            <a:spLocks noGrp="1"/>
          </p:cNvSpPr>
          <p:nvPr>
            <p:ph type="title"/>
          </p:nvPr>
        </p:nvSpPr>
        <p:spPr/>
        <p:txBody>
          <a:bodyPr/>
          <a:lstStyle>
            <a:lvl1pPr>
              <a:buNone/>
              <a:defRPr/>
            </a:lvl1pPr>
          </a:lstStyle>
          <a:p>
            <a:r>
              <a:t>Click to edit Master title style</a:t>
            </a:r>
          </a:p>
        </p:txBody>
      </p:sp>
      <p:sp>
        <p:nvSpPr>
          <p:cNvPr id="3" name="Text Placeholder 2">
            <a:extLst>
              <a:ext uri="{FF2B5EF4-FFF2-40B4-BE49-F238E27FC236}">
                <a16:creationId xmlns:a16="http://schemas.microsoft.com/office/drawing/2014/main" id="{3DBDFB8F-122C-477D-9867-AF8149538D5D}"/>
              </a:ext>
            </a:extLst>
          </p:cNvPr>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buNone/>
            </a:pPr>
            <a:r>
              <a:t>Click to edit Master text styles</a:t>
            </a:r>
          </a:p>
        </p:txBody>
      </p:sp>
      <p:sp>
        <p:nvSpPr>
          <p:cNvPr id="4" name="Content Placeholder 3">
            <a:extLst>
              <a:ext uri="{FF2B5EF4-FFF2-40B4-BE49-F238E27FC236}">
                <a16:creationId xmlns:a16="http://schemas.microsoft.com/office/drawing/2014/main" id="{D69CD1CA-38C8-4C51-BC8F-87607F41A3AD}"/>
              </a:ext>
            </a:extLst>
          </p:cNvPr>
          <p:cNvSpPr>
            <a:spLocks noGrp="1"/>
          </p:cNvSpPr>
          <p:nvPr>
            <p:ph idx="2"/>
          </p:nvPr>
        </p:nvSpPr>
        <p:spPr>
          <a:xfrm>
            <a:off x="457200" y="2174875"/>
            <a:ext cx="4040188" cy="3951288"/>
          </a:xfrm>
        </p:spPr>
        <p:txBody>
          <a:bodyPr/>
          <a:lstStyle>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5" name="Text Placeholder 4">
            <a:extLst>
              <a:ext uri="{FF2B5EF4-FFF2-40B4-BE49-F238E27FC236}">
                <a16:creationId xmlns:a16="http://schemas.microsoft.com/office/drawing/2014/main" id="{0DC4A422-F465-4442-8539-61C417D4C9B5}"/>
              </a:ext>
            </a:extLst>
          </p:cNvPr>
          <p:cNvSpPr>
            <a:spLocks noGrp="1"/>
          </p:cNvSpPr>
          <p:nvPr>
            <p:ph type="body"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buNone/>
            </a:pPr>
            <a:r>
              <a:t>Click to edit Master text styles</a:t>
            </a:r>
          </a:p>
        </p:txBody>
      </p:sp>
      <p:sp>
        <p:nvSpPr>
          <p:cNvPr id="6" name="Content Placeholder 5">
            <a:extLst>
              <a:ext uri="{FF2B5EF4-FFF2-40B4-BE49-F238E27FC236}">
                <a16:creationId xmlns:a16="http://schemas.microsoft.com/office/drawing/2014/main" id="{9A46AAC5-0F1D-410D-BFEB-E77AE6CCBF51}"/>
              </a:ext>
            </a:extLst>
          </p:cNvPr>
          <p:cNvSpPr>
            <a:spLocks noGrp="1"/>
          </p:cNvSpPr>
          <p:nvPr>
            <p:ph idx="4"/>
          </p:nvPr>
        </p:nvSpPr>
        <p:spPr>
          <a:xfrm>
            <a:off x="4645025" y="2174875"/>
            <a:ext cx="4041775" cy="3951288"/>
          </a:xfrm>
        </p:spPr>
        <p:txBody>
          <a:bodyPr/>
          <a:lstStyle>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7" name="Date Placeholder 6">
            <a:extLst>
              <a:ext uri="{FF2B5EF4-FFF2-40B4-BE49-F238E27FC236}">
                <a16:creationId xmlns:a16="http://schemas.microsoft.com/office/drawing/2014/main" id="{6DB799C1-EEFE-43E5-B4FE-1816DB0B6FBE}"/>
              </a:ext>
            </a:extLst>
          </p:cNvPr>
          <p:cNvSpPr>
            <a:spLocks noGrp="1"/>
          </p:cNvSpPr>
          <p:nvPr>
            <p:ph type="dt" idx="10"/>
          </p:nvPr>
        </p:nvSpPr>
        <p:spPr/>
        <p:txBody>
          <a:bodyPr/>
          <a:lstStyle/>
          <a:p>
            <a:fld id="{5BCAD085-E8A6-8845-BD4E-CB4CCA059FC4}" type="datetimeFigureOut">
              <a:t>10/22/2026</a:t>
            </a:fld>
            <a:endParaRPr/>
          </a:p>
        </p:txBody>
      </p:sp>
      <p:sp>
        <p:nvSpPr>
          <p:cNvPr id="8" name="Footer Placeholder 7">
            <a:extLst>
              <a:ext uri="{FF2B5EF4-FFF2-40B4-BE49-F238E27FC236}">
                <a16:creationId xmlns:a16="http://schemas.microsoft.com/office/drawing/2014/main" id="{4254E280-E858-4190-AE4B-FD2780B62AF8}"/>
              </a:ext>
            </a:extLst>
          </p:cNvPr>
          <p:cNvSpPr>
            <a:spLocks noGrp="1"/>
          </p:cNvSpPr>
          <p:nvPr>
            <p:ph type="ftr" idx="11"/>
          </p:nvPr>
        </p:nvSpPr>
        <p:spPr/>
        <p:txBody>
          <a:bodyPr/>
          <a:lstStyle/>
          <a:p>
            <a:endParaRPr/>
          </a:p>
        </p:txBody>
      </p:sp>
      <p:sp>
        <p:nvSpPr>
          <p:cNvPr id="9" name="Slide Number Placeholder 8">
            <a:extLst>
              <a:ext uri="{FF2B5EF4-FFF2-40B4-BE49-F238E27FC236}">
                <a16:creationId xmlns:a16="http://schemas.microsoft.com/office/drawing/2014/main" id="{5934C45E-A72A-482E-AF9F-0D91F9D9FBCF}"/>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D351E4-7DF0-4753-AAD2-70BCF86CB88F}"/>
              </a:ext>
            </a:extLst>
          </p:cNvPr>
          <p:cNvSpPr>
            <a:spLocks noGrp="1"/>
          </p:cNvSpPr>
          <p:nvPr>
            <p:ph type="title"/>
          </p:nvPr>
        </p:nvSpPr>
        <p:spPr/>
        <p:txBody>
          <a:bodyPr/>
          <a:lstStyle/>
          <a:p>
            <a:r>
              <a:t>Click to edit Master title style</a:t>
            </a:r>
          </a:p>
        </p:txBody>
      </p:sp>
      <p:sp>
        <p:nvSpPr>
          <p:cNvPr id="3" name="Date Placeholder 2">
            <a:extLst>
              <a:ext uri="{FF2B5EF4-FFF2-40B4-BE49-F238E27FC236}">
                <a16:creationId xmlns:a16="http://schemas.microsoft.com/office/drawing/2014/main" id="{3225683D-2C1A-4612-9052-E6BB3B7698E0}"/>
              </a:ext>
            </a:extLst>
          </p:cNvPr>
          <p:cNvSpPr>
            <a:spLocks noGrp="1"/>
          </p:cNvSpPr>
          <p:nvPr>
            <p:ph type="dt" idx="10"/>
          </p:nvPr>
        </p:nvSpPr>
        <p:spPr/>
        <p:txBody>
          <a:bodyPr/>
          <a:lstStyle/>
          <a:p>
            <a:fld id="{5BCAD085-E8A6-8845-BD4E-CB4CCA059FC4}" type="datetimeFigureOut">
              <a:t>10/22/2026</a:t>
            </a:fld>
            <a:endParaRPr/>
          </a:p>
        </p:txBody>
      </p:sp>
      <p:sp>
        <p:nvSpPr>
          <p:cNvPr id="4" name="Footer Placeholder 3">
            <a:extLst>
              <a:ext uri="{FF2B5EF4-FFF2-40B4-BE49-F238E27FC236}">
                <a16:creationId xmlns:a16="http://schemas.microsoft.com/office/drawing/2014/main" id="{10445207-4A35-446D-9032-26E532059471}"/>
              </a:ext>
            </a:extLst>
          </p:cNvPr>
          <p:cNvSpPr>
            <a:spLocks noGrp="1"/>
          </p:cNvSpPr>
          <p:nvPr>
            <p:ph type="ftr" idx="11"/>
          </p:nvPr>
        </p:nvSpPr>
        <p:spPr/>
        <p:txBody>
          <a:bodyPr/>
          <a:lstStyle/>
          <a:p>
            <a:endParaRPr/>
          </a:p>
        </p:txBody>
      </p:sp>
      <p:sp>
        <p:nvSpPr>
          <p:cNvPr id="5" name="Slide Number Placeholder 4">
            <a:extLst>
              <a:ext uri="{FF2B5EF4-FFF2-40B4-BE49-F238E27FC236}">
                <a16:creationId xmlns:a16="http://schemas.microsoft.com/office/drawing/2014/main" id="{11A813C0-FE5D-4B54-8E7C-315D9BF9DB4D}"/>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8CE47C8-68C3-4A66-8B62-1AB3DB130A7A}"/>
              </a:ext>
            </a:extLst>
          </p:cNvPr>
          <p:cNvSpPr>
            <a:spLocks noGrp="1"/>
          </p:cNvSpPr>
          <p:nvPr>
            <p:ph type="dt" idx="10"/>
          </p:nvPr>
        </p:nvSpPr>
        <p:spPr/>
        <p:txBody>
          <a:bodyPr/>
          <a:lstStyle/>
          <a:p>
            <a:fld id="{5BCAD085-E8A6-8845-BD4E-CB4CCA059FC4}" type="datetimeFigureOut">
              <a:t>10/22/2026</a:t>
            </a:fld>
            <a:endParaRPr/>
          </a:p>
        </p:txBody>
      </p:sp>
      <p:sp>
        <p:nvSpPr>
          <p:cNvPr id="3" name="Footer Placeholder 2">
            <a:extLst>
              <a:ext uri="{FF2B5EF4-FFF2-40B4-BE49-F238E27FC236}">
                <a16:creationId xmlns:a16="http://schemas.microsoft.com/office/drawing/2014/main" id="{D24DCDEB-8938-4A30-8BDD-A3A9B6345C8B}"/>
              </a:ext>
            </a:extLst>
          </p:cNvPr>
          <p:cNvSpPr>
            <a:spLocks noGrp="1"/>
          </p:cNvSpPr>
          <p:nvPr>
            <p:ph type="ftr" idx="11"/>
          </p:nvPr>
        </p:nvSpPr>
        <p:spPr/>
        <p:txBody>
          <a:bodyPr/>
          <a:lstStyle/>
          <a:p>
            <a:endParaRPr/>
          </a:p>
        </p:txBody>
      </p:sp>
      <p:sp>
        <p:nvSpPr>
          <p:cNvPr id="4" name="Slide Number Placeholder 3">
            <a:extLst>
              <a:ext uri="{FF2B5EF4-FFF2-40B4-BE49-F238E27FC236}">
                <a16:creationId xmlns:a16="http://schemas.microsoft.com/office/drawing/2014/main" id="{F055A021-4659-4B92-A6FE-2A8187DB1003}"/>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074E59-CFEE-42A1-B528-47C90D10B0DE}"/>
              </a:ext>
            </a:extLst>
          </p:cNvPr>
          <p:cNvSpPr>
            <a:spLocks noGrp="1"/>
          </p:cNvSpPr>
          <p:nvPr>
            <p:ph type="title"/>
          </p:nvPr>
        </p:nvSpPr>
        <p:spPr>
          <a:xfrm>
            <a:off x="457200" y="273050"/>
            <a:ext cx="3008313" cy="1162050"/>
          </a:xfrm>
        </p:spPr>
        <p:txBody>
          <a:bodyPr anchor="b"/>
          <a:lstStyle>
            <a:lvl1pPr algn="l">
              <a:buNone/>
              <a:defRPr sz="2000" b="1"/>
            </a:lvl1pPr>
          </a:lstStyle>
          <a:p>
            <a:r>
              <a:t>Click to edit Master title style</a:t>
            </a:r>
          </a:p>
        </p:txBody>
      </p:sp>
      <p:sp>
        <p:nvSpPr>
          <p:cNvPr id="3" name="Content Placeholder 2">
            <a:extLst>
              <a:ext uri="{FF2B5EF4-FFF2-40B4-BE49-F238E27FC236}">
                <a16:creationId xmlns:a16="http://schemas.microsoft.com/office/drawing/2014/main" id="{C2B95F47-9E2B-42E9-B581-7714169320A0}"/>
              </a:ext>
            </a:extLst>
          </p:cNvPr>
          <p:cNvSpPr>
            <a:spLocks noGrp="1"/>
          </p:cNvSpPr>
          <p:nvPr>
            <p:ph idx="1"/>
          </p:nvPr>
        </p:nvSpPr>
        <p:spPr>
          <a:xfrm>
            <a:off x="3575050" y="273050"/>
            <a:ext cx="5111750" cy="5853113"/>
          </a:xfrm>
        </p:spPr>
        <p:txBody>
          <a:bodyPr/>
          <a:lstStyle>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Text Placeholder 3">
            <a:extLst>
              <a:ext uri="{FF2B5EF4-FFF2-40B4-BE49-F238E27FC236}">
                <a16:creationId xmlns:a16="http://schemas.microsoft.com/office/drawing/2014/main" id="{69E29B18-CABE-471C-B97C-FCEA4B1DC0B4}"/>
              </a:ext>
            </a:extLst>
          </p:cNvPr>
          <p:cNvSpPr>
            <a:spLocks noGrp="1"/>
          </p:cNvSpPr>
          <p:nvPr>
            <p:ph type="body"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buNone/>
            </a:pPr>
            <a:r>
              <a:t>Click to edit Master text styles</a:t>
            </a:r>
          </a:p>
        </p:txBody>
      </p:sp>
      <p:sp>
        <p:nvSpPr>
          <p:cNvPr id="5" name="Date Placeholder 4">
            <a:extLst>
              <a:ext uri="{FF2B5EF4-FFF2-40B4-BE49-F238E27FC236}">
                <a16:creationId xmlns:a16="http://schemas.microsoft.com/office/drawing/2014/main" id="{175D032C-671B-4C4E-8FC0-7B9590D2D995}"/>
              </a:ext>
            </a:extLst>
          </p:cNvPr>
          <p:cNvSpPr>
            <a:spLocks noGrp="1"/>
          </p:cNvSpPr>
          <p:nvPr>
            <p:ph type="dt" idx="10"/>
          </p:nvPr>
        </p:nvSpPr>
        <p:spPr/>
        <p:txBody>
          <a:bodyPr/>
          <a:lstStyle/>
          <a:p>
            <a:fld id="{5BCAD085-E8A6-8845-BD4E-CB4CCA059FC4}" type="datetimeFigureOut">
              <a:t>10/22/2026</a:t>
            </a:fld>
            <a:endParaRPr/>
          </a:p>
        </p:txBody>
      </p:sp>
      <p:sp>
        <p:nvSpPr>
          <p:cNvPr id="6" name="Footer Placeholder 5">
            <a:extLst>
              <a:ext uri="{FF2B5EF4-FFF2-40B4-BE49-F238E27FC236}">
                <a16:creationId xmlns:a16="http://schemas.microsoft.com/office/drawing/2014/main" id="{A6CF54C5-6D58-4AF5-8785-B470A55717E1}"/>
              </a:ext>
            </a:extLst>
          </p:cNvPr>
          <p:cNvSpPr>
            <a:spLocks noGrp="1"/>
          </p:cNvSpPr>
          <p:nvPr>
            <p:ph type="ftr" idx="11"/>
          </p:nvPr>
        </p:nvSpPr>
        <p:spPr/>
        <p:txBody>
          <a:bodyPr/>
          <a:lstStyle/>
          <a:p>
            <a:endParaRPr/>
          </a:p>
        </p:txBody>
      </p:sp>
      <p:sp>
        <p:nvSpPr>
          <p:cNvPr id="7" name="Slide Number Placeholder 6">
            <a:extLst>
              <a:ext uri="{FF2B5EF4-FFF2-40B4-BE49-F238E27FC236}">
                <a16:creationId xmlns:a16="http://schemas.microsoft.com/office/drawing/2014/main" id="{8ACBA742-5024-469A-A106-DED3C2B9F3C7}"/>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171DEF-1BB0-4A5A-9BEB-A1E4E0E66A93}"/>
              </a:ext>
            </a:extLst>
          </p:cNvPr>
          <p:cNvSpPr>
            <a:spLocks noGrp="1"/>
          </p:cNvSpPr>
          <p:nvPr>
            <p:ph type="title"/>
          </p:nvPr>
        </p:nvSpPr>
        <p:spPr>
          <a:xfrm>
            <a:off x="1792288" y="4800600"/>
            <a:ext cx="5486400" cy="566738"/>
          </a:xfrm>
        </p:spPr>
        <p:txBody>
          <a:bodyPr anchor="b"/>
          <a:lstStyle>
            <a:lvl1pPr algn="l">
              <a:buNone/>
              <a:defRPr sz="2000" b="1"/>
            </a:lvl1pPr>
          </a:lstStyle>
          <a:p>
            <a:r>
              <a:t>Click to edit Master title style</a:t>
            </a:r>
          </a:p>
        </p:txBody>
      </p:sp>
      <p:sp>
        <p:nvSpPr>
          <p:cNvPr id="3" name="Picture Placeholder 2">
            <a:extLst>
              <a:ext uri="{FF2B5EF4-FFF2-40B4-BE49-F238E27FC236}">
                <a16:creationId xmlns:a16="http://schemas.microsoft.com/office/drawing/2014/main" id="{D5F3972D-BD37-436A-8BF3-86DDA791A9DF}"/>
              </a:ext>
            </a:extLst>
          </p:cNvPr>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a:p>
        </p:txBody>
      </p:sp>
      <p:sp>
        <p:nvSpPr>
          <p:cNvPr id="4" name="Text Placeholder 3">
            <a:extLst>
              <a:ext uri="{FF2B5EF4-FFF2-40B4-BE49-F238E27FC236}">
                <a16:creationId xmlns:a16="http://schemas.microsoft.com/office/drawing/2014/main" id="{D298490A-D4F7-46A1-A8F8-6CDDCD36E52E}"/>
              </a:ext>
            </a:extLst>
          </p:cNvPr>
          <p:cNvSpPr>
            <a:spLocks noGrp="1"/>
          </p:cNvSpPr>
          <p:nvPr>
            <p:ph type="body"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buNone/>
            </a:pPr>
            <a:r>
              <a:t>Click to edit Master text styles</a:t>
            </a:r>
          </a:p>
        </p:txBody>
      </p:sp>
      <p:sp>
        <p:nvSpPr>
          <p:cNvPr id="5" name="Date Placeholder 4">
            <a:extLst>
              <a:ext uri="{FF2B5EF4-FFF2-40B4-BE49-F238E27FC236}">
                <a16:creationId xmlns:a16="http://schemas.microsoft.com/office/drawing/2014/main" id="{6D1A897F-8935-46A9-8CD7-564D7FC9A420}"/>
              </a:ext>
            </a:extLst>
          </p:cNvPr>
          <p:cNvSpPr>
            <a:spLocks noGrp="1"/>
          </p:cNvSpPr>
          <p:nvPr>
            <p:ph type="dt" idx="10"/>
          </p:nvPr>
        </p:nvSpPr>
        <p:spPr/>
        <p:txBody>
          <a:bodyPr/>
          <a:lstStyle/>
          <a:p>
            <a:fld id="{5BCAD085-E8A6-8845-BD4E-CB4CCA059FC4}" type="datetimeFigureOut">
              <a:t>10/22/2026</a:t>
            </a:fld>
            <a:endParaRPr/>
          </a:p>
        </p:txBody>
      </p:sp>
      <p:sp>
        <p:nvSpPr>
          <p:cNvPr id="6" name="Footer Placeholder 5">
            <a:extLst>
              <a:ext uri="{FF2B5EF4-FFF2-40B4-BE49-F238E27FC236}">
                <a16:creationId xmlns:a16="http://schemas.microsoft.com/office/drawing/2014/main" id="{3DFBE54C-E418-4FFC-A484-F1F657DA90BD}"/>
              </a:ext>
            </a:extLst>
          </p:cNvPr>
          <p:cNvSpPr>
            <a:spLocks noGrp="1"/>
          </p:cNvSpPr>
          <p:nvPr>
            <p:ph type="ftr" idx="11"/>
          </p:nvPr>
        </p:nvSpPr>
        <p:spPr/>
        <p:txBody>
          <a:bodyPr/>
          <a:lstStyle/>
          <a:p>
            <a:endParaRPr/>
          </a:p>
        </p:txBody>
      </p:sp>
      <p:sp>
        <p:nvSpPr>
          <p:cNvPr id="7" name="Slide Number Placeholder 6">
            <a:extLst>
              <a:ext uri="{FF2B5EF4-FFF2-40B4-BE49-F238E27FC236}">
                <a16:creationId xmlns:a16="http://schemas.microsoft.com/office/drawing/2014/main" id="{5490FB43-F15C-4AD5-B8F5-CBFBA9DBA35D}"/>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CA0806-BB49-4AF8-A2EB-57A39B9855FC}"/>
              </a:ext>
            </a:extLst>
          </p:cNvPr>
          <p:cNvSpPr>
            <a:spLocks noGrp="1"/>
          </p:cNvSpPr>
          <p:nvPr>
            <p:ph type="title"/>
          </p:nvPr>
        </p:nvSpPr>
        <p:spPr/>
        <p:txBody>
          <a:bodyPr/>
          <a:lstStyle/>
          <a:p>
            <a:r>
              <a:t>Click to edit Master title style</a:t>
            </a:r>
          </a:p>
        </p:txBody>
      </p:sp>
      <p:sp>
        <p:nvSpPr>
          <p:cNvPr id="3" name="Vertical Text Placeholder 2">
            <a:extLst>
              <a:ext uri="{FF2B5EF4-FFF2-40B4-BE49-F238E27FC236}">
                <a16:creationId xmlns:a16="http://schemas.microsoft.com/office/drawing/2014/main" id="{8632B75A-1C26-4AC2-A939-068A93AA8E99}"/>
              </a:ext>
            </a:extLst>
          </p:cNvPr>
          <p:cNvSpPr>
            <a:spLocks noGrp="1"/>
          </p:cNvSpPr>
          <p:nvPr>
            <p:ph type="body" idx="1"/>
          </p:nvPr>
        </p:nvSpPr>
        <p:spPr/>
        <p:txBody>
          <a:bodyPr vert="eaVert"/>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Date Placeholder 3">
            <a:extLst>
              <a:ext uri="{FF2B5EF4-FFF2-40B4-BE49-F238E27FC236}">
                <a16:creationId xmlns:a16="http://schemas.microsoft.com/office/drawing/2014/main" id="{F278E1CA-D200-44BE-9B51-CA0E9CAC8D9F}"/>
              </a:ext>
            </a:extLst>
          </p:cNvPr>
          <p:cNvSpPr>
            <a:spLocks noGrp="1"/>
          </p:cNvSpPr>
          <p:nvPr>
            <p:ph type="dt" idx="10"/>
          </p:nvPr>
        </p:nvSpPr>
        <p:spPr/>
        <p:txBody>
          <a:bodyPr/>
          <a:lstStyle/>
          <a:p>
            <a:fld id="{5BCAD085-E8A6-8845-BD4E-CB4CCA059FC4}" type="datetimeFigureOut">
              <a:t>10/22/2026</a:t>
            </a:fld>
            <a:endParaRPr/>
          </a:p>
        </p:txBody>
      </p:sp>
      <p:sp>
        <p:nvSpPr>
          <p:cNvPr id="5" name="Footer Placeholder 4">
            <a:extLst>
              <a:ext uri="{FF2B5EF4-FFF2-40B4-BE49-F238E27FC236}">
                <a16:creationId xmlns:a16="http://schemas.microsoft.com/office/drawing/2014/main" id="{B61344BA-8B7C-458C-B01D-427335C150F3}"/>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F03A9F78-8DE5-4DC8-BE4F-94847A050D0E}"/>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E920767-393D-4403-B250-0217B7948A22}"/>
              </a:ext>
            </a:extLst>
          </p:cNvPr>
          <p:cNvSpPr>
            <a:spLocks noGrp="1"/>
          </p:cNvSpPr>
          <p:nvPr>
            <p:ph type="title"/>
          </p:nvPr>
        </p:nvSpPr>
        <p:spPr>
          <a:xfrm>
            <a:off x="6629400" y="274638"/>
            <a:ext cx="2057400" cy="5851525"/>
          </a:xfrm>
        </p:spPr>
        <p:txBody>
          <a:bodyPr vert="eaVert"/>
          <a:lstStyle/>
          <a:p>
            <a:r>
              <a:t>Click to edit Master title style</a:t>
            </a:r>
          </a:p>
        </p:txBody>
      </p:sp>
      <p:sp>
        <p:nvSpPr>
          <p:cNvPr id="3" name="Vertical Text Placeholder 2">
            <a:extLst>
              <a:ext uri="{FF2B5EF4-FFF2-40B4-BE49-F238E27FC236}">
                <a16:creationId xmlns:a16="http://schemas.microsoft.com/office/drawing/2014/main" id="{CABDBD43-46F8-48CC-808A-ED6C745C25D6}"/>
              </a:ext>
            </a:extLst>
          </p:cNvPr>
          <p:cNvSpPr>
            <a:spLocks noGrp="1"/>
          </p:cNvSpPr>
          <p:nvPr>
            <p:ph type="body" idx="1"/>
          </p:nvPr>
        </p:nvSpPr>
        <p:spPr>
          <a:xfrm>
            <a:off x="457200" y="274638"/>
            <a:ext cx="6019800" cy="5851525"/>
          </a:xfrm>
        </p:spPr>
        <p:txBody>
          <a:bodyPr vert="eaVert"/>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Date Placeholder 3">
            <a:extLst>
              <a:ext uri="{FF2B5EF4-FFF2-40B4-BE49-F238E27FC236}">
                <a16:creationId xmlns:a16="http://schemas.microsoft.com/office/drawing/2014/main" id="{DD751862-866B-4CB0-9A64-3B45E9FE7A03}"/>
              </a:ext>
            </a:extLst>
          </p:cNvPr>
          <p:cNvSpPr>
            <a:spLocks noGrp="1"/>
          </p:cNvSpPr>
          <p:nvPr>
            <p:ph type="dt" idx="10"/>
          </p:nvPr>
        </p:nvSpPr>
        <p:spPr/>
        <p:txBody>
          <a:bodyPr/>
          <a:lstStyle/>
          <a:p>
            <a:fld id="{5BCAD085-E8A6-8845-BD4E-CB4CCA059FC4}" type="datetimeFigureOut">
              <a:t>10/22/2026</a:t>
            </a:fld>
            <a:endParaRPr/>
          </a:p>
        </p:txBody>
      </p:sp>
      <p:sp>
        <p:nvSpPr>
          <p:cNvPr id="5" name="Footer Placeholder 4">
            <a:extLst>
              <a:ext uri="{FF2B5EF4-FFF2-40B4-BE49-F238E27FC236}">
                <a16:creationId xmlns:a16="http://schemas.microsoft.com/office/drawing/2014/main" id="{F754B418-98B8-44C1-AAF5-4F516AC101C3}"/>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AB61F8D5-D4AB-467A-895F-1FB92CF90B83}"/>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82EFC76-8F37-4FA1-BB3D-C0E83DC3CCB0}"/>
              </a:ext>
            </a:extLst>
          </p:cNvPr>
          <p:cNvSpPr>
            <a:spLocks noGrp="1"/>
          </p:cNvSpPr>
          <p:nvPr>
            <p:ph type="title"/>
          </p:nvPr>
        </p:nvSpPr>
        <p:spPr>
          <a:xfrm>
            <a:off x="457200" y="274638"/>
            <a:ext cx="8229600" cy="1143000"/>
          </a:xfrm>
          <a:prstGeom prst="rect">
            <a:avLst/>
          </a:prstGeom>
        </p:spPr>
        <p:txBody>
          <a:bodyPr vert="horz" lIns="91440" tIns="45720" rIns="91440" bIns="45720" anchor="ctr">
            <a:normAutofit/>
          </a:bodyPr>
          <a:lstStyle/>
          <a:p>
            <a:r>
              <a:t>Click to edit Master title style</a:t>
            </a:r>
          </a:p>
        </p:txBody>
      </p:sp>
      <p:sp>
        <p:nvSpPr>
          <p:cNvPr id="3" name="Text Placeholder 2">
            <a:extLst>
              <a:ext uri="{FF2B5EF4-FFF2-40B4-BE49-F238E27FC236}">
                <a16:creationId xmlns:a16="http://schemas.microsoft.com/office/drawing/2014/main" id="{BAA947B0-0446-4517-A5C5-789DB0696EC6}"/>
              </a:ext>
            </a:extLst>
          </p:cNvPr>
          <p:cNvSpPr>
            <a:spLocks noGrp="1"/>
          </p:cNvSpPr>
          <p:nvPr>
            <p:ph type="body" idx="1"/>
          </p:nvPr>
        </p:nvSpPr>
        <p:spPr>
          <a:xfrm>
            <a:off x="457200" y="1600200"/>
            <a:ext cx="8229600" cy="4525963"/>
          </a:xfrm>
          <a:prstGeom prst="rect">
            <a:avLst/>
          </a:prstGeom>
        </p:spPr>
        <p:txBody>
          <a:bodyPr vert="horz" lIns="91440" tIns="45720" rIns="91440" bIns="45720">
            <a:normAutofit/>
          </a:body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Date Placeholder 3">
            <a:extLst>
              <a:ext uri="{FF2B5EF4-FFF2-40B4-BE49-F238E27FC236}">
                <a16:creationId xmlns:a16="http://schemas.microsoft.com/office/drawing/2014/main" id="{C12E24C1-EEFB-4135-A560-B3B24CC7A98D}"/>
              </a:ext>
            </a:extLst>
          </p:cNvPr>
          <p:cNvSpPr>
            <a:spLocks noGrp="1"/>
          </p:cNvSpPr>
          <p:nvPr>
            <p:ph type="dt" idx="2"/>
          </p:nvPr>
        </p:nvSpPr>
        <p:spPr>
          <a:xfrm>
            <a:off x="457200" y="6356350"/>
            <a:ext cx="2133600" cy="365125"/>
          </a:xfrm>
          <a:prstGeom prst="rect">
            <a:avLst/>
          </a:prstGeom>
        </p:spPr>
        <p:txBody>
          <a:bodyPr vert="horz" lIns="91440" tIns="45720" rIns="91440" bIns="45720" anchor="ctr"/>
          <a:lstStyle>
            <a:lvl1pPr algn="l">
              <a:buNone/>
              <a:defRPr sz="1200">
                <a:solidFill>
                  <a:schemeClr val="tx1">
                    <a:tint val="75000"/>
                  </a:schemeClr>
                </a:solidFill>
              </a:defRPr>
            </a:lvl1pPr>
          </a:lstStyle>
          <a:p>
            <a:fld id="{5BCAD085-E8A6-8845-BD4E-CB4CCA059FC4}" type="datetimeFigureOut">
              <a:t>10/22/2026</a:t>
            </a:fld>
            <a:endParaRPr/>
          </a:p>
        </p:txBody>
      </p:sp>
      <p:sp>
        <p:nvSpPr>
          <p:cNvPr id="5" name="Footer Placeholder 4">
            <a:extLst>
              <a:ext uri="{FF2B5EF4-FFF2-40B4-BE49-F238E27FC236}">
                <a16:creationId xmlns:a16="http://schemas.microsoft.com/office/drawing/2014/main" id="{3FAD00FB-5A06-4C3F-A93B-83CC5568F17C}"/>
              </a:ext>
            </a:extLst>
          </p:cNvPr>
          <p:cNvSpPr>
            <a:spLocks noGrp="1"/>
          </p:cNvSpPr>
          <p:nvPr>
            <p:ph type="ftr" idx="3"/>
          </p:nvPr>
        </p:nvSpPr>
        <p:spPr>
          <a:xfrm>
            <a:off x="3124200" y="6356350"/>
            <a:ext cx="2895600" cy="365125"/>
          </a:xfrm>
          <a:prstGeom prst="rect">
            <a:avLst/>
          </a:prstGeom>
        </p:spPr>
        <p:txBody>
          <a:bodyPr vert="horz" lIns="91440" tIns="45720" rIns="91440" bIns="45720" anchor="ctr"/>
          <a:lstStyle>
            <a:lvl1pPr algn="ctr">
              <a:buNone/>
              <a:defRPr sz="1200">
                <a:solidFill>
                  <a:schemeClr val="tx1">
                    <a:tint val="75000"/>
                  </a:schemeClr>
                </a:solidFill>
              </a:defRPr>
            </a:lvl1pPr>
          </a:lstStyle>
          <a:p>
            <a:endParaRPr/>
          </a:p>
        </p:txBody>
      </p:sp>
      <p:sp>
        <p:nvSpPr>
          <p:cNvPr id="6" name="Slide Number Placeholder 5">
            <a:extLst>
              <a:ext uri="{FF2B5EF4-FFF2-40B4-BE49-F238E27FC236}">
                <a16:creationId xmlns:a16="http://schemas.microsoft.com/office/drawing/2014/main" id="{4C1D65CC-5A65-4CEA-B8B0-E6DFBAA01C73}"/>
              </a:ext>
            </a:extLst>
          </p:cNvPr>
          <p:cNvSpPr>
            <a:spLocks noGrp="1"/>
          </p:cNvSpPr>
          <p:nvPr>
            <p:ph type="sldNum" idx="4"/>
          </p:nvPr>
        </p:nvSpPr>
        <p:spPr>
          <a:xfrm>
            <a:off x="6553200" y="6356350"/>
            <a:ext cx="2133600" cy="365125"/>
          </a:xfrm>
          <a:prstGeom prst="rect">
            <a:avLst/>
          </a:prstGeom>
        </p:spPr>
        <p:txBody>
          <a:bodyPr vert="horz" lIns="91440" tIns="45720" rIns="91440" bIns="45720" anchor="ctr"/>
          <a:lstStyle>
            <a:lvl1pPr algn="r">
              <a:buNone/>
              <a:defRPr sz="1200">
                <a:solidFill>
                  <a:schemeClr val="tx1">
                    <a:tint val="75000"/>
                  </a:schemeClr>
                </a:solidFill>
              </a:defRPr>
            </a:lvl1pPr>
          </a:lstStyle>
          <a:p>
            <a:fld id="{C1FF6DA9-008F-8B48-92A6-B652298478BF}" type="slidenum">
              <a:t>‹#›</a:t>
            </a:fld>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a:spcBef>
          <a:spcPct val="0"/>
        </a:spcBef>
        <a:buNone/>
        <a:defRPr sz="4400" kern="1200">
          <a:solidFill>
            <a:schemeClr val="tx1"/>
          </a:solidFill>
          <a:latin typeface="+mj-lt"/>
          <a:ea typeface="+mj-lt"/>
          <a:cs typeface="+mj-lt"/>
        </a:defRPr>
      </a:lvl1pPr>
    </p:titleStyle>
    <p:bodyStyle>
      <a:lvl1pPr marL="342900" indent="-342900" algn="l" defTabSz="457200">
        <a:spcBef>
          <a:spcPct val="20000"/>
        </a:spcBef>
        <a:buFont typeface="Arial"/>
        <a:buChar char="•"/>
        <a:defRPr sz="3200" kern="1200">
          <a:solidFill>
            <a:schemeClr val="tx1"/>
          </a:solidFill>
          <a:latin typeface="+mn-lt"/>
          <a:ea typeface="+mn-lt"/>
          <a:cs typeface="+mn-lt"/>
        </a:defRPr>
      </a:lvl1pPr>
      <a:lvl2pPr marL="742950" indent="-285750" algn="l" defTabSz="457200">
        <a:spcBef>
          <a:spcPct val="20000"/>
        </a:spcBef>
        <a:buFont typeface="Arial"/>
        <a:buChar char="–"/>
        <a:defRPr sz="2800" kern="1200">
          <a:solidFill>
            <a:schemeClr val="tx1"/>
          </a:solidFill>
          <a:latin typeface="+mn-lt"/>
          <a:ea typeface="+mn-lt"/>
          <a:cs typeface="+mn-lt"/>
        </a:defRPr>
      </a:lvl2pPr>
      <a:lvl3pPr marL="1143000" indent="-228600" algn="l" defTabSz="457200">
        <a:spcBef>
          <a:spcPct val="20000"/>
        </a:spcBef>
        <a:buFont typeface="Arial"/>
        <a:buChar char="•"/>
        <a:defRPr sz="2400" kern="1200">
          <a:solidFill>
            <a:schemeClr val="tx1"/>
          </a:solidFill>
          <a:latin typeface="+mn-lt"/>
          <a:ea typeface="+mn-lt"/>
          <a:cs typeface="+mn-lt"/>
        </a:defRPr>
      </a:lvl3pPr>
      <a:lvl4pPr marL="1600200" indent="-228600" algn="l" defTabSz="457200">
        <a:spcBef>
          <a:spcPct val="20000"/>
        </a:spcBef>
        <a:buFont typeface="Arial"/>
        <a:buChar char="–"/>
        <a:defRPr sz="2000" kern="1200">
          <a:solidFill>
            <a:schemeClr val="tx1"/>
          </a:solidFill>
          <a:latin typeface="+mn-lt"/>
          <a:ea typeface="+mn-lt"/>
          <a:cs typeface="+mn-lt"/>
        </a:defRPr>
      </a:lvl4pPr>
      <a:lvl5pPr marL="2057400" indent="-228600" algn="l" defTabSz="457200">
        <a:spcBef>
          <a:spcPct val="20000"/>
        </a:spcBef>
        <a:buFont typeface="Arial"/>
        <a:buChar char="»"/>
        <a:defRPr sz="2000" kern="1200">
          <a:solidFill>
            <a:schemeClr val="tx1"/>
          </a:solidFill>
          <a:latin typeface="+mn-lt"/>
          <a:ea typeface="+mn-lt"/>
          <a:cs typeface="+mn-lt"/>
        </a:defRPr>
      </a:lvl5pPr>
      <a:lvl6pPr marL="2514600" indent="-228600" algn="l" defTabSz="457200">
        <a:spcBef>
          <a:spcPct val="20000"/>
        </a:spcBef>
        <a:buFont typeface="Arial"/>
        <a:buChar char="•"/>
        <a:defRPr sz="2000" kern="1200">
          <a:solidFill>
            <a:schemeClr val="tx1"/>
          </a:solidFill>
          <a:latin typeface="+mn-lt"/>
          <a:ea typeface="+mn-lt"/>
          <a:cs typeface="+mn-lt"/>
        </a:defRPr>
      </a:lvl6pPr>
      <a:lvl7pPr marL="2971800" indent="-228600" algn="l" defTabSz="457200">
        <a:spcBef>
          <a:spcPct val="20000"/>
        </a:spcBef>
        <a:buFont typeface="Arial"/>
        <a:buChar char="•"/>
        <a:defRPr sz="2000" kern="1200">
          <a:solidFill>
            <a:schemeClr val="tx1"/>
          </a:solidFill>
          <a:latin typeface="+mn-lt"/>
          <a:ea typeface="+mn-lt"/>
          <a:cs typeface="+mn-lt"/>
        </a:defRPr>
      </a:lvl7pPr>
      <a:lvl8pPr marL="3429000" indent="-228600" algn="l" defTabSz="457200">
        <a:spcBef>
          <a:spcPct val="20000"/>
        </a:spcBef>
        <a:buFont typeface="Arial"/>
        <a:buChar char="•"/>
        <a:defRPr sz="2000" kern="1200">
          <a:solidFill>
            <a:schemeClr val="tx1"/>
          </a:solidFill>
          <a:latin typeface="+mn-lt"/>
          <a:ea typeface="+mn-lt"/>
          <a:cs typeface="+mn-lt"/>
        </a:defRPr>
      </a:lvl8pPr>
      <a:lvl9pPr marL="3886200" indent="-228600" algn="l" defTabSz="457200">
        <a:spcBef>
          <a:spcPct val="20000"/>
        </a:spcBef>
        <a:buFont typeface="Arial"/>
        <a:buChar char="•"/>
        <a:defRPr sz="2000" kern="1200">
          <a:solidFill>
            <a:schemeClr val="tx1"/>
          </a:solidFill>
          <a:latin typeface="+mn-lt"/>
          <a:ea typeface="+mn-lt"/>
          <a:cs typeface="+mn-lt"/>
        </a:defRPr>
      </a:lvl9pPr>
    </p:bodyStyle>
    <p:otherStyle>
      <a:lvl1pPr marL="0" algn="l" defTabSz="457200">
        <a:buNone/>
        <a:defRPr sz="1800" kern="1200">
          <a:solidFill>
            <a:schemeClr val="tx1"/>
          </a:solidFill>
          <a:latin typeface="+mn-lt"/>
          <a:ea typeface="+mn-lt"/>
          <a:cs typeface="+mn-lt"/>
        </a:defRPr>
      </a:lvl1pPr>
      <a:lvl2pPr marL="457200" algn="l" defTabSz="457200">
        <a:buNone/>
        <a:defRPr sz="1800" kern="1200">
          <a:solidFill>
            <a:schemeClr val="tx1"/>
          </a:solidFill>
          <a:latin typeface="+mn-lt"/>
          <a:ea typeface="+mn-lt"/>
          <a:cs typeface="+mn-lt"/>
        </a:defRPr>
      </a:lvl2pPr>
      <a:lvl3pPr marL="914400" algn="l" defTabSz="457200">
        <a:buNone/>
        <a:defRPr sz="1800" kern="1200">
          <a:solidFill>
            <a:schemeClr val="tx1"/>
          </a:solidFill>
          <a:latin typeface="+mn-lt"/>
          <a:ea typeface="+mn-lt"/>
          <a:cs typeface="+mn-lt"/>
        </a:defRPr>
      </a:lvl3pPr>
      <a:lvl4pPr marL="1371600" algn="l" defTabSz="457200">
        <a:buNone/>
        <a:defRPr sz="1800" kern="1200">
          <a:solidFill>
            <a:schemeClr val="tx1"/>
          </a:solidFill>
          <a:latin typeface="+mn-lt"/>
          <a:ea typeface="+mn-lt"/>
          <a:cs typeface="+mn-lt"/>
        </a:defRPr>
      </a:lvl4pPr>
      <a:lvl5pPr marL="1828800" algn="l" defTabSz="457200">
        <a:buNone/>
        <a:defRPr sz="1800" kern="1200">
          <a:solidFill>
            <a:schemeClr val="tx1"/>
          </a:solidFill>
          <a:latin typeface="+mn-lt"/>
          <a:ea typeface="+mn-lt"/>
          <a:cs typeface="+mn-lt"/>
        </a:defRPr>
      </a:lvl5pPr>
      <a:lvl6pPr marL="2286000" algn="l" defTabSz="457200">
        <a:buNone/>
        <a:defRPr sz="1800" kern="1200">
          <a:solidFill>
            <a:schemeClr val="tx1"/>
          </a:solidFill>
          <a:latin typeface="+mn-lt"/>
          <a:ea typeface="+mn-lt"/>
          <a:cs typeface="+mn-lt"/>
        </a:defRPr>
      </a:lvl6pPr>
      <a:lvl7pPr marL="2743200" algn="l" defTabSz="457200">
        <a:buNone/>
        <a:defRPr sz="1800" kern="1200">
          <a:solidFill>
            <a:schemeClr val="tx1"/>
          </a:solidFill>
          <a:latin typeface="+mn-lt"/>
          <a:ea typeface="+mn-lt"/>
          <a:cs typeface="+mn-lt"/>
        </a:defRPr>
      </a:lvl7pPr>
      <a:lvl8pPr marL="3200400" algn="l" defTabSz="457200">
        <a:buNone/>
        <a:defRPr sz="1800" kern="1200">
          <a:solidFill>
            <a:schemeClr val="tx1"/>
          </a:solidFill>
          <a:latin typeface="+mn-lt"/>
          <a:ea typeface="+mn-lt"/>
          <a:cs typeface="+mn-lt"/>
        </a:defRPr>
      </a:lvl8pPr>
      <a:lvl9pPr marL="3657600" algn="l" defTabSz="457200">
        <a:buNone/>
        <a:defRPr sz="1800" kern="12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video" Target="../media/media1.mp4"/><Relationship Id="rId1" Type="http://schemas.microsoft.com/office/2007/relationships/media" Target="../media/media1.mp4"/><Relationship Id="rId4" Type="http://schemas.openxmlformats.org/officeDocument/2006/relationships/image" Target="../media/image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8001000" y="0"/>
            <a:ext cx="4190695" cy="6858000"/>
          </a:xfrm>
          <a:prstGeom prst="rect">
            <a:avLst/>
          </a:prstGeom>
          <a:solidFill>
            <a:srgbClr val="0F172A"/>
          </a:solidFill>
          <a:ln w="1270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58368" y="538246"/>
            <a:ext cx="6217920" cy="258532"/>
          </a:xfrm>
          <a:prstGeom prst="rect">
            <a:avLst/>
          </a:prstGeom>
          <a:noFill/>
        </p:spPr>
        <p:txBody>
          <a:bodyPr wrap="square" lIns="36576" tIns="36576" rIns="36576" bIns="36576" anchor="ctr">
            <a:spAutoFit/>
          </a:bodyPr>
          <a:lstStyle/>
          <a:p>
            <a:pPr algn="l">
              <a:lnSpc>
                <a:spcPct val="100000"/>
              </a:lnSpc>
              <a:defRPr sz="1000" b="1">
                <a:solidFill>
                  <a:srgbClr val="0284C7"/>
                </a:solidFill>
                <a:latin typeface="Inter"/>
              </a:defRPr>
            </a:pPr>
            <a:r>
              <a:rPr sz="1200" dirty="0"/>
              <a:t>EE136IU • CAPSTONE MINI-PROJECT</a:t>
            </a:r>
          </a:p>
        </p:txBody>
      </p:sp>
      <p:sp>
        <p:nvSpPr>
          <p:cNvPr id="5" name="TextBox 4"/>
          <p:cNvSpPr txBox="1"/>
          <p:nvPr/>
        </p:nvSpPr>
        <p:spPr>
          <a:xfrm>
            <a:off x="658368" y="1143000"/>
            <a:ext cx="6858000" cy="1417320"/>
          </a:xfrm>
          <a:prstGeom prst="rect">
            <a:avLst/>
          </a:prstGeom>
          <a:noFill/>
        </p:spPr>
        <p:txBody>
          <a:bodyPr wrap="square" lIns="36576" tIns="36576" rIns="36576" bIns="36576" anchor="ctr">
            <a:spAutoFit/>
          </a:bodyPr>
          <a:lstStyle/>
          <a:p>
            <a:pPr algn="l">
              <a:lnSpc>
                <a:spcPct val="100000"/>
              </a:lnSpc>
              <a:defRPr sz="3400" b="1">
                <a:solidFill>
                  <a:srgbClr val="0F172A"/>
                </a:solidFill>
                <a:latin typeface="Manrope"/>
              </a:defRPr>
            </a:pPr>
            <a:r>
              <a:rPr dirty="0"/>
              <a:t>Data Augmentation &amp;</a:t>
            </a:r>
            <a:br>
              <a:rPr dirty="0"/>
            </a:br>
            <a:r>
              <a:rPr dirty="0"/>
              <a:t>Noise Resilience</a:t>
            </a:r>
          </a:p>
        </p:txBody>
      </p:sp>
      <p:sp>
        <p:nvSpPr>
          <p:cNvPr id="6" name="TextBox 5"/>
          <p:cNvSpPr txBox="1"/>
          <p:nvPr/>
        </p:nvSpPr>
        <p:spPr>
          <a:xfrm>
            <a:off x="685800" y="2633472"/>
            <a:ext cx="6629400" cy="502920"/>
          </a:xfrm>
          <a:prstGeom prst="rect">
            <a:avLst/>
          </a:prstGeom>
          <a:noFill/>
        </p:spPr>
        <p:txBody>
          <a:bodyPr wrap="square" lIns="36576" tIns="36576" rIns="36576" bIns="36576" anchor="ctr">
            <a:spAutoFit/>
          </a:bodyPr>
          <a:lstStyle/>
          <a:p>
            <a:pPr algn="l">
              <a:lnSpc>
                <a:spcPct val="100000"/>
              </a:lnSpc>
              <a:defRPr sz="1800" b="0">
                <a:solidFill>
                  <a:srgbClr val="475569"/>
                </a:solidFill>
                <a:latin typeface="Inter"/>
              </a:defRPr>
            </a:pPr>
            <a:r>
              <a:t>for Low-SNR Automatic Modulation Classification</a:t>
            </a:r>
          </a:p>
        </p:txBody>
      </p:sp>
      <p:sp>
        <p:nvSpPr>
          <p:cNvPr id="7" name="Rounded Rectangle 6"/>
          <p:cNvSpPr/>
          <p:nvPr/>
        </p:nvSpPr>
        <p:spPr>
          <a:xfrm>
            <a:off x="685800" y="3401568"/>
            <a:ext cx="6355080" cy="640080"/>
          </a:xfrm>
          <a:prstGeom prst="roundRect">
            <a:avLst/>
          </a:prstGeom>
          <a:solidFill>
            <a:srgbClr val="F0F9FF"/>
          </a:solidFill>
          <a:ln w="12700">
            <a:solidFill>
              <a:srgbClr val="F0F9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32688" y="3552420"/>
            <a:ext cx="5943600" cy="320088"/>
          </a:xfrm>
          <a:prstGeom prst="rect">
            <a:avLst/>
          </a:prstGeom>
          <a:noFill/>
        </p:spPr>
        <p:txBody>
          <a:bodyPr wrap="square" lIns="36576" tIns="36576" rIns="36576" bIns="36576" anchor="ctr">
            <a:spAutoFit/>
          </a:bodyPr>
          <a:lstStyle/>
          <a:p>
            <a:pPr algn="l">
              <a:lnSpc>
                <a:spcPct val="100000"/>
              </a:lnSpc>
              <a:defRPr sz="1400" b="1">
                <a:solidFill>
                  <a:srgbClr val="2563EB"/>
                </a:solidFill>
                <a:latin typeface="Inter"/>
              </a:defRPr>
            </a:pPr>
            <a:r>
              <a:rPr sz="1600"/>
              <a:t>A controlled, paired evaluation across five training seeds</a:t>
            </a:r>
          </a:p>
        </p:txBody>
      </p:sp>
      <p:sp>
        <p:nvSpPr>
          <p:cNvPr id="9" name="TextBox 8"/>
          <p:cNvSpPr txBox="1"/>
          <p:nvPr/>
        </p:nvSpPr>
        <p:spPr>
          <a:xfrm>
            <a:off x="685800" y="5189388"/>
            <a:ext cx="6995160" cy="1304973"/>
          </a:xfrm>
          <a:prstGeom prst="rect">
            <a:avLst/>
          </a:prstGeom>
          <a:noFill/>
        </p:spPr>
        <p:txBody>
          <a:bodyPr wrap="square" lIns="36576" tIns="36576" rIns="36576" bIns="36576" anchor="ctr">
            <a:spAutoFit/>
          </a:bodyPr>
          <a:lstStyle/>
          <a:p>
            <a:pPr algn="l">
              <a:lnSpc>
                <a:spcPct val="100000"/>
              </a:lnSpc>
              <a:defRPr sz="1100" b="0">
                <a:solidFill>
                  <a:srgbClr val="475569"/>
                </a:solidFill>
                <a:latin typeface="Inter"/>
              </a:defRPr>
            </a:pPr>
            <a:r>
              <a:rPr lang="vi-VN" sz="1600" dirty="0">
                <a:solidFill>
                  <a:schemeClr val="tx1">
                    <a:lumMod val="95000"/>
                    <a:lumOff val="5000"/>
                  </a:schemeClr>
                </a:solidFill>
                <a:latin typeface="Inter"/>
              </a:rPr>
              <a:t>Bạch Lan Chi</a:t>
            </a:r>
            <a:r>
              <a:rPr lang="en-US" sz="1600" dirty="0">
                <a:solidFill>
                  <a:schemeClr val="tx1">
                    <a:lumMod val="95000"/>
                    <a:lumOff val="5000"/>
                  </a:schemeClr>
                </a:solidFill>
                <a:latin typeface="Inter"/>
              </a:rPr>
              <a:t>			</a:t>
            </a:r>
            <a:r>
              <a:rPr lang="vi-VN" sz="1600" dirty="0">
                <a:solidFill>
                  <a:schemeClr val="tx1">
                    <a:lumMod val="95000"/>
                    <a:lumOff val="5000"/>
                  </a:schemeClr>
                </a:solidFill>
                <a:latin typeface="Inter"/>
              </a:rPr>
              <a:t>— EEEEIU23026</a:t>
            </a:r>
            <a:endParaRPr lang="en-US" sz="1600" dirty="0">
              <a:solidFill>
                <a:schemeClr val="tx1">
                  <a:lumMod val="95000"/>
                  <a:lumOff val="5000"/>
                </a:schemeClr>
              </a:solidFill>
              <a:latin typeface="Inter"/>
            </a:endParaRPr>
          </a:p>
          <a:p>
            <a:pPr algn="l">
              <a:lnSpc>
                <a:spcPct val="100000"/>
              </a:lnSpc>
              <a:defRPr sz="1100" b="0">
                <a:solidFill>
                  <a:srgbClr val="475569"/>
                </a:solidFill>
                <a:latin typeface="Inter"/>
              </a:defRPr>
            </a:pPr>
            <a:r>
              <a:rPr lang="vi-VN" sz="1600" dirty="0">
                <a:solidFill>
                  <a:schemeClr val="tx1">
                    <a:lumMod val="95000"/>
                    <a:lumOff val="5000"/>
                  </a:schemeClr>
                </a:solidFill>
                <a:latin typeface="Inter"/>
              </a:rPr>
              <a:t>Tạ Nguyễn Hoàng Minh</a:t>
            </a:r>
            <a:r>
              <a:rPr lang="en-US" sz="1600" dirty="0">
                <a:solidFill>
                  <a:schemeClr val="tx1">
                    <a:lumMod val="95000"/>
                    <a:lumOff val="5000"/>
                  </a:schemeClr>
                </a:solidFill>
                <a:latin typeface="Inter"/>
              </a:rPr>
              <a:t>	</a:t>
            </a:r>
            <a:r>
              <a:rPr lang="vi-VN" sz="1600" dirty="0">
                <a:solidFill>
                  <a:schemeClr val="tx1">
                    <a:lumMod val="95000"/>
                    <a:lumOff val="5000"/>
                  </a:schemeClr>
                </a:solidFill>
                <a:latin typeface="Inter"/>
              </a:rPr>
              <a:t>— EEEEIU22084</a:t>
            </a:r>
          </a:p>
          <a:p>
            <a:pPr algn="l">
              <a:lnSpc>
                <a:spcPct val="100000"/>
              </a:lnSpc>
              <a:defRPr sz="1100" b="0">
                <a:solidFill>
                  <a:srgbClr val="475569"/>
                </a:solidFill>
                <a:latin typeface="Inter"/>
              </a:defRPr>
            </a:pPr>
            <a:r>
              <a:rPr lang="vi-VN" sz="1600" dirty="0">
                <a:solidFill>
                  <a:schemeClr val="tx1">
                    <a:lumMod val="95000"/>
                    <a:lumOff val="5000"/>
                  </a:schemeClr>
                </a:solidFill>
                <a:latin typeface="Inter"/>
              </a:rPr>
              <a:t>Trần Lâm Như Quỳnh</a:t>
            </a:r>
            <a:r>
              <a:rPr lang="en-US" sz="1600" dirty="0">
                <a:solidFill>
                  <a:schemeClr val="tx1">
                    <a:lumMod val="95000"/>
                    <a:lumOff val="5000"/>
                  </a:schemeClr>
                </a:solidFill>
                <a:latin typeface="Inter"/>
              </a:rPr>
              <a:t>		</a:t>
            </a:r>
            <a:r>
              <a:rPr lang="vi-VN" sz="1600" dirty="0">
                <a:solidFill>
                  <a:schemeClr val="tx1">
                    <a:lumMod val="95000"/>
                    <a:lumOff val="5000"/>
                  </a:schemeClr>
                </a:solidFill>
                <a:latin typeface="Inter"/>
              </a:rPr>
              <a:t>— EEEEIU23022</a:t>
            </a:r>
            <a:endParaRPr lang="en-US" sz="1600" dirty="0">
              <a:solidFill>
                <a:schemeClr val="tx1">
                  <a:lumMod val="95000"/>
                  <a:lumOff val="5000"/>
                </a:schemeClr>
              </a:solidFill>
              <a:latin typeface="Inter"/>
            </a:endParaRPr>
          </a:p>
          <a:p>
            <a:pPr algn="l">
              <a:lnSpc>
                <a:spcPct val="100000"/>
              </a:lnSpc>
              <a:defRPr sz="1100" b="0">
                <a:solidFill>
                  <a:srgbClr val="475569"/>
                </a:solidFill>
                <a:latin typeface="Inter"/>
              </a:defRPr>
            </a:pPr>
            <a:r>
              <a:rPr lang="vi-VN" sz="1600" dirty="0">
                <a:solidFill>
                  <a:schemeClr val="tx1">
                    <a:lumMod val="95000"/>
                    <a:lumOff val="5000"/>
                  </a:schemeClr>
                </a:solidFill>
                <a:latin typeface="Inter"/>
              </a:rPr>
              <a:t>Nguyễn Quang Trung</a:t>
            </a:r>
            <a:r>
              <a:rPr lang="en-US" sz="1600" dirty="0">
                <a:solidFill>
                  <a:schemeClr val="tx1">
                    <a:lumMod val="95000"/>
                    <a:lumOff val="5000"/>
                  </a:schemeClr>
                </a:solidFill>
                <a:latin typeface="Inter"/>
              </a:rPr>
              <a:t>		</a:t>
            </a:r>
            <a:r>
              <a:rPr lang="vi-VN" sz="1600" dirty="0">
                <a:solidFill>
                  <a:schemeClr val="tx1">
                    <a:lumMod val="95000"/>
                    <a:lumOff val="5000"/>
                  </a:schemeClr>
                </a:solidFill>
                <a:latin typeface="Inter"/>
              </a:rPr>
              <a:t>— EEEEIU21053</a:t>
            </a:r>
          </a:p>
          <a:p>
            <a:pPr algn="l">
              <a:lnSpc>
                <a:spcPct val="100000"/>
              </a:lnSpc>
              <a:defRPr sz="1100" b="0">
                <a:solidFill>
                  <a:srgbClr val="475569"/>
                </a:solidFill>
                <a:latin typeface="Inter"/>
              </a:defRPr>
            </a:pPr>
            <a:r>
              <a:rPr lang="vi-VN" sz="1600" dirty="0">
                <a:solidFill>
                  <a:schemeClr val="tx1">
                    <a:lumMod val="95000"/>
                    <a:lumOff val="5000"/>
                  </a:schemeClr>
                </a:solidFill>
                <a:latin typeface="Inter"/>
              </a:rPr>
              <a:t>Phạm Trần Nhật Thành</a:t>
            </a:r>
            <a:r>
              <a:rPr lang="en-US" sz="1600" dirty="0">
                <a:solidFill>
                  <a:schemeClr val="tx1">
                    <a:lumMod val="95000"/>
                    <a:lumOff val="5000"/>
                  </a:schemeClr>
                </a:solidFill>
                <a:latin typeface="Inter"/>
              </a:rPr>
              <a:t>	</a:t>
            </a:r>
            <a:r>
              <a:rPr lang="vi-VN" sz="1600" dirty="0">
                <a:solidFill>
                  <a:schemeClr val="tx1">
                    <a:lumMod val="95000"/>
                    <a:lumOff val="5000"/>
                  </a:schemeClr>
                </a:solidFill>
                <a:latin typeface="Inter"/>
              </a:rPr>
              <a:t>— EEEEIU21050</a:t>
            </a:r>
            <a:endParaRPr sz="1600" dirty="0">
              <a:solidFill>
                <a:schemeClr val="tx1">
                  <a:lumMod val="95000"/>
                  <a:lumOff val="5000"/>
                </a:schemeClr>
              </a:solidFill>
              <a:latin typeface="Inter"/>
            </a:endParaRPr>
          </a:p>
        </p:txBody>
      </p:sp>
      <p:sp>
        <p:nvSpPr>
          <p:cNvPr id="11" name="TextBox 10"/>
          <p:cNvSpPr txBox="1"/>
          <p:nvPr/>
        </p:nvSpPr>
        <p:spPr>
          <a:xfrm>
            <a:off x="8485632" y="625114"/>
            <a:ext cx="3017520" cy="258532"/>
          </a:xfrm>
          <a:prstGeom prst="rect">
            <a:avLst/>
          </a:prstGeom>
          <a:noFill/>
        </p:spPr>
        <p:txBody>
          <a:bodyPr wrap="square" lIns="36576" tIns="36576" rIns="36576" bIns="36576" anchor="ctr">
            <a:spAutoFit/>
          </a:bodyPr>
          <a:lstStyle/>
          <a:p>
            <a:pPr algn="l">
              <a:lnSpc>
                <a:spcPct val="100000"/>
              </a:lnSpc>
              <a:defRPr sz="1000" b="1">
                <a:solidFill>
                  <a:srgbClr val="7DD3FC"/>
                </a:solidFill>
                <a:latin typeface="Inter"/>
              </a:defRPr>
            </a:pPr>
            <a:r>
              <a:rPr sz="1200"/>
              <a:t>8 MODULATIONS</a:t>
            </a:r>
          </a:p>
        </p:txBody>
      </p:sp>
      <p:sp>
        <p:nvSpPr>
          <p:cNvPr id="12" name="Oval 11"/>
          <p:cNvSpPr/>
          <p:nvPr/>
        </p:nvSpPr>
        <p:spPr>
          <a:xfrm>
            <a:off x="8732520" y="1325880"/>
            <a:ext cx="118872" cy="118872"/>
          </a:xfrm>
          <a:prstGeom prst="ellipse">
            <a:avLst/>
          </a:prstGeom>
          <a:solidFill>
            <a:srgbClr val="38BDF8"/>
          </a:solidFill>
          <a:ln>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8732520" y="2039112"/>
            <a:ext cx="118872" cy="118872"/>
          </a:xfrm>
          <a:prstGeom prst="ellipse">
            <a:avLst/>
          </a:prstGeom>
          <a:solidFill>
            <a:srgbClr val="38BDF8"/>
          </a:solidFill>
          <a:ln>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8732520" y="2752344"/>
            <a:ext cx="118872" cy="118872"/>
          </a:xfrm>
          <a:prstGeom prst="ellipse">
            <a:avLst/>
          </a:prstGeom>
          <a:solidFill>
            <a:srgbClr val="38BDF8"/>
          </a:solidFill>
          <a:ln>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8732520" y="3465576"/>
            <a:ext cx="118872" cy="118872"/>
          </a:xfrm>
          <a:prstGeom prst="ellipse">
            <a:avLst/>
          </a:prstGeom>
          <a:solidFill>
            <a:srgbClr val="38BDF8"/>
          </a:solidFill>
          <a:ln>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9445752" y="1325880"/>
            <a:ext cx="118872" cy="118872"/>
          </a:xfrm>
          <a:prstGeom prst="ellipse">
            <a:avLst/>
          </a:prstGeom>
          <a:solidFill>
            <a:srgbClr val="38BDF8"/>
          </a:solidFill>
          <a:ln>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9445752" y="2039112"/>
            <a:ext cx="118872" cy="118872"/>
          </a:xfrm>
          <a:prstGeom prst="ellipse">
            <a:avLst/>
          </a:prstGeom>
          <a:solidFill>
            <a:srgbClr val="38BDF8"/>
          </a:solidFill>
          <a:ln>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Oval 17"/>
          <p:cNvSpPr/>
          <p:nvPr/>
        </p:nvSpPr>
        <p:spPr>
          <a:xfrm>
            <a:off x="9445752" y="2752344"/>
            <a:ext cx="118872" cy="118872"/>
          </a:xfrm>
          <a:prstGeom prst="ellipse">
            <a:avLst/>
          </a:prstGeom>
          <a:solidFill>
            <a:srgbClr val="38BDF8"/>
          </a:solidFill>
          <a:ln>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9445752" y="3465576"/>
            <a:ext cx="118872" cy="118872"/>
          </a:xfrm>
          <a:prstGeom prst="ellipse">
            <a:avLst/>
          </a:prstGeom>
          <a:solidFill>
            <a:srgbClr val="38BDF8"/>
          </a:solidFill>
          <a:ln>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Oval 19"/>
          <p:cNvSpPr/>
          <p:nvPr/>
        </p:nvSpPr>
        <p:spPr>
          <a:xfrm>
            <a:off x="10158984" y="1325880"/>
            <a:ext cx="118872" cy="118872"/>
          </a:xfrm>
          <a:prstGeom prst="ellipse">
            <a:avLst/>
          </a:prstGeom>
          <a:solidFill>
            <a:srgbClr val="38BDF8"/>
          </a:solidFill>
          <a:ln>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10158984" y="2039112"/>
            <a:ext cx="118872" cy="118872"/>
          </a:xfrm>
          <a:prstGeom prst="ellipse">
            <a:avLst/>
          </a:prstGeom>
          <a:solidFill>
            <a:srgbClr val="38BDF8"/>
          </a:solidFill>
          <a:ln>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Oval 21"/>
          <p:cNvSpPr/>
          <p:nvPr/>
        </p:nvSpPr>
        <p:spPr>
          <a:xfrm>
            <a:off x="10158984" y="2752344"/>
            <a:ext cx="118872" cy="118872"/>
          </a:xfrm>
          <a:prstGeom prst="ellipse">
            <a:avLst/>
          </a:prstGeom>
          <a:solidFill>
            <a:srgbClr val="38BDF8"/>
          </a:solidFill>
          <a:ln>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Oval 22"/>
          <p:cNvSpPr/>
          <p:nvPr/>
        </p:nvSpPr>
        <p:spPr>
          <a:xfrm>
            <a:off x="10158984" y="3465576"/>
            <a:ext cx="118872" cy="118872"/>
          </a:xfrm>
          <a:prstGeom prst="ellipse">
            <a:avLst/>
          </a:prstGeom>
          <a:solidFill>
            <a:srgbClr val="38BDF8"/>
          </a:solidFill>
          <a:ln>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10872216" y="1325880"/>
            <a:ext cx="118872" cy="118872"/>
          </a:xfrm>
          <a:prstGeom prst="ellipse">
            <a:avLst/>
          </a:prstGeom>
          <a:solidFill>
            <a:srgbClr val="38BDF8"/>
          </a:solidFill>
          <a:ln>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Oval 24"/>
          <p:cNvSpPr/>
          <p:nvPr/>
        </p:nvSpPr>
        <p:spPr>
          <a:xfrm>
            <a:off x="10872216" y="2039112"/>
            <a:ext cx="118872" cy="118872"/>
          </a:xfrm>
          <a:prstGeom prst="ellipse">
            <a:avLst/>
          </a:prstGeom>
          <a:solidFill>
            <a:srgbClr val="38BDF8"/>
          </a:solidFill>
          <a:ln>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Oval 25"/>
          <p:cNvSpPr/>
          <p:nvPr/>
        </p:nvSpPr>
        <p:spPr>
          <a:xfrm>
            <a:off x="10872216" y="2752344"/>
            <a:ext cx="118872" cy="118872"/>
          </a:xfrm>
          <a:prstGeom prst="ellipse">
            <a:avLst/>
          </a:prstGeom>
          <a:solidFill>
            <a:srgbClr val="38BDF8"/>
          </a:solidFill>
          <a:ln>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Oval 26"/>
          <p:cNvSpPr/>
          <p:nvPr/>
        </p:nvSpPr>
        <p:spPr>
          <a:xfrm>
            <a:off x="10872216" y="3465576"/>
            <a:ext cx="118872" cy="118872"/>
          </a:xfrm>
          <a:prstGeom prst="ellipse">
            <a:avLst/>
          </a:prstGeom>
          <a:solidFill>
            <a:srgbClr val="38BDF8"/>
          </a:solidFill>
          <a:ln>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8" name="Connector 27"/>
          <p:cNvCxnSpPr/>
          <p:nvPr/>
        </p:nvCxnSpPr>
        <p:spPr>
          <a:xfrm>
            <a:off x="8485632" y="2459736"/>
            <a:ext cx="2962656" cy="0"/>
          </a:xfrm>
          <a:prstGeom prst="line">
            <a:avLst/>
          </a:prstGeom>
          <a:ln w="12700">
            <a:solidFill>
              <a:srgbClr val="334155"/>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10021824" y="1124712"/>
            <a:ext cx="0" cy="2971800"/>
          </a:xfrm>
          <a:prstGeom prst="line">
            <a:avLst/>
          </a:prstGeom>
          <a:ln w="12700">
            <a:solidFill>
              <a:srgbClr val="334155"/>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8485632" y="4663440"/>
            <a:ext cx="2468880" cy="502920"/>
          </a:xfrm>
          <a:prstGeom prst="rect">
            <a:avLst/>
          </a:prstGeom>
          <a:noFill/>
        </p:spPr>
        <p:txBody>
          <a:bodyPr wrap="square" lIns="36576" tIns="36576" rIns="36576" bIns="36576" anchor="ctr">
            <a:spAutoFit/>
          </a:bodyPr>
          <a:lstStyle/>
          <a:p>
            <a:pPr algn="l">
              <a:lnSpc>
                <a:spcPct val="100000"/>
              </a:lnSpc>
              <a:defRPr sz="2700" b="1">
                <a:solidFill>
                  <a:srgbClr val="FFFFFF"/>
                </a:solidFill>
                <a:latin typeface="Manrope"/>
              </a:defRPr>
            </a:pPr>
            <a:r>
              <a:t>21,480</a:t>
            </a:r>
          </a:p>
        </p:txBody>
      </p:sp>
      <p:sp>
        <p:nvSpPr>
          <p:cNvPr id="31" name="TextBox 30"/>
          <p:cNvSpPr txBox="1"/>
          <p:nvPr/>
        </p:nvSpPr>
        <p:spPr>
          <a:xfrm>
            <a:off x="8503920" y="5166360"/>
            <a:ext cx="2468880" cy="274320"/>
          </a:xfrm>
          <a:prstGeom prst="rect">
            <a:avLst/>
          </a:prstGeom>
          <a:noFill/>
        </p:spPr>
        <p:txBody>
          <a:bodyPr wrap="square" lIns="36576" tIns="36576" rIns="36576" bIns="36576" anchor="ctr">
            <a:spAutoFit/>
          </a:bodyPr>
          <a:lstStyle/>
          <a:p>
            <a:pPr algn="l">
              <a:lnSpc>
                <a:spcPct val="100000"/>
              </a:lnSpc>
              <a:defRPr sz="1100" b="0">
                <a:solidFill>
                  <a:srgbClr val="CBD5E1"/>
                </a:solidFill>
                <a:latin typeface="Inter"/>
              </a:defRPr>
            </a:pPr>
            <a:r>
              <a:rPr sz="1300"/>
              <a:t>unique I/Q bursts</a:t>
            </a:r>
          </a:p>
        </p:txBody>
      </p:sp>
      <p:sp>
        <p:nvSpPr>
          <p:cNvPr id="32" name="TextBox 31"/>
          <p:cNvSpPr txBox="1"/>
          <p:nvPr/>
        </p:nvSpPr>
        <p:spPr>
          <a:xfrm>
            <a:off x="8503920" y="5786902"/>
            <a:ext cx="2926080" cy="258532"/>
          </a:xfrm>
          <a:prstGeom prst="rect">
            <a:avLst/>
          </a:prstGeom>
          <a:noFill/>
        </p:spPr>
        <p:txBody>
          <a:bodyPr wrap="square" lIns="36576" tIns="36576" rIns="36576" bIns="36576" anchor="ctr">
            <a:spAutoFit/>
          </a:bodyPr>
          <a:lstStyle/>
          <a:p>
            <a:pPr algn="l">
              <a:lnSpc>
                <a:spcPct val="100000"/>
              </a:lnSpc>
              <a:defRPr sz="1000" b="1">
                <a:solidFill>
                  <a:srgbClr val="7DD3FC"/>
                </a:solidFill>
                <a:latin typeface="Inter"/>
              </a:defRPr>
            </a:pPr>
            <a:r>
              <a:rPr sz="1200"/>
              <a:t>15 SNR levels  ·  5 seeds</a:t>
            </a:r>
          </a:p>
        </p:txBody>
      </p:sp>
      <p:sp>
        <p:nvSpPr>
          <p:cNvPr id="34" name="TextBox 33">
            <a:extLst>
              <a:ext uri="{FF2B5EF4-FFF2-40B4-BE49-F238E27FC236}">
                <a16:creationId xmlns:a16="http://schemas.microsoft.com/office/drawing/2014/main" id="{237EB558-301F-2A3C-5E7C-63EAD5211B99}"/>
              </a:ext>
            </a:extLst>
          </p:cNvPr>
          <p:cNvSpPr txBox="1"/>
          <p:nvPr/>
        </p:nvSpPr>
        <p:spPr>
          <a:xfrm>
            <a:off x="685800" y="4890982"/>
            <a:ext cx="6217920" cy="258532"/>
          </a:xfrm>
          <a:prstGeom prst="rect">
            <a:avLst/>
          </a:prstGeom>
          <a:noFill/>
        </p:spPr>
        <p:txBody>
          <a:bodyPr wrap="square" lIns="36576" tIns="36576" rIns="36576" bIns="36576" anchor="ctr">
            <a:spAutoFit/>
          </a:bodyPr>
          <a:lstStyle/>
          <a:p>
            <a:pPr algn="l">
              <a:lnSpc>
                <a:spcPct val="100000"/>
              </a:lnSpc>
              <a:defRPr sz="1000" b="1">
                <a:solidFill>
                  <a:srgbClr val="0284C7"/>
                </a:solidFill>
                <a:latin typeface="Inter"/>
              </a:defRPr>
            </a:pPr>
            <a:r>
              <a:rPr lang="en-US" sz="1200" dirty="0"/>
              <a:t>MEMBERS</a:t>
            </a:r>
            <a:endParaRPr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11480" y="190774"/>
            <a:ext cx="3840480" cy="258532"/>
          </a:xfrm>
          <a:prstGeom prst="rect">
            <a:avLst/>
          </a:prstGeom>
          <a:noFill/>
        </p:spPr>
        <p:txBody>
          <a:bodyPr wrap="square" lIns="36576" tIns="36576" rIns="36576" bIns="36576" anchor="ctr">
            <a:spAutoFit/>
          </a:bodyPr>
          <a:lstStyle/>
          <a:p>
            <a:pPr algn="l">
              <a:lnSpc>
                <a:spcPct val="100000"/>
              </a:lnSpc>
              <a:defRPr sz="1000" b="1">
                <a:solidFill>
                  <a:srgbClr val="0284C7"/>
                </a:solidFill>
                <a:latin typeface="Inter"/>
              </a:defRPr>
            </a:pPr>
            <a:r>
              <a:rPr sz="1200"/>
              <a:t>01 · PROBLEM</a:t>
            </a:r>
          </a:p>
        </p:txBody>
      </p:sp>
      <p:sp>
        <p:nvSpPr>
          <p:cNvPr id="3" name="TextBox 2"/>
          <p:cNvSpPr txBox="1"/>
          <p:nvPr/>
        </p:nvSpPr>
        <p:spPr>
          <a:xfrm>
            <a:off x="411480" y="438912"/>
            <a:ext cx="10744200" cy="640080"/>
          </a:xfrm>
          <a:prstGeom prst="rect">
            <a:avLst/>
          </a:prstGeom>
          <a:noFill/>
        </p:spPr>
        <p:txBody>
          <a:bodyPr wrap="square" lIns="36576" tIns="36576" rIns="36576" bIns="36576" anchor="ctr">
            <a:spAutoFit/>
          </a:bodyPr>
          <a:lstStyle/>
          <a:p>
            <a:pPr algn="l">
              <a:lnSpc>
                <a:spcPct val="100000"/>
              </a:lnSpc>
              <a:defRPr sz="3000" b="1">
                <a:solidFill>
                  <a:srgbClr val="0F172A"/>
                </a:solidFill>
                <a:latin typeface="Manrope"/>
              </a:defRPr>
            </a:pPr>
            <a:r>
              <a:t>AMC becomes difficult at low SNR</a:t>
            </a:r>
          </a:p>
        </p:txBody>
      </p:sp>
      <p:sp>
        <p:nvSpPr>
          <p:cNvPr id="4" name="TextBox 3"/>
          <p:cNvSpPr txBox="1"/>
          <p:nvPr/>
        </p:nvSpPr>
        <p:spPr>
          <a:xfrm>
            <a:off x="411480" y="1080641"/>
            <a:ext cx="10561320" cy="289310"/>
          </a:xfrm>
          <a:prstGeom prst="rect">
            <a:avLst/>
          </a:prstGeom>
          <a:noFill/>
        </p:spPr>
        <p:txBody>
          <a:bodyPr wrap="square" lIns="36576" tIns="36576" rIns="36576" bIns="36576" anchor="ctr">
            <a:spAutoFit/>
          </a:bodyPr>
          <a:lstStyle/>
          <a:p>
            <a:pPr algn="l">
              <a:lnSpc>
                <a:spcPct val="100000"/>
              </a:lnSpc>
              <a:defRPr sz="1200" b="0">
                <a:solidFill>
                  <a:srgbClr val="64748B"/>
                </a:solidFill>
                <a:latin typeface="Inter"/>
              </a:defRPr>
            </a:pPr>
            <a:r>
              <a:rPr sz="1400"/>
              <a:t>One burst in, one modulation label out — under severe noise</a:t>
            </a:r>
          </a:p>
        </p:txBody>
      </p:sp>
      <p:cxnSp>
        <p:nvCxnSpPr>
          <p:cNvPr id="5" name="Connector 4"/>
          <p:cNvCxnSpPr/>
          <p:nvPr/>
        </p:nvCxnSpPr>
        <p:spPr>
          <a:xfrm>
            <a:off x="411480" y="1435608"/>
            <a:ext cx="11365992" cy="0"/>
          </a:xfrm>
          <a:prstGeom prst="line">
            <a:avLst/>
          </a:prstGeom>
          <a:ln w="12700">
            <a:solidFill>
              <a:srgbClr val="E2E8F0"/>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11480" y="6515523"/>
            <a:ext cx="6126480" cy="227755"/>
          </a:xfrm>
          <a:prstGeom prst="rect">
            <a:avLst/>
          </a:prstGeom>
          <a:noFill/>
        </p:spPr>
        <p:txBody>
          <a:bodyPr wrap="square" lIns="36576" tIns="36576" rIns="36576" bIns="36576" anchor="ctr">
            <a:spAutoFit/>
          </a:bodyPr>
          <a:lstStyle/>
          <a:p>
            <a:pPr algn="l">
              <a:lnSpc>
                <a:spcPct val="100000"/>
              </a:lnSpc>
              <a:defRPr sz="900" b="0">
                <a:solidFill>
                  <a:srgbClr val="64748B"/>
                </a:solidFill>
                <a:latin typeface="Inter"/>
              </a:defRPr>
            </a:pPr>
            <a:r>
              <a:rPr sz="1000"/>
              <a:t>EE136: Machine Learning for Wireless Communications</a:t>
            </a:r>
          </a:p>
        </p:txBody>
      </p:sp>
      <p:sp>
        <p:nvSpPr>
          <p:cNvPr id="7" name="TextBox 6"/>
          <p:cNvSpPr txBox="1"/>
          <p:nvPr/>
        </p:nvSpPr>
        <p:spPr>
          <a:xfrm>
            <a:off x="10222992" y="6515523"/>
            <a:ext cx="1554480" cy="227755"/>
          </a:xfrm>
          <a:prstGeom prst="rect">
            <a:avLst/>
          </a:prstGeom>
          <a:noFill/>
        </p:spPr>
        <p:txBody>
          <a:bodyPr wrap="square" lIns="36576" tIns="36576" rIns="36576" bIns="36576" anchor="ctr">
            <a:spAutoFit/>
          </a:bodyPr>
          <a:lstStyle/>
          <a:p>
            <a:pPr algn="r">
              <a:lnSpc>
                <a:spcPct val="100000"/>
              </a:lnSpc>
              <a:defRPr sz="900" b="0">
                <a:solidFill>
                  <a:srgbClr val="64748B"/>
                </a:solidFill>
                <a:latin typeface="Inter"/>
              </a:defRPr>
            </a:pPr>
            <a:r>
              <a:rPr sz="1000"/>
              <a:t>Slide 2 of 12</a:t>
            </a:r>
          </a:p>
        </p:txBody>
      </p:sp>
      <p:sp>
        <p:nvSpPr>
          <p:cNvPr id="8" name="Rounded Rectangle 7"/>
          <p:cNvSpPr/>
          <p:nvPr/>
        </p:nvSpPr>
        <p:spPr>
          <a:xfrm>
            <a:off x="658368" y="1691640"/>
            <a:ext cx="3383280" cy="1874519"/>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77824" y="1897578"/>
            <a:ext cx="411480" cy="273921"/>
          </a:xfrm>
          <a:prstGeom prst="rect">
            <a:avLst/>
          </a:prstGeom>
          <a:noFill/>
        </p:spPr>
        <p:txBody>
          <a:bodyPr wrap="square" lIns="36576" tIns="36576" rIns="36576" bIns="36576" anchor="ctr">
            <a:spAutoFit/>
          </a:bodyPr>
          <a:lstStyle/>
          <a:p>
            <a:pPr algn="l">
              <a:lnSpc>
                <a:spcPct val="100000"/>
              </a:lnSpc>
              <a:defRPr sz="1100" b="1">
                <a:solidFill>
                  <a:srgbClr val="0284C7"/>
                </a:solidFill>
                <a:latin typeface="Inter"/>
              </a:defRPr>
            </a:pPr>
            <a:r>
              <a:rPr sz="1300"/>
              <a:t>01</a:t>
            </a:r>
          </a:p>
        </p:txBody>
      </p:sp>
      <p:sp>
        <p:nvSpPr>
          <p:cNvPr id="10" name="TextBox 9"/>
          <p:cNvSpPr txBox="1"/>
          <p:nvPr/>
        </p:nvSpPr>
        <p:spPr>
          <a:xfrm>
            <a:off x="1362456" y="1890107"/>
            <a:ext cx="2194560" cy="243143"/>
          </a:xfrm>
          <a:prstGeom prst="rect">
            <a:avLst/>
          </a:prstGeom>
          <a:noFill/>
        </p:spPr>
        <p:txBody>
          <a:bodyPr wrap="square" lIns="36576" tIns="36576" rIns="36576" bIns="36576" anchor="ctr">
            <a:spAutoFit/>
          </a:bodyPr>
          <a:lstStyle/>
          <a:p>
            <a:pPr algn="l">
              <a:lnSpc>
                <a:spcPct val="100000"/>
              </a:lnSpc>
              <a:defRPr sz="900" b="1">
                <a:solidFill>
                  <a:srgbClr val="64748B"/>
                </a:solidFill>
                <a:latin typeface="Inter"/>
              </a:defRPr>
            </a:pPr>
            <a:r>
              <a:rPr sz="1100"/>
              <a:t>INPUT</a:t>
            </a:r>
          </a:p>
        </p:txBody>
      </p:sp>
      <p:sp>
        <p:nvSpPr>
          <p:cNvPr id="11" name="TextBox 10"/>
          <p:cNvSpPr txBox="1"/>
          <p:nvPr/>
        </p:nvSpPr>
        <p:spPr>
          <a:xfrm>
            <a:off x="877824" y="2331720"/>
            <a:ext cx="2834640" cy="438912"/>
          </a:xfrm>
          <a:prstGeom prst="rect">
            <a:avLst/>
          </a:prstGeom>
          <a:noFill/>
        </p:spPr>
        <p:txBody>
          <a:bodyPr wrap="square" lIns="36576" tIns="36576" rIns="36576" bIns="36576" anchor="ctr">
            <a:spAutoFit/>
          </a:bodyPr>
          <a:lstStyle/>
          <a:p>
            <a:pPr algn="l">
              <a:lnSpc>
                <a:spcPct val="100000"/>
              </a:lnSpc>
              <a:defRPr sz="2400" b="1">
                <a:solidFill>
                  <a:srgbClr val="0F172A"/>
                </a:solidFill>
                <a:latin typeface="Manrope"/>
              </a:defRPr>
            </a:pPr>
            <a:r>
              <a:t>I/Q burst</a:t>
            </a:r>
          </a:p>
        </p:txBody>
      </p:sp>
      <p:sp>
        <p:nvSpPr>
          <p:cNvPr id="12" name="TextBox 11"/>
          <p:cNvSpPr txBox="1"/>
          <p:nvPr/>
        </p:nvSpPr>
        <p:spPr>
          <a:xfrm>
            <a:off x="877824" y="2970550"/>
            <a:ext cx="2834640" cy="258532"/>
          </a:xfrm>
          <a:prstGeom prst="rect">
            <a:avLst/>
          </a:prstGeom>
          <a:noFill/>
        </p:spPr>
        <p:txBody>
          <a:bodyPr wrap="square" lIns="36576" tIns="36576" rIns="36576" bIns="36576" anchor="ctr">
            <a:spAutoFit/>
          </a:bodyPr>
          <a:lstStyle/>
          <a:p>
            <a:pPr algn="l">
              <a:lnSpc>
                <a:spcPct val="100000"/>
              </a:lnSpc>
              <a:defRPr sz="1000" b="0">
                <a:solidFill>
                  <a:srgbClr val="475569"/>
                </a:solidFill>
                <a:latin typeface="Inter"/>
              </a:defRPr>
            </a:pPr>
            <a:r>
              <a:rPr sz="1200"/>
              <a:t>Tensor [2, 128]</a:t>
            </a:r>
          </a:p>
        </p:txBody>
      </p:sp>
      <p:sp>
        <p:nvSpPr>
          <p:cNvPr id="13" name="Chevron 12"/>
          <p:cNvSpPr/>
          <p:nvPr/>
        </p:nvSpPr>
        <p:spPr>
          <a:xfrm>
            <a:off x="4096511" y="2404872"/>
            <a:ext cx="274320" cy="347472"/>
          </a:xfrm>
          <a:prstGeom prst="chevron">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ounded Rectangle 13"/>
          <p:cNvSpPr/>
          <p:nvPr/>
        </p:nvSpPr>
        <p:spPr>
          <a:xfrm>
            <a:off x="4434840" y="1691640"/>
            <a:ext cx="3383280" cy="1874519"/>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654296" y="1897578"/>
            <a:ext cx="411480" cy="273921"/>
          </a:xfrm>
          <a:prstGeom prst="rect">
            <a:avLst/>
          </a:prstGeom>
          <a:noFill/>
        </p:spPr>
        <p:txBody>
          <a:bodyPr wrap="square" lIns="36576" tIns="36576" rIns="36576" bIns="36576" anchor="ctr">
            <a:spAutoFit/>
          </a:bodyPr>
          <a:lstStyle/>
          <a:p>
            <a:pPr algn="l">
              <a:lnSpc>
                <a:spcPct val="100000"/>
              </a:lnSpc>
              <a:defRPr sz="1100" b="1">
                <a:solidFill>
                  <a:srgbClr val="0284C7"/>
                </a:solidFill>
                <a:latin typeface="Inter"/>
              </a:defRPr>
            </a:pPr>
            <a:r>
              <a:rPr sz="1300"/>
              <a:t>02</a:t>
            </a:r>
          </a:p>
        </p:txBody>
      </p:sp>
      <p:sp>
        <p:nvSpPr>
          <p:cNvPr id="16" name="TextBox 15"/>
          <p:cNvSpPr txBox="1"/>
          <p:nvPr/>
        </p:nvSpPr>
        <p:spPr>
          <a:xfrm>
            <a:off x="5138927" y="1890107"/>
            <a:ext cx="2194560" cy="243143"/>
          </a:xfrm>
          <a:prstGeom prst="rect">
            <a:avLst/>
          </a:prstGeom>
          <a:noFill/>
        </p:spPr>
        <p:txBody>
          <a:bodyPr wrap="square" lIns="36576" tIns="36576" rIns="36576" bIns="36576" anchor="ctr">
            <a:spAutoFit/>
          </a:bodyPr>
          <a:lstStyle/>
          <a:p>
            <a:pPr algn="l">
              <a:lnSpc>
                <a:spcPct val="100000"/>
              </a:lnSpc>
              <a:defRPr sz="900" b="1">
                <a:solidFill>
                  <a:srgbClr val="64748B"/>
                </a:solidFill>
                <a:latin typeface="Inter"/>
              </a:defRPr>
            </a:pPr>
            <a:r>
              <a:rPr sz="1100"/>
              <a:t>TASK</a:t>
            </a:r>
          </a:p>
        </p:txBody>
      </p:sp>
      <p:sp>
        <p:nvSpPr>
          <p:cNvPr id="17" name="TextBox 16"/>
          <p:cNvSpPr txBox="1"/>
          <p:nvPr/>
        </p:nvSpPr>
        <p:spPr>
          <a:xfrm>
            <a:off x="4654296" y="2331720"/>
            <a:ext cx="2834640" cy="438912"/>
          </a:xfrm>
          <a:prstGeom prst="rect">
            <a:avLst/>
          </a:prstGeom>
          <a:noFill/>
        </p:spPr>
        <p:txBody>
          <a:bodyPr wrap="square" lIns="36576" tIns="36576" rIns="36576" bIns="36576" anchor="ctr">
            <a:spAutoFit/>
          </a:bodyPr>
          <a:lstStyle/>
          <a:p>
            <a:pPr algn="l">
              <a:lnSpc>
                <a:spcPct val="100000"/>
              </a:lnSpc>
              <a:defRPr sz="2400" b="1">
                <a:solidFill>
                  <a:srgbClr val="0F172A"/>
                </a:solidFill>
                <a:latin typeface="Manrope"/>
              </a:defRPr>
            </a:pPr>
            <a:r>
              <a:t>8 classes</a:t>
            </a:r>
          </a:p>
        </p:txBody>
      </p:sp>
      <p:sp>
        <p:nvSpPr>
          <p:cNvPr id="18" name="TextBox 17"/>
          <p:cNvSpPr txBox="1"/>
          <p:nvPr/>
        </p:nvSpPr>
        <p:spPr>
          <a:xfrm>
            <a:off x="4654296" y="2970550"/>
            <a:ext cx="2834640" cy="258532"/>
          </a:xfrm>
          <a:prstGeom prst="rect">
            <a:avLst/>
          </a:prstGeom>
          <a:noFill/>
        </p:spPr>
        <p:txBody>
          <a:bodyPr wrap="square" lIns="36576" tIns="36576" rIns="36576" bIns="36576" anchor="ctr">
            <a:spAutoFit/>
          </a:bodyPr>
          <a:lstStyle/>
          <a:p>
            <a:pPr algn="l">
              <a:lnSpc>
                <a:spcPct val="100000"/>
              </a:lnSpc>
              <a:defRPr sz="1000" b="0">
                <a:solidFill>
                  <a:srgbClr val="475569"/>
                </a:solidFill>
                <a:latin typeface="Inter"/>
              </a:defRPr>
            </a:pPr>
            <a:r>
              <a:rPr sz="1200"/>
              <a:t>PSK · QAM · PAM · FSK</a:t>
            </a:r>
          </a:p>
        </p:txBody>
      </p:sp>
      <p:sp>
        <p:nvSpPr>
          <p:cNvPr id="19" name="Chevron 18"/>
          <p:cNvSpPr/>
          <p:nvPr/>
        </p:nvSpPr>
        <p:spPr>
          <a:xfrm>
            <a:off x="7872983" y="2404872"/>
            <a:ext cx="274320" cy="347472"/>
          </a:xfrm>
          <a:prstGeom prst="chevron">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ounded Rectangle 19"/>
          <p:cNvSpPr/>
          <p:nvPr/>
        </p:nvSpPr>
        <p:spPr>
          <a:xfrm>
            <a:off x="8211312" y="1691640"/>
            <a:ext cx="3383280" cy="1874519"/>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430768" y="1897578"/>
            <a:ext cx="411480" cy="273921"/>
          </a:xfrm>
          <a:prstGeom prst="rect">
            <a:avLst/>
          </a:prstGeom>
          <a:noFill/>
        </p:spPr>
        <p:txBody>
          <a:bodyPr wrap="square" lIns="36576" tIns="36576" rIns="36576" bIns="36576" anchor="ctr">
            <a:spAutoFit/>
          </a:bodyPr>
          <a:lstStyle/>
          <a:p>
            <a:pPr algn="l">
              <a:lnSpc>
                <a:spcPct val="100000"/>
              </a:lnSpc>
              <a:defRPr sz="1100" b="1">
                <a:solidFill>
                  <a:srgbClr val="0284C7"/>
                </a:solidFill>
                <a:latin typeface="Inter"/>
              </a:defRPr>
            </a:pPr>
            <a:r>
              <a:rPr sz="1300"/>
              <a:t>03</a:t>
            </a:r>
          </a:p>
        </p:txBody>
      </p:sp>
      <p:sp>
        <p:nvSpPr>
          <p:cNvPr id="22" name="TextBox 21"/>
          <p:cNvSpPr txBox="1"/>
          <p:nvPr/>
        </p:nvSpPr>
        <p:spPr>
          <a:xfrm>
            <a:off x="8915400" y="1890107"/>
            <a:ext cx="2194560" cy="243143"/>
          </a:xfrm>
          <a:prstGeom prst="rect">
            <a:avLst/>
          </a:prstGeom>
          <a:noFill/>
        </p:spPr>
        <p:txBody>
          <a:bodyPr wrap="square" lIns="36576" tIns="36576" rIns="36576" bIns="36576" anchor="ctr">
            <a:spAutoFit/>
          </a:bodyPr>
          <a:lstStyle/>
          <a:p>
            <a:pPr algn="l">
              <a:lnSpc>
                <a:spcPct val="100000"/>
              </a:lnSpc>
              <a:defRPr sz="900" b="1">
                <a:solidFill>
                  <a:srgbClr val="64748B"/>
                </a:solidFill>
                <a:latin typeface="Inter"/>
              </a:defRPr>
            </a:pPr>
            <a:r>
              <a:rPr sz="1100"/>
              <a:t>CHALLENGE</a:t>
            </a:r>
          </a:p>
        </p:txBody>
      </p:sp>
      <p:sp>
        <p:nvSpPr>
          <p:cNvPr id="23" name="TextBox 22"/>
          <p:cNvSpPr txBox="1"/>
          <p:nvPr/>
        </p:nvSpPr>
        <p:spPr>
          <a:xfrm>
            <a:off x="8430768" y="2331720"/>
            <a:ext cx="2834640" cy="438912"/>
          </a:xfrm>
          <a:prstGeom prst="rect">
            <a:avLst/>
          </a:prstGeom>
          <a:noFill/>
        </p:spPr>
        <p:txBody>
          <a:bodyPr wrap="square" lIns="36576" tIns="36576" rIns="36576" bIns="36576" anchor="ctr">
            <a:spAutoFit/>
          </a:bodyPr>
          <a:lstStyle/>
          <a:p>
            <a:pPr algn="l">
              <a:lnSpc>
                <a:spcPct val="100000"/>
              </a:lnSpc>
              <a:defRPr sz="2400" b="1">
                <a:solidFill>
                  <a:srgbClr val="0F172A"/>
                </a:solidFill>
                <a:latin typeface="Manrope"/>
              </a:defRPr>
            </a:pPr>
            <a:r>
              <a:t>−10 to +2 dB</a:t>
            </a:r>
          </a:p>
        </p:txBody>
      </p:sp>
      <p:sp>
        <p:nvSpPr>
          <p:cNvPr id="24" name="TextBox 23"/>
          <p:cNvSpPr txBox="1"/>
          <p:nvPr/>
        </p:nvSpPr>
        <p:spPr>
          <a:xfrm>
            <a:off x="8430768" y="2970550"/>
            <a:ext cx="2834640" cy="258532"/>
          </a:xfrm>
          <a:prstGeom prst="rect">
            <a:avLst/>
          </a:prstGeom>
          <a:noFill/>
        </p:spPr>
        <p:txBody>
          <a:bodyPr wrap="square" lIns="36576" tIns="36576" rIns="36576" bIns="36576" anchor="ctr">
            <a:spAutoFit/>
          </a:bodyPr>
          <a:lstStyle/>
          <a:p>
            <a:pPr algn="l">
              <a:lnSpc>
                <a:spcPct val="100000"/>
              </a:lnSpc>
              <a:defRPr sz="1000" b="0">
                <a:solidFill>
                  <a:srgbClr val="475569"/>
                </a:solidFill>
                <a:latin typeface="Inter"/>
              </a:defRPr>
            </a:pPr>
            <a:r>
              <a:rPr sz="1200"/>
              <a:t>Noise masks class structure</a:t>
            </a:r>
          </a:p>
        </p:txBody>
      </p:sp>
      <p:sp>
        <p:nvSpPr>
          <p:cNvPr id="25" name="Rounded Rectangle 24"/>
          <p:cNvSpPr/>
          <p:nvPr/>
        </p:nvSpPr>
        <p:spPr>
          <a:xfrm>
            <a:off x="1234440" y="4133087"/>
            <a:ext cx="9720072" cy="1188720"/>
          </a:xfrm>
          <a:prstGeom prst="roundRect">
            <a:avLst/>
          </a:prstGeom>
          <a:solidFill>
            <a:srgbClr val="F0F9FF"/>
          </a:solidFill>
          <a:ln w="12700">
            <a:solidFill>
              <a:srgbClr val="F0F9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1572768" y="4345273"/>
            <a:ext cx="1920240" cy="243143"/>
          </a:xfrm>
          <a:prstGeom prst="rect">
            <a:avLst/>
          </a:prstGeom>
          <a:noFill/>
        </p:spPr>
        <p:txBody>
          <a:bodyPr wrap="square" lIns="36576" tIns="36576" rIns="36576" bIns="36576" anchor="ctr">
            <a:spAutoFit/>
          </a:bodyPr>
          <a:lstStyle/>
          <a:p>
            <a:pPr algn="l">
              <a:lnSpc>
                <a:spcPct val="100000"/>
              </a:lnSpc>
              <a:defRPr sz="900" b="1">
                <a:solidFill>
                  <a:srgbClr val="0284C7"/>
                </a:solidFill>
                <a:latin typeface="Inter"/>
              </a:defRPr>
            </a:pPr>
            <a:r>
              <a:rPr sz="1100"/>
              <a:t>RESEARCH QUESTION</a:t>
            </a:r>
          </a:p>
        </p:txBody>
      </p:sp>
      <p:sp>
        <p:nvSpPr>
          <p:cNvPr id="27" name="TextBox 26"/>
          <p:cNvSpPr txBox="1"/>
          <p:nvPr/>
        </p:nvSpPr>
        <p:spPr>
          <a:xfrm>
            <a:off x="1572768" y="4645152"/>
            <a:ext cx="8732520" cy="402336"/>
          </a:xfrm>
          <a:prstGeom prst="rect">
            <a:avLst/>
          </a:prstGeom>
          <a:noFill/>
        </p:spPr>
        <p:txBody>
          <a:bodyPr wrap="square" lIns="36576" tIns="36576" rIns="36576" bIns="36576" anchor="ctr">
            <a:spAutoFit/>
          </a:bodyPr>
          <a:lstStyle/>
          <a:p>
            <a:pPr algn="l">
              <a:lnSpc>
                <a:spcPct val="100000"/>
              </a:lnSpc>
              <a:defRPr sz="1900" b="1">
                <a:solidFill>
                  <a:srgbClr val="0F172A"/>
                </a:solidFill>
                <a:latin typeface="Manrope"/>
              </a:defRPr>
            </a:pPr>
            <a:r>
              <a:t>Can physically motivated augmentation improve low-SNR classification?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11480" y="190774"/>
            <a:ext cx="3840480" cy="258532"/>
          </a:xfrm>
          <a:prstGeom prst="rect">
            <a:avLst/>
          </a:prstGeom>
          <a:noFill/>
        </p:spPr>
        <p:txBody>
          <a:bodyPr wrap="square" lIns="36576" tIns="36576" rIns="36576" bIns="36576" anchor="ctr">
            <a:spAutoFit/>
          </a:bodyPr>
          <a:lstStyle/>
          <a:p>
            <a:pPr algn="l">
              <a:lnSpc>
                <a:spcPct val="100000"/>
              </a:lnSpc>
              <a:defRPr sz="1000" b="1">
                <a:solidFill>
                  <a:srgbClr val="0284C7"/>
                </a:solidFill>
                <a:latin typeface="Inter"/>
              </a:defRPr>
            </a:pPr>
            <a:r>
              <a:rPr sz="1200"/>
              <a:t>01 · OBJECTIVE</a:t>
            </a:r>
          </a:p>
        </p:txBody>
      </p:sp>
      <p:sp>
        <p:nvSpPr>
          <p:cNvPr id="3" name="TextBox 2"/>
          <p:cNvSpPr txBox="1"/>
          <p:nvPr/>
        </p:nvSpPr>
        <p:spPr>
          <a:xfrm>
            <a:off x="411480" y="438912"/>
            <a:ext cx="10744200" cy="640080"/>
          </a:xfrm>
          <a:prstGeom prst="rect">
            <a:avLst/>
          </a:prstGeom>
          <a:noFill/>
        </p:spPr>
        <p:txBody>
          <a:bodyPr wrap="square" lIns="36576" tIns="36576" rIns="36576" bIns="36576" anchor="ctr">
            <a:spAutoFit/>
          </a:bodyPr>
          <a:lstStyle/>
          <a:p>
            <a:pPr algn="l">
              <a:lnSpc>
                <a:spcPct val="100000"/>
              </a:lnSpc>
              <a:defRPr sz="3000" b="1">
                <a:solidFill>
                  <a:srgbClr val="0F172A"/>
                </a:solidFill>
                <a:latin typeface="Manrope"/>
              </a:defRPr>
            </a:pPr>
            <a:r>
              <a:t>Three questions, one locked evaluation protocol</a:t>
            </a:r>
          </a:p>
        </p:txBody>
      </p:sp>
      <p:sp>
        <p:nvSpPr>
          <p:cNvPr id="4" name="TextBox 3"/>
          <p:cNvSpPr txBox="1"/>
          <p:nvPr/>
        </p:nvSpPr>
        <p:spPr>
          <a:xfrm>
            <a:off x="411480" y="1080641"/>
            <a:ext cx="10561320" cy="289310"/>
          </a:xfrm>
          <a:prstGeom prst="rect">
            <a:avLst/>
          </a:prstGeom>
          <a:noFill/>
        </p:spPr>
        <p:txBody>
          <a:bodyPr wrap="square" lIns="36576" tIns="36576" rIns="36576" bIns="36576" anchor="ctr">
            <a:spAutoFit/>
          </a:bodyPr>
          <a:lstStyle/>
          <a:p>
            <a:pPr algn="l">
              <a:lnSpc>
                <a:spcPct val="100000"/>
              </a:lnSpc>
              <a:defRPr sz="1200" b="0">
                <a:solidFill>
                  <a:srgbClr val="64748B"/>
                </a:solidFill>
                <a:latin typeface="Inter"/>
              </a:defRPr>
            </a:pPr>
            <a:r>
              <a:rPr sz="1400"/>
              <a:t>The test set is not used for transform or checkpoint selection</a:t>
            </a:r>
          </a:p>
        </p:txBody>
      </p:sp>
      <p:cxnSp>
        <p:nvCxnSpPr>
          <p:cNvPr id="5" name="Connector 4"/>
          <p:cNvCxnSpPr/>
          <p:nvPr/>
        </p:nvCxnSpPr>
        <p:spPr>
          <a:xfrm>
            <a:off x="411480" y="1435608"/>
            <a:ext cx="11365992" cy="0"/>
          </a:xfrm>
          <a:prstGeom prst="line">
            <a:avLst/>
          </a:prstGeom>
          <a:ln w="12700">
            <a:solidFill>
              <a:srgbClr val="E2E8F0"/>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11480" y="6515523"/>
            <a:ext cx="6126480" cy="227755"/>
          </a:xfrm>
          <a:prstGeom prst="rect">
            <a:avLst/>
          </a:prstGeom>
          <a:noFill/>
        </p:spPr>
        <p:txBody>
          <a:bodyPr wrap="square" lIns="36576" tIns="36576" rIns="36576" bIns="36576" anchor="ctr">
            <a:spAutoFit/>
          </a:bodyPr>
          <a:lstStyle/>
          <a:p>
            <a:pPr algn="l">
              <a:lnSpc>
                <a:spcPct val="100000"/>
              </a:lnSpc>
              <a:defRPr sz="900" b="0">
                <a:solidFill>
                  <a:srgbClr val="64748B"/>
                </a:solidFill>
                <a:latin typeface="Inter"/>
              </a:defRPr>
            </a:pPr>
            <a:r>
              <a:rPr sz="1000"/>
              <a:t>EE136: Machine Learning for Wireless Communications</a:t>
            </a:r>
          </a:p>
        </p:txBody>
      </p:sp>
      <p:sp>
        <p:nvSpPr>
          <p:cNvPr id="7" name="TextBox 6"/>
          <p:cNvSpPr txBox="1"/>
          <p:nvPr/>
        </p:nvSpPr>
        <p:spPr>
          <a:xfrm>
            <a:off x="10222992" y="6515523"/>
            <a:ext cx="1554480" cy="227755"/>
          </a:xfrm>
          <a:prstGeom prst="rect">
            <a:avLst/>
          </a:prstGeom>
          <a:noFill/>
        </p:spPr>
        <p:txBody>
          <a:bodyPr wrap="square" lIns="36576" tIns="36576" rIns="36576" bIns="36576" anchor="ctr">
            <a:spAutoFit/>
          </a:bodyPr>
          <a:lstStyle/>
          <a:p>
            <a:pPr algn="r">
              <a:lnSpc>
                <a:spcPct val="100000"/>
              </a:lnSpc>
              <a:defRPr sz="900" b="0">
                <a:solidFill>
                  <a:srgbClr val="64748B"/>
                </a:solidFill>
                <a:latin typeface="Inter"/>
              </a:defRPr>
            </a:pPr>
            <a:r>
              <a:rPr sz="1000"/>
              <a:t>Slide 3 of 12</a:t>
            </a:r>
          </a:p>
        </p:txBody>
      </p:sp>
      <p:sp>
        <p:nvSpPr>
          <p:cNvPr id="8" name="Oval 7"/>
          <p:cNvSpPr/>
          <p:nvPr/>
        </p:nvSpPr>
        <p:spPr>
          <a:xfrm>
            <a:off x="749808" y="1801368"/>
            <a:ext cx="530352" cy="530352"/>
          </a:xfrm>
          <a:prstGeom prst="ellipse">
            <a:avLst/>
          </a:prstGeom>
          <a:solidFill>
            <a:srgbClr val="0284C7"/>
          </a:solidFill>
          <a:ln>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49808" y="1929583"/>
            <a:ext cx="530352" cy="273921"/>
          </a:xfrm>
          <a:prstGeom prst="rect">
            <a:avLst/>
          </a:prstGeom>
          <a:noFill/>
        </p:spPr>
        <p:txBody>
          <a:bodyPr wrap="square" lIns="36576" tIns="36576" rIns="36576" bIns="36576" anchor="ctr">
            <a:spAutoFit/>
          </a:bodyPr>
          <a:lstStyle/>
          <a:p>
            <a:pPr algn="ctr">
              <a:lnSpc>
                <a:spcPct val="100000"/>
              </a:lnSpc>
              <a:defRPr sz="1100" b="1">
                <a:solidFill>
                  <a:srgbClr val="FFFFFF"/>
                </a:solidFill>
                <a:latin typeface="Inter"/>
              </a:defRPr>
            </a:pPr>
            <a:r>
              <a:rPr sz="1300"/>
              <a:t>01</a:t>
            </a:r>
          </a:p>
        </p:txBody>
      </p:sp>
      <p:sp>
        <p:nvSpPr>
          <p:cNvPr id="10" name="TextBox 9"/>
          <p:cNvSpPr txBox="1"/>
          <p:nvPr/>
        </p:nvSpPr>
        <p:spPr>
          <a:xfrm>
            <a:off x="1508760" y="1691640"/>
            <a:ext cx="4023360" cy="310896"/>
          </a:xfrm>
          <a:prstGeom prst="rect">
            <a:avLst/>
          </a:prstGeom>
          <a:noFill/>
        </p:spPr>
        <p:txBody>
          <a:bodyPr wrap="square" lIns="36576" tIns="36576" rIns="36576" bIns="36576" anchor="ctr">
            <a:spAutoFit/>
          </a:bodyPr>
          <a:lstStyle/>
          <a:p>
            <a:pPr algn="l">
              <a:lnSpc>
                <a:spcPct val="100000"/>
              </a:lnSpc>
              <a:defRPr sz="1700" b="1">
                <a:solidFill>
                  <a:srgbClr val="0F172A"/>
                </a:solidFill>
                <a:latin typeface="Manrope"/>
              </a:defRPr>
            </a:pPr>
            <a:r>
              <a:t>Does augmentation help?</a:t>
            </a:r>
          </a:p>
        </p:txBody>
      </p:sp>
      <p:sp>
        <p:nvSpPr>
          <p:cNvPr id="11" name="TextBox 10"/>
          <p:cNvSpPr txBox="1"/>
          <p:nvPr/>
        </p:nvSpPr>
        <p:spPr>
          <a:xfrm>
            <a:off x="1508760" y="2101870"/>
            <a:ext cx="4297680" cy="258532"/>
          </a:xfrm>
          <a:prstGeom prst="rect">
            <a:avLst/>
          </a:prstGeom>
          <a:noFill/>
        </p:spPr>
        <p:txBody>
          <a:bodyPr wrap="square" lIns="36576" tIns="36576" rIns="36576" bIns="36576" anchor="ctr">
            <a:spAutoFit/>
          </a:bodyPr>
          <a:lstStyle/>
          <a:p>
            <a:pPr algn="l">
              <a:lnSpc>
                <a:spcPct val="100000"/>
              </a:lnSpc>
              <a:defRPr sz="1000" b="0">
                <a:solidFill>
                  <a:srgbClr val="475569"/>
                </a:solidFill>
                <a:latin typeface="Inter"/>
              </a:defRPr>
            </a:pPr>
            <a:r>
              <a:rPr sz="1200"/>
              <a:t>Measure low-SNR accuracy.</a:t>
            </a:r>
          </a:p>
        </p:txBody>
      </p:sp>
      <p:sp>
        <p:nvSpPr>
          <p:cNvPr id="12" name="Oval 11"/>
          <p:cNvSpPr/>
          <p:nvPr/>
        </p:nvSpPr>
        <p:spPr>
          <a:xfrm>
            <a:off x="749808" y="2916936"/>
            <a:ext cx="530352" cy="530352"/>
          </a:xfrm>
          <a:prstGeom prst="ellipse">
            <a:avLst/>
          </a:prstGeom>
          <a:solidFill>
            <a:srgbClr val="2563EB"/>
          </a:solidFill>
          <a:ln>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49808" y="3045151"/>
            <a:ext cx="530352" cy="273921"/>
          </a:xfrm>
          <a:prstGeom prst="rect">
            <a:avLst/>
          </a:prstGeom>
          <a:noFill/>
        </p:spPr>
        <p:txBody>
          <a:bodyPr wrap="square" lIns="36576" tIns="36576" rIns="36576" bIns="36576" anchor="ctr">
            <a:spAutoFit/>
          </a:bodyPr>
          <a:lstStyle/>
          <a:p>
            <a:pPr algn="ctr">
              <a:lnSpc>
                <a:spcPct val="100000"/>
              </a:lnSpc>
              <a:defRPr sz="1100" b="1">
                <a:solidFill>
                  <a:srgbClr val="FFFFFF"/>
                </a:solidFill>
                <a:latin typeface="Inter"/>
              </a:defRPr>
            </a:pPr>
            <a:r>
              <a:rPr sz="1300"/>
              <a:t>02</a:t>
            </a:r>
          </a:p>
        </p:txBody>
      </p:sp>
      <p:sp>
        <p:nvSpPr>
          <p:cNvPr id="14" name="TextBox 13"/>
          <p:cNvSpPr txBox="1"/>
          <p:nvPr/>
        </p:nvSpPr>
        <p:spPr>
          <a:xfrm>
            <a:off x="1508760" y="2807208"/>
            <a:ext cx="4023360" cy="310896"/>
          </a:xfrm>
          <a:prstGeom prst="rect">
            <a:avLst/>
          </a:prstGeom>
          <a:noFill/>
        </p:spPr>
        <p:txBody>
          <a:bodyPr wrap="square" lIns="36576" tIns="36576" rIns="36576" bIns="36576" anchor="ctr">
            <a:spAutoFit/>
          </a:bodyPr>
          <a:lstStyle/>
          <a:p>
            <a:pPr algn="l">
              <a:lnSpc>
                <a:spcPct val="100000"/>
              </a:lnSpc>
              <a:defRPr sz="1700" b="1">
                <a:solidFill>
                  <a:srgbClr val="0F172A"/>
                </a:solidFill>
                <a:latin typeface="Manrope"/>
              </a:defRPr>
            </a:pPr>
            <a:r>
              <a:t>Which transform wins?</a:t>
            </a:r>
          </a:p>
        </p:txBody>
      </p:sp>
      <p:sp>
        <p:nvSpPr>
          <p:cNvPr id="15" name="TextBox 14"/>
          <p:cNvSpPr txBox="1"/>
          <p:nvPr/>
        </p:nvSpPr>
        <p:spPr>
          <a:xfrm>
            <a:off x="1508760" y="3217438"/>
            <a:ext cx="4297680" cy="258532"/>
          </a:xfrm>
          <a:prstGeom prst="rect">
            <a:avLst/>
          </a:prstGeom>
          <a:noFill/>
        </p:spPr>
        <p:txBody>
          <a:bodyPr wrap="square" lIns="36576" tIns="36576" rIns="36576" bIns="36576" anchor="ctr">
            <a:spAutoFit/>
          </a:bodyPr>
          <a:lstStyle/>
          <a:p>
            <a:pPr algn="l">
              <a:lnSpc>
                <a:spcPct val="100000"/>
              </a:lnSpc>
              <a:defRPr sz="1000" b="0">
                <a:solidFill>
                  <a:srgbClr val="475569"/>
                </a:solidFill>
                <a:latin typeface="Inter"/>
              </a:defRPr>
            </a:pPr>
            <a:r>
              <a:rPr sz="1200"/>
              <a:t>Ablate phase, noise, shift, scale and full.</a:t>
            </a:r>
          </a:p>
        </p:txBody>
      </p:sp>
      <p:sp>
        <p:nvSpPr>
          <p:cNvPr id="16" name="Oval 15"/>
          <p:cNvSpPr/>
          <p:nvPr/>
        </p:nvSpPr>
        <p:spPr>
          <a:xfrm>
            <a:off x="749808" y="4032504"/>
            <a:ext cx="530352" cy="530352"/>
          </a:xfrm>
          <a:prstGeom prst="ellipse">
            <a:avLst/>
          </a:prstGeom>
          <a:solidFill>
            <a:srgbClr val="2563EB"/>
          </a:solidFill>
          <a:ln>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49808" y="4160719"/>
            <a:ext cx="530352" cy="273921"/>
          </a:xfrm>
          <a:prstGeom prst="rect">
            <a:avLst/>
          </a:prstGeom>
          <a:noFill/>
        </p:spPr>
        <p:txBody>
          <a:bodyPr wrap="square" lIns="36576" tIns="36576" rIns="36576" bIns="36576" anchor="ctr">
            <a:spAutoFit/>
          </a:bodyPr>
          <a:lstStyle/>
          <a:p>
            <a:pPr algn="ctr">
              <a:lnSpc>
                <a:spcPct val="100000"/>
              </a:lnSpc>
              <a:defRPr sz="1100" b="1">
                <a:solidFill>
                  <a:srgbClr val="FFFFFF"/>
                </a:solidFill>
                <a:latin typeface="Inter"/>
              </a:defRPr>
            </a:pPr>
            <a:r>
              <a:rPr sz="1300"/>
              <a:t>03</a:t>
            </a:r>
          </a:p>
        </p:txBody>
      </p:sp>
      <p:sp>
        <p:nvSpPr>
          <p:cNvPr id="18" name="TextBox 17"/>
          <p:cNvSpPr txBox="1"/>
          <p:nvPr/>
        </p:nvSpPr>
        <p:spPr>
          <a:xfrm>
            <a:off x="1508760" y="3922776"/>
            <a:ext cx="4023360" cy="310896"/>
          </a:xfrm>
          <a:prstGeom prst="rect">
            <a:avLst/>
          </a:prstGeom>
          <a:noFill/>
        </p:spPr>
        <p:txBody>
          <a:bodyPr wrap="square" lIns="36576" tIns="36576" rIns="36576" bIns="36576" anchor="ctr">
            <a:spAutoFit/>
          </a:bodyPr>
          <a:lstStyle/>
          <a:p>
            <a:pPr algn="l">
              <a:lnSpc>
                <a:spcPct val="100000"/>
              </a:lnSpc>
              <a:defRPr sz="1700" b="1">
                <a:solidFill>
                  <a:srgbClr val="0F172A"/>
                </a:solidFill>
                <a:latin typeface="Manrope"/>
              </a:defRPr>
            </a:pPr>
            <a:r>
              <a:t>Is the gain stable?</a:t>
            </a:r>
          </a:p>
        </p:txBody>
      </p:sp>
      <p:sp>
        <p:nvSpPr>
          <p:cNvPr id="19" name="TextBox 18"/>
          <p:cNvSpPr txBox="1"/>
          <p:nvPr/>
        </p:nvSpPr>
        <p:spPr>
          <a:xfrm>
            <a:off x="1508760" y="4333006"/>
            <a:ext cx="4297680" cy="258532"/>
          </a:xfrm>
          <a:prstGeom prst="rect">
            <a:avLst/>
          </a:prstGeom>
          <a:noFill/>
        </p:spPr>
        <p:txBody>
          <a:bodyPr wrap="square" lIns="36576" tIns="36576" rIns="36576" bIns="36576" anchor="ctr">
            <a:spAutoFit/>
          </a:bodyPr>
          <a:lstStyle/>
          <a:p>
            <a:pPr algn="l">
              <a:lnSpc>
                <a:spcPct val="100000"/>
              </a:lnSpc>
              <a:defRPr sz="1000" b="0">
                <a:solidFill>
                  <a:srgbClr val="475569"/>
                </a:solidFill>
                <a:latin typeface="Inter"/>
              </a:defRPr>
            </a:pPr>
            <a:r>
              <a:rPr sz="1200"/>
              <a:t>Repeat with five paired training seeds.</a:t>
            </a:r>
          </a:p>
        </p:txBody>
      </p:sp>
      <p:sp>
        <p:nvSpPr>
          <p:cNvPr id="20" name="Rounded Rectangle 19"/>
          <p:cNvSpPr/>
          <p:nvPr/>
        </p:nvSpPr>
        <p:spPr>
          <a:xfrm>
            <a:off x="6537960" y="1737360"/>
            <a:ext cx="4800600" cy="356616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876288" y="1972404"/>
            <a:ext cx="2377440" cy="243143"/>
          </a:xfrm>
          <a:prstGeom prst="rect">
            <a:avLst/>
          </a:prstGeom>
          <a:noFill/>
        </p:spPr>
        <p:txBody>
          <a:bodyPr wrap="square" lIns="36576" tIns="36576" rIns="36576" bIns="36576" anchor="ctr">
            <a:spAutoFit/>
          </a:bodyPr>
          <a:lstStyle/>
          <a:p>
            <a:pPr algn="l">
              <a:lnSpc>
                <a:spcPct val="100000"/>
              </a:lnSpc>
              <a:defRPr sz="900" b="1">
                <a:solidFill>
                  <a:srgbClr val="64748B"/>
                </a:solidFill>
                <a:latin typeface="Inter"/>
              </a:defRPr>
            </a:pPr>
            <a:r>
              <a:rPr sz="1100"/>
              <a:t>SELECTION FLOW</a:t>
            </a:r>
          </a:p>
        </p:txBody>
      </p:sp>
      <p:sp>
        <p:nvSpPr>
          <p:cNvPr id="22" name="Rounded Rectangle 21"/>
          <p:cNvSpPr/>
          <p:nvPr/>
        </p:nvSpPr>
        <p:spPr>
          <a:xfrm>
            <a:off x="6876288" y="2468880"/>
            <a:ext cx="1572768" cy="530352"/>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931152" y="2604790"/>
            <a:ext cx="1463040" cy="258532"/>
          </a:xfrm>
          <a:prstGeom prst="rect">
            <a:avLst/>
          </a:prstGeom>
          <a:noFill/>
        </p:spPr>
        <p:txBody>
          <a:bodyPr wrap="square" lIns="36576" tIns="36576" rIns="36576" bIns="36576" anchor="ctr">
            <a:spAutoFit/>
          </a:bodyPr>
          <a:lstStyle/>
          <a:p>
            <a:pPr algn="ctr">
              <a:lnSpc>
                <a:spcPct val="100000"/>
              </a:lnSpc>
              <a:defRPr sz="1000" b="1">
                <a:solidFill>
                  <a:srgbClr val="0F172A"/>
                </a:solidFill>
                <a:latin typeface="Inter"/>
              </a:defRPr>
            </a:pPr>
            <a:r>
              <a:rPr sz="1200"/>
              <a:t>Frozen train</a:t>
            </a:r>
          </a:p>
        </p:txBody>
      </p:sp>
      <p:sp>
        <p:nvSpPr>
          <p:cNvPr id="24" name="Chevron 23"/>
          <p:cNvSpPr/>
          <p:nvPr/>
        </p:nvSpPr>
        <p:spPr>
          <a:xfrm>
            <a:off x="8622792" y="2560320"/>
            <a:ext cx="320040" cy="347472"/>
          </a:xfrm>
          <a:prstGeom prst="chevron">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089136" y="2604790"/>
            <a:ext cx="1874519" cy="258532"/>
          </a:xfrm>
          <a:prstGeom prst="rect">
            <a:avLst/>
          </a:prstGeom>
          <a:noFill/>
        </p:spPr>
        <p:txBody>
          <a:bodyPr wrap="square" lIns="36576" tIns="36576" rIns="36576" bIns="36576" anchor="ctr">
            <a:spAutoFit/>
          </a:bodyPr>
          <a:lstStyle/>
          <a:p>
            <a:pPr algn="l">
              <a:lnSpc>
                <a:spcPct val="100000"/>
              </a:lnSpc>
              <a:defRPr sz="1000" b="0">
                <a:solidFill>
                  <a:srgbClr val="475569"/>
                </a:solidFill>
                <a:latin typeface="Inter"/>
              </a:defRPr>
            </a:pPr>
            <a:r>
              <a:rPr sz="1200"/>
              <a:t>Fit all candidates</a:t>
            </a:r>
          </a:p>
        </p:txBody>
      </p:sp>
      <p:sp>
        <p:nvSpPr>
          <p:cNvPr id="26" name="Rounded Rectangle 25"/>
          <p:cNvSpPr/>
          <p:nvPr/>
        </p:nvSpPr>
        <p:spPr>
          <a:xfrm>
            <a:off x="6876288" y="3310128"/>
            <a:ext cx="1572768" cy="530352"/>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931152" y="3446038"/>
            <a:ext cx="1463040" cy="258532"/>
          </a:xfrm>
          <a:prstGeom prst="rect">
            <a:avLst/>
          </a:prstGeom>
          <a:noFill/>
        </p:spPr>
        <p:txBody>
          <a:bodyPr wrap="square" lIns="36576" tIns="36576" rIns="36576" bIns="36576" anchor="ctr">
            <a:spAutoFit/>
          </a:bodyPr>
          <a:lstStyle/>
          <a:p>
            <a:pPr algn="ctr">
              <a:lnSpc>
                <a:spcPct val="100000"/>
              </a:lnSpc>
              <a:defRPr sz="1000" b="1">
                <a:solidFill>
                  <a:srgbClr val="0F172A"/>
                </a:solidFill>
                <a:latin typeface="Inter"/>
              </a:defRPr>
            </a:pPr>
            <a:r>
              <a:rPr sz="1200"/>
              <a:t>Frozen validation</a:t>
            </a:r>
          </a:p>
        </p:txBody>
      </p:sp>
      <p:sp>
        <p:nvSpPr>
          <p:cNvPr id="28" name="Chevron 27"/>
          <p:cNvSpPr/>
          <p:nvPr/>
        </p:nvSpPr>
        <p:spPr>
          <a:xfrm>
            <a:off x="8622792" y="3401568"/>
            <a:ext cx="320040" cy="347472"/>
          </a:xfrm>
          <a:prstGeom prst="chevron">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9089136" y="3353705"/>
            <a:ext cx="1874519" cy="443198"/>
          </a:xfrm>
          <a:prstGeom prst="rect">
            <a:avLst/>
          </a:prstGeom>
          <a:noFill/>
        </p:spPr>
        <p:txBody>
          <a:bodyPr wrap="square" lIns="36576" tIns="36576" rIns="36576" bIns="36576" anchor="ctr">
            <a:spAutoFit/>
          </a:bodyPr>
          <a:lstStyle/>
          <a:p>
            <a:pPr algn="l">
              <a:lnSpc>
                <a:spcPct val="100000"/>
              </a:lnSpc>
              <a:defRPr sz="1000" b="0">
                <a:solidFill>
                  <a:srgbClr val="475569"/>
                </a:solidFill>
                <a:latin typeface="Inter"/>
              </a:defRPr>
            </a:pPr>
            <a:r>
              <a:rPr sz="1200"/>
              <a:t>Select transform + checkpoint</a:t>
            </a:r>
          </a:p>
        </p:txBody>
      </p:sp>
      <p:sp>
        <p:nvSpPr>
          <p:cNvPr id="30" name="Rounded Rectangle 29"/>
          <p:cNvSpPr/>
          <p:nvPr/>
        </p:nvSpPr>
        <p:spPr>
          <a:xfrm>
            <a:off x="6876288" y="4151376"/>
            <a:ext cx="1572768" cy="530352"/>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6931152" y="4287286"/>
            <a:ext cx="1463040" cy="258532"/>
          </a:xfrm>
          <a:prstGeom prst="rect">
            <a:avLst/>
          </a:prstGeom>
          <a:noFill/>
        </p:spPr>
        <p:txBody>
          <a:bodyPr wrap="square" lIns="36576" tIns="36576" rIns="36576" bIns="36576" anchor="ctr">
            <a:spAutoFit/>
          </a:bodyPr>
          <a:lstStyle/>
          <a:p>
            <a:pPr algn="ctr">
              <a:lnSpc>
                <a:spcPct val="100000"/>
              </a:lnSpc>
              <a:defRPr sz="1000" b="1">
                <a:solidFill>
                  <a:srgbClr val="0F172A"/>
                </a:solidFill>
                <a:latin typeface="Inter"/>
              </a:defRPr>
            </a:pPr>
            <a:r>
              <a:rPr sz="1200"/>
              <a:t>Frozen test</a:t>
            </a:r>
          </a:p>
        </p:txBody>
      </p:sp>
      <p:sp>
        <p:nvSpPr>
          <p:cNvPr id="32" name="Chevron 31"/>
          <p:cNvSpPr/>
          <p:nvPr/>
        </p:nvSpPr>
        <p:spPr>
          <a:xfrm>
            <a:off x="8622792" y="4242816"/>
            <a:ext cx="320040" cy="347472"/>
          </a:xfrm>
          <a:prstGeom prst="chevron">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9089136" y="4287286"/>
            <a:ext cx="1874519" cy="258532"/>
          </a:xfrm>
          <a:prstGeom prst="rect">
            <a:avLst/>
          </a:prstGeom>
          <a:noFill/>
        </p:spPr>
        <p:txBody>
          <a:bodyPr wrap="square" lIns="36576" tIns="36576" rIns="36576" bIns="36576" anchor="ctr">
            <a:spAutoFit/>
          </a:bodyPr>
          <a:lstStyle/>
          <a:p>
            <a:pPr algn="l">
              <a:lnSpc>
                <a:spcPct val="100000"/>
              </a:lnSpc>
              <a:defRPr sz="1000" b="1">
                <a:solidFill>
                  <a:srgbClr val="475569"/>
                </a:solidFill>
                <a:latin typeface="Inter"/>
              </a:defRPr>
            </a:pPr>
            <a:r>
              <a:rPr sz="1200"/>
              <a:t>Final comparison only</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11480" y="190774"/>
            <a:ext cx="3840480" cy="258532"/>
          </a:xfrm>
          <a:prstGeom prst="rect">
            <a:avLst/>
          </a:prstGeom>
          <a:noFill/>
        </p:spPr>
        <p:txBody>
          <a:bodyPr wrap="square" lIns="36576" tIns="36576" rIns="36576" bIns="36576" anchor="ctr">
            <a:spAutoFit/>
          </a:bodyPr>
          <a:lstStyle/>
          <a:p>
            <a:pPr algn="l">
              <a:lnSpc>
                <a:spcPct val="100000"/>
              </a:lnSpc>
              <a:defRPr sz="1000" b="1">
                <a:solidFill>
                  <a:srgbClr val="0284C7"/>
                </a:solidFill>
                <a:latin typeface="Inter"/>
              </a:defRPr>
            </a:pPr>
            <a:r>
              <a:rPr sz="1200"/>
              <a:t>02 · DATA</a:t>
            </a:r>
          </a:p>
        </p:txBody>
      </p:sp>
      <p:sp>
        <p:nvSpPr>
          <p:cNvPr id="3" name="TextBox 2"/>
          <p:cNvSpPr txBox="1"/>
          <p:nvPr/>
        </p:nvSpPr>
        <p:spPr>
          <a:xfrm>
            <a:off x="411480" y="438912"/>
            <a:ext cx="10744200" cy="640080"/>
          </a:xfrm>
          <a:prstGeom prst="rect">
            <a:avLst/>
          </a:prstGeom>
          <a:noFill/>
        </p:spPr>
        <p:txBody>
          <a:bodyPr wrap="square" lIns="36576" tIns="36576" rIns="36576" bIns="36576" anchor="ctr">
            <a:spAutoFit/>
          </a:bodyPr>
          <a:lstStyle/>
          <a:p>
            <a:pPr algn="l">
              <a:lnSpc>
                <a:spcPct val="100000"/>
              </a:lnSpc>
              <a:defRPr sz="3000" b="1">
                <a:solidFill>
                  <a:srgbClr val="0F172A"/>
                </a:solidFill>
                <a:latin typeface="Manrope"/>
              </a:defRPr>
            </a:pPr>
            <a:r>
              <a:t>Dataset and signal model</a:t>
            </a:r>
          </a:p>
        </p:txBody>
      </p:sp>
      <p:sp>
        <p:nvSpPr>
          <p:cNvPr id="4" name="TextBox 3"/>
          <p:cNvSpPr txBox="1"/>
          <p:nvPr/>
        </p:nvSpPr>
        <p:spPr>
          <a:xfrm>
            <a:off x="411480" y="1080641"/>
            <a:ext cx="10561320" cy="289310"/>
          </a:xfrm>
          <a:prstGeom prst="rect">
            <a:avLst/>
          </a:prstGeom>
          <a:noFill/>
        </p:spPr>
        <p:txBody>
          <a:bodyPr wrap="square" lIns="36576" tIns="36576" rIns="36576" bIns="36576" anchor="ctr">
            <a:spAutoFit/>
          </a:bodyPr>
          <a:lstStyle/>
          <a:p>
            <a:pPr algn="l">
              <a:lnSpc>
                <a:spcPct val="100000"/>
              </a:lnSpc>
              <a:defRPr sz="1200" b="0">
                <a:solidFill>
                  <a:srgbClr val="64748B"/>
                </a:solidFill>
                <a:latin typeface="Inter"/>
              </a:defRPr>
            </a:pPr>
            <a:r>
              <a:rPr sz="1400"/>
              <a:t>Frozen partitions, independent RNG streams and per-burst RMS normalization</a:t>
            </a:r>
          </a:p>
        </p:txBody>
      </p:sp>
      <p:cxnSp>
        <p:nvCxnSpPr>
          <p:cNvPr id="5" name="Connector 4"/>
          <p:cNvCxnSpPr/>
          <p:nvPr/>
        </p:nvCxnSpPr>
        <p:spPr>
          <a:xfrm>
            <a:off x="411480" y="1435608"/>
            <a:ext cx="11365992" cy="0"/>
          </a:xfrm>
          <a:prstGeom prst="line">
            <a:avLst/>
          </a:prstGeom>
          <a:ln w="12700">
            <a:solidFill>
              <a:srgbClr val="E2E8F0"/>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11480" y="6515523"/>
            <a:ext cx="6126480" cy="227755"/>
          </a:xfrm>
          <a:prstGeom prst="rect">
            <a:avLst/>
          </a:prstGeom>
          <a:noFill/>
        </p:spPr>
        <p:txBody>
          <a:bodyPr wrap="square" lIns="36576" tIns="36576" rIns="36576" bIns="36576" anchor="ctr">
            <a:spAutoFit/>
          </a:bodyPr>
          <a:lstStyle/>
          <a:p>
            <a:pPr algn="l">
              <a:lnSpc>
                <a:spcPct val="100000"/>
              </a:lnSpc>
              <a:defRPr sz="900" b="0">
                <a:solidFill>
                  <a:srgbClr val="64748B"/>
                </a:solidFill>
                <a:latin typeface="Inter"/>
              </a:defRPr>
            </a:pPr>
            <a:r>
              <a:rPr sz="1000"/>
              <a:t>EE136: Machine Learning for Wireless Communications</a:t>
            </a:r>
          </a:p>
        </p:txBody>
      </p:sp>
      <p:sp>
        <p:nvSpPr>
          <p:cNvPr id="7" name="TextBox 6"/>
          <p:cNvSpPr txBox="1"/>
          <p:nvPr/>
        </p:nvSpPr>
        <p:spPr>
          <a:xfrm>
            <a:off x="10222992" y="6515523"/>
            <a:ext cx="1554480" cy="227755"/>
          </a:xfrm>
          <a:prstGeom prst="rect">
            <a:avLst/>
          </a:prstGeom>
          <a:noFill/>
        </p:spPr>
        <p:txBody>
          <a:bodyPr wrap="square" lIns="36576" tIns="36576" rIns="36576" bIns="36576" anchor="ctr">
            <a:spAutoFit/>
          </a:bodyPr>
          <a:lstStyle/>
          <a:p>
            <a:pPr algn="r">
              <a:lnSpc>
                <a:spcPct val="100000"/>
              </a:lnSpc>
              <a:defRPr sz="900" b="0">
                <a:solidFill>
                  <a:srgbClr val="64748B"/>
                </a:solidFill>
                <a:latin typeface="Inter"/>
              </a:defRPr>
            </a:pPr>
            <a:r>
              <a:rPr sz="1000"/>
              <a:t>Slide 4 of 12</a:t>
            </a:r>
          </a:p>
        </p:txBody>
      </p:sp>
      <p:sp>
        <p:nvSpPr>
          <p:cNvPr id="8" name="Rounded Rectangle 7"/>
          <p:cNvSpPr/>
          <p:nvPr/>
        </p:nvSpPr>
        <p:spPr>
          <a:xfrm>
            <a:off x="658368" y="1664208"/>
            <a:ext cx="2514600" cy="1298448"/>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658368" y="1664208"/>
            <a:ext cx="73152" cy="1298448"/>
          </a:xfrm>
          <a:prstGeom prst="rect">
            <a:avLst/>
          </a:prstGeom>
          <a:solidFill>
            <a:srgbClr val="0284C7"/>
          </a:solidFill>
          <a:ln w="1270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86968" y="1818406"/>
            <a:ext cx="2148840" cy="258532"/>
          </a:xfrm>
          <a:prstGeom prst="rect">
            <a:avLst/>
          </a:prstGeom>
          <a:noFill/>
        </p:spPr>
        <p:txBody>
          <a:bodyPr wrap="square" lIns="36576" tIns="36576" rIns="36576" bIns="36576" anchor="ctr">
            <a:spAutoFit/>
          </a:bodyPr>
          <a:lstStyle/>
          <a:p>
            <a:pPr algn="l">
              <a:lnSpc>
                <a:spcPct val="100000"/>
              </a:lnSpc>
              <a:defRPr sz="1000" b="1">
                <a:solidFill>
                  <a:srgbClr val="64748B"/>
                </a:solidFill>
                <a:latin typeface="Inter"/>
              </a:defRPr>
            </a:pPr>
            <a:r>
              <a:rPr sz="1200"/>
              <a:t>UNIQUE BURSTS</a:t>
            </a:r>
          </a:p>
        </p:txBody>
      </p:sp>
      <p:sp>
        <p:nvSpPr>
          <p:cNvPr id="11" name="TextBox 10"/>
          <p:cNvSpPr txBox="1"/>
          <p:nvPr/>
        </p:nvSpPr>
        <p:spPr>
          <a:xfrm>
            <a:off x="886968" y="2103120"/>
            <a:ext cx="2148840" cy="512064"/>
          </a:xfrm>
          <a:prstGeom prst="rect">
            <a:avLst/>
          </a:prstGeom>
          <a:noFill/>
        </p:spPr>
        <p:txBody>
          <a:bodyPr wrap="square" lIns="36576" tIns="36576" rIns="36576" bIns="36576" anchor="ctr">
            <a:spAutoFit/>
          </a:bodyPr>
          <a:lstStyle/>
          <a:p>
            <a:pPr algn="l">
              <a:lnSpc>
                <a:spcPct val="100000"/>
              </a:lnSpc>
              <a:defRPr sz="2500" b="1">
                <a:solidFill>
                  <a:srgbClr val="0F172A"/>
                </a:solidFill>
                <a:latin typeface="Manrope"/>
              </a:defRPr>
            </a:pPr>
            <a:r>
              <a:t>21,480</a:t>
            </a:r>
          </a:p>
        </p:txBody>
      </p:sp>
      <p:sp>
        <p:nvSpPr>
          <p:cNvPr id="12" name="TextBox 11"/>
          <p:cNvSpPr txBox="1"/>
          <p:nvPr/>
        </p:nvSpPr>
        <p:spPr>
          <a:xfrm>
            <a:off x="886968" y="2542032"/>
            <a:ext cx="2148840" cy="256032"/>
          </a:xfrm>
          <a:prstGeom prst="rect">
            <a:avLst/>
          </a:prstGeom>
          <a:noFill/>
        </p:spPr>
        <p:txBody>
          <a:bodyPr wrap="square" lIns="36576" tIns="36576" rIns="36576" bIns="36576" anchor="ctr">
            <a:spAutoFit/>
          </a:bodyPr>
          <a:lstStyle/>
          <a:p>
            <a:pPr algn="l">
              <a:lnSpc>
                <a:spcPct val="100000"/>
              </a:lnSpc>
              <a:defRPr sz="1000" b="0">
                <a:solidFill>
                  <a:srgbClr val="475569"/>
                </a:solidFill>
                <a:latin typeface="Inter"/>
              </a:defRPr>
            </a:pPr>
            <a:r>
              <a:rPr sz="1200"/>
              <a:t>0 exact duplicates</a:t>
            </a:r>
          </a:p>
        </p:txBody>
      </p:sp>
      <p:sp>
        <p:nvSpPr>
          <p:cNvPr id="13" name="Rounded Rectangle 12"/>
          <p:cNvSpPr/>
          <p:nvPr/>
        </p:nvSpPr>
        <p:spPr>
          <a:xfrm>
            <a:off x="3310128" y="1664208"/>
            <a:ext cx="2514600" cy="1298448"/>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3310128" y="1664208"/>
            <a:ext cx="73152" cy="1298448"/>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3538728" y="1818406"/>
            <a:ext cx="2148840" cy="258532"/>
          </a:xfrm>
          <a:prstGeom prst="rect">
            <a:avLst/>
          </a:prstGeom>
          <a:noFill/>
        </p:spPr>
        <p:txBody>
          <a:bodyPr wrap="square" lIns="36576" tIns="36576" rIns="36576" bIns="36576" anchor="ctr">
            <a:spAutoFit/>
          </a:bodyPr>
          <a:lstStyle/>
          <a:p>
            <a:pPr algn="l">
              <a:lnSpc>
                <a:spcPct val="100000"/>
              </a:lnSpc>
              <a:defRPr sz="1000" b="1">
                <a:solidFill>
                  <a:srgbClr val="64748B"/>
                </a:solidFill>
                <a:latin typeface="Inter"/>
              </a:defRPr>
            </a:pPr>
            <a:r>
              <a:rPr sz="1200"/>
              <a:t>CLASSES</a:t>
            </a:r>
          </a:p>
        </p:txBody>
      </p:sp>
      <p:sp>
        <p:nvSpPr>
          <p:cNvPr id="16" name="TextBox 15"/>
          <p:cNvSpPr txBox="1"/>
          <p:nvPr/>
        </p:nvSpPr>
        <p:spPr>
          <a:xfrm>
            <a:off x="3538728" y="2103120"/>
            <a:ext cx="2148840" cy="512064"/>
          </a:xfrm>
          <a:prstGeom prst="rect">
            <a:avLst/>
          </a:prstGeom>
          <a:noFill/>
        </p:spPr>
        <p:txBody>
          <a:bodyPr wrap="square" lIns="36576" tIns="36576" rIns="36576" bIns="36576" anchor="ctr">
            <a:spAutoFit/>
          </a:bodyPr>
          <a:lstStyle/>
          <a:p>
            <a:pPr algn="l">
              <a:lnSpc>
                <a:spcPct val="100000"/>
              </a:lnSpc>
              <a:defRPr sz="2500" b="1">
                <a:solidFill>
                  <a:srgbClr val="0F172A"/>
                </a:solidFill>
                <a:latin typeface="Manrope"/>
              </a:defRPr>
            </a:pPr>
            <a:r>
              <a:t>8</a:t>
            </a:r>
          </a:p>
        </p:txBody>
      </p:sp>
      <p:sp>
        <p:nvSpPr>
          <p:cNvPr id="17" name="TextBox 16"/>
          <p:cNvSpPr txBox="1"/>
          <p:nvPr/>
        </p:nvSpPr>
        <p:spPr>
          <a:xfrm>
            <a:off x="3538728" y="2542032"/>
            <a:ext cx="2148840" cy="256032"/>
          </a:xfrm>
          <a:prstGeom prst="rect">
            <a:avLst/>
          </a:prstGeom>
          <a:noFill/>
        </p:spPr>
        <p:txBody>
          <a:bodyPr wrap="square" lIns="36576" tIns="36576" rIns="36576" bIns="36576" anchor="ctr">
            <a:spAutoFit/>
          </a:bodyPr>
          <a:lstStyle/>
          <a:p>
            <a:pPr algn="l">
              <a:lnSpc>
                <a:spcPct val="100000"/>
              </a:lnSpc>
              <a:defRPr sz="1000" b="0">
                <a:solidFill>
                  <a:srgbClr val="475569"/>
                </a:solidFill>
                <a:latin typeface="Inter"/>
              </a:defRPr>
            </a:pPr>
            <a:r>
              <a:rPr sz="1200"/>
              <a:t>BPSK → GFSK</a:t>
            </a:r>
          </a:p>
        </p:txBody>
      </p:sp>
      <p:sp>
        <p:nvSpPr>
          <p:cNvPr id="18" name="Rounded Rectangle 17"/>
          <p:cNvSpPr/>
          <p:nvPr/>
        </p:nvSpPr>
        <p:spPr>
          <a:xfrm>
            <a:off x="5961888" y="1664208"/>
            <a:ext cx="2514600" cy="1298448"/>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961888" y="1664208"/>
            <a:ext cx="73152" cy="1298448"/>
          </a:xfrm>
          <a:prstGeom prst="rect">
            <a:avLst/>
          </a:prstGeom>
          <a:solidFill>
            <a:srgbClr val="059669"/>
          </a:solidFill>
          <a:ln w="1270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190488" y="1818406"/>
            <a:ext cx="2148840" cy="258532"/>
          </a:xfrm>
          <a:prstGeom prst="rect">
            <a:avLst/>
          </a:prstGeom>
          <a:noFill/>
        </p:spPr>
        <p:txBody>
          <a:bodyPr wrap="square" lIns="36576" tIns="36576" rIns="36576" bIns="36576" anchor="ctr">
            <a:spAutoFit/>
          </a:bodyPr>
          <a:lstStyle/>
          <a:p>
            <a:pPr algn="l">
              <a:lnSpc>
                <a:spcPct val="100000"/>
              </a:lnSpc>
              <a:defRPr sz="1000" b="1">
                <a:solidFill>
                  <a:srgbClr val="64748B"/>
                </a:solidFill>
                <a:latin typeface="Inter"/>
              </a:defRPr>
            </a:pPr>
            <a:r>
              <a:rPr sz="1200"/>
              <a:t>SNR GRID</a:t>
            </a:r>
          </a:p>
        </p:txBody>
      </p:sp>
      <p:sp>
        <p:nvSpPr>
          <p:cNvPr id="21" name="TextBox 20"/>
          <p:cNvSpPr txBox="1"/>
          <p:nvPr/>
        </p:nvSpPr>
        <p:spPr>
          <a:xfrm>
            <a:off x="6190488" y="2103120"/>
            <a:ext cx="2148840" cy="512064"/>
          </a:xfrm>
          <a:prstGeom prst="rect">
            <a:avLst/>
          </a:prstGeom>
          <a:noFill/>
        </p:spPr>
        <p:txBody>
          <a:bodyPr wrap="square" lIns="36576" tIns="36576" rIns="36576" bIns="36576" anchor="ctr">
            <a:spAutoFit/>
          </a:bodyPr>
          <a:lstStyle/>
          <a:p>
            <a:pPr algn="l">
              <a:lnSpc>
                <a:spcPct val="100000"/>
              </a:lnSpc>
              <a:defRPr sz="2500" b="1">
                <a:solidFill>
                  <a:srgbClr val="0F172A"/>
                </a:solidFill>
                <a:latin typeface="Manrope"/>
              </a:defRPr>
            </a:pPr>
            <a:r>
              <a:t>15 levels</a:t>
            </a:r>
          </a:p>
        </p:txBody>
      </p:sp>
      <p:sp>
        <p:nvSpPr>
          <p:cNvPr id="22" name="TextBox 21"/>
          <p:cNvSpPr txBox="1"/>
          <p:nvPr/>
        </p:nvSpPr>
        <p:spPr>
          <a:xfrm>
            <a:off x="6190488" y="2542032"/>
            <a:ext cx="2148840" cy="256032"/>
          </a:xfrm>
          <a:prstGeom prst="rect">
            <a:avLst/>
          </a:prstGeom>
          <a:noFill/>
        </p:spPr>
        <p:txBody>
          <a:bodyPr wrap="square" lIns="36576" tIns="36576" rIns="36576" bIns="36576" anchor="ctr">
            <a:spAutoFit/>
          </a:bodyPr>
          <a:lstStyle/>
          <a:p>
            <a:pPr algn="l">
              <a:lnSpc>
                <a:spcPct val="100000"/>
              </a:lnSpc>
              <a:defRPr sz="1000" b="0">
                <a:solidFill>
                  <a:srgbClr val="475569"/>
                </a:solidFill>
                <a:latin typeface="Inter"/>
              </a:defRPr>
            </a:pPr>
            <a:r>
              <a:rPr sz="1200"/>
              <a:t>−10, −8, …, +18 dB</a:t>
            </a:r>
          </a:p>
        </p:txBody>
      </p:sp>
      <p:sp>
        <p:nvSpPr>
          <p:cNvPr id="23" name="Rounded Rectangle 22"/>
          <p:cNvSpPr/>
          <p:nvPr/>
        </p:nvSpPr>
        <p:spPr>
          <a:xfrm>
            <a:off x="8613648" y="1664208"/>
            <a:ext cx="2514600" cy="1298448"/>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8613648" y="1664208"/>
            <a:ext cx="73152" cy="1298448"/>
          </a:xfrm>
          <a:prstGeom prst="rect">
            <a:avLst/>
          </a:prstGeom>
          <a:solidFill>
            <a:srgbClr val="D97706"/>
          </a:solidFill>
          <a:ln w="1270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842248" y="1818406"/>
            <a:ext cx="2148840" cy="258532"/>
          </a:xfrm>
          <a:prstGeom prst="rect">
            <a:avLst/>
          </a:prstGeom>
          <a:noFill/>
        </p:spPr>
        <p:txBody>
          <a:bodyPr wrap="square" lIns="36576" tIns="36576" rIns="36576" bIns="36576" anchor="ctr">
            <a:spAutoFit/>
          </a:bodyPr>
          <a:lstStyle/>
          <a:p>
            <a:pPr algn="l">
              <a:lnSpc>
                <a:spcPct val="100000"/>
              </a:lnSpc>
              <a:defRPr sz="1000" b="1">
                <a:solidFill>
                  <a:srgbClr val="64748B"/>
                </a:solidFill>
                <a:latin typeface="Inter"/>
              </a:defRPr>
            </a:pPr>
            <a:r>
              <a:rPr sz="1200"/>
              <a:t>FROZEN SPLIT</a:t>
            </a:r>
          </a:p>
        </p:txBody>
      </p:sp>
      <p:sp>
        <p:nvSpPr>
          <p:cNvPr id="26" name="TextBox 25"/>
          <p:cNvSpPr txBox="1"/>
          <p:nvPr/>
        </p:nvSpPr>
        <p:spPr>
          <a:xfrm>
            <a:off x="8842248" y="2103120"/>
            <a:ext cx="2148840" cy="512064"/>
          </a:xfrm>
          <a:prstGeom prst="rect">
            <a:avLst/>
          </a:prstGeom>
          <a:noFill/>
        </p:spPr>
        <p:txBody>
          <a:bodyPr wrap="square" lIns="36576" tIns="36576" rIns="36576" bIns="36576" anchor="ctr">
            <a:spAutoFit/>
          </a:bodyPr>
          <a:lstStyle/>
          <a:p>
            <a:pPr algn="l">
              <a:lnSpc>
                <a:spcPct val="100000"/>
              </a:lnSpc>
              <a:defRPr sz="2500" b="1">
                <a:solidFill>
                  <a:srgbClr val="0F172A"/>
                </a:solidFill>
                <a:latin typeface="Manrope"/>
              </a:defRPr>
            </a:pPr>
            <a:r>
              <a:t>12.6k · 2.9k · 6k</a:t>
            </a:r>
          </a:p>
        </p:txBody>
      </p:sp>
      <p:sp>
        <p:nvSpPr>
          <p:cNvPr id="27" name="TextBox 26"/>
          <p:cNvSpPr txBox="1"/>
          <p:nvPr/>
        </p:nvSpPr>
        <p:spPr>
          <a:xfrm>
            <a:off x="8842248" y="2542032"/>
            <a:ext cx="2148840" cy="256032"/>
          </a:xfrm>
          <a:prstGeom prst="rect">
            <a:avLst/>
          </a:prstGeom>
          <a:noFill/>
        </p:spPr>
        <p:txBody>
          <a:bodyPr wrap="square" lIns="36576" tIns="36576" rIns="36576" bIns="36576" anchor="ctr">
            <a:spAutoFit/>
          </a:bodyPr>
          <a:lstStyle/>
          <a:p>
            <a:pPr algn="l">
              <a:lnSpc>
                <a:spcPct val="100000"/>
              </a:lnSpc>
              <a:defRPr sz="1000" b="0">
                <a:solidFill>
                  <a:srgbClr val="475569"/>
                </a:solidFill>
                <a:latin typeface="Inter"/>
              </a:defRPr>
            </a:pPr>
            <a:r>
              <a:rPr sz="1200"/>
              <a:t>train / val / test</a:t>
            </a:r>
          </a:p>
        </p:txBody>
      </p:sp>
      <p:sp>
        <p:nvSpPr>
          <p:cNvPr id="28" name="TextBox 27"/>
          <p:cNvSpPr txBox="1"/>
          <p:nvPr/>
        </p:nvSpPr>
        <p:spPr>
          <a:xfrm>
            <a:off x="713232" y="3408012"/>
            <a:ext cx="2194560" cy="243143"/>
          </a:xfrm>
          <a:prstGeom prst="rect">
            <a:avLst/>
          </a:prstGeom>
          <a:noFill/>
        </p:spPr>
        <p:txBody>
          <a:bodyPr wrap="square" lIns="36576" tIns="36576" rIns="36576" bIns="36576" anchor="ctr">
            <a:spAutoFit/>
          </a:bodyPr>
          <a:lstStyle/>
          <a:p>
            <a:pPr algn="l">
              <a:lnSpc>
                <a:spcPct val="100000"/>
              </a:lnSpc>
              <a:defRPr sz="900" b="1">
                <a:solidFill>
                  <a:srgbClr val="64748B"/>
                </a:solidFill>
                <a:latin typeface="Inter"/>
              </a:defRPr>
            </a:pPr>
            <a:r>
              <a:rPr sz="1100"/>
              <a:t>SIGNAL PIPELINE</a:t>
            </a:r>
          </a:p>
        </p:txBody>
      </p:sp>
      <p:sp>
        <p:nvSpPr>
          <p:cNvPr id="29" name="Rounded Rectangle 28"/>
          <p:cNvSpPr/>
          <p:nvPr/>
        </p:nvSpPr>
        <p:spPr>
          <a:xfrm>
            <a:off x="685800" y="3822191"/>
            <a:ext cx="1389888" cy="804672"/>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731520" y="4095261"/>
            <a:ext cx="1298448" cy="258532"/>
          </a:xfrm>
          <a:prstGeom prst="rect">
            <a:avLst/>
          </a:prstGeom>
          <a:noFill/>
        </p:spPr>
        <p:txBody>
          <a:bodyPr wrap="square" lIns="36576" tIns="36576" rIns="36576" bIns="36576" anchor="ctr">
            <a:spAutoFit/>
          </a:bodyPr>
          <a:lstStyle/>
          <a:p>
            <a:pPr algn="ctr">
              <a:lnSpc>
                <a:spcPct val="100000"/>
              </a:lnSpc>
              <a:defRPr sz="1000" b="1">
                <a:solidFill>
                  <a:srgbClr val="0F172A"/>
                </a:solidFill>
                <a:latin typeface="Inter"/>
              </a:defRPr>
            </a:pPr>
            <a:r>
              <a:rPr sz="1200"/>
              <a:t>Symbols</a:t>
            </a:r>
          </a:p>
        </p:txBody>
      </p:sp>
      <p:sp>
        <p:nvSpPr>
          <p:cNvPr id="31" name="Chevron 30"/>
          <p:cNvSpPr/>
          <p:nvPr/>
        </p:nvSpPr>
        <p:spPr>
          <a:xfrm>
            <a:off x="2139696" y="4050791"/>
            <a:ext cx="310896" cy="347472"/>
          </a:xfrm>
          <a:prstGeom prst="chevron">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Rounded Rectangle 31"/>
          <p:cNvSpPr/>
          <p:nvPr/>
        </p:nvSpPr>
        <p:spPr>
          <a:xfrm>
            <a:off x="2551176" y="3822191"/>
            <a:ext cx="1389888" cy="804672"/>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2596896" y="4002928"/>
            <a:ext cx="1298448" cy="443198"/>
          </a:xfrm>
          <a:prstGeom prst="rect">
            <a:avLst/>
          </a:prstGeom>
          <a:noFill/>
        </p:spPr>
        <p:txBody>
          <a:bodyPr wrap="square" lIns="36576" tIns="36576" rIns="36576" bIns="36576" anchor="ctr">
            <a:spAutoFit/>
          </a:bodyPr>
          <a:lstStyle/>
          <a:p>
            <a:pPr algn="ctr">
              <a:lnSpc>
                <a:spcPct val="100000"/>
              </a:lnSpc>
              <a:defRPr sz="1000" b="1">
                <a:solidFill>
                  <a:srgbClr val="0F172A"/>
                </a:solidFill>
                <a:latin typeface="Inter"/>
              </a:defRPr>
            </a:pPr>
            <a:r>
              <a:rPr sz="1200"/>
              <a:t>Pulse / frequency</a:t>
            </a:r>
            <a:br>
              <a:rPr sz="1200"/>
            </a:br>
            <a:r>
              <a:rPr sz="1200"/>
              <a:t>shaping</a:t>
            </a:r>
          </a:p>
        </p:txBody>
      </p:sp>
      <p:sp>
        <p:nvSpPr>
          <p:cNvPr id="34" name="Chevron 33"/>
          <p:cNvSpPr/>
          <p:nvPr/>
        </p:nvSpPr>
        <p:spPr>
          <a:xfrm>
            <a:off x="4005072" y="4050791"/>
            <a:ext cx="310896" cy="347472"/>
          </a:xfrm>
          <a:prstGeom prst="chevron">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Rounded Rectangle 34"/>
          <p:cNvSpPr/>
          <p:nvPr/>
        </p:nvSpPr>
        <p:spPr>
          <a:xfrm>
            <a:off x="4416552" y="3822191"/>
            <a:ext cx="1389888" cy="804672"/>
          </a:xfrm>
          <a:prstGeom prst="roundRect">
            <a:avLst/>
          </a:prstGeom>
          <a:solidFill>
            <a:srgbClr val="F0F9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4462272" y="4002928"/>
            <a:ext cx="1298448" cy="443198"/>
          </a:xfrm>
          <a:prstGeom prst="rect">
            <a:avLst/>
          </a:prstGeom>
          <a:noFill/>
        </p:spPr>
        <p:txBody>
          <a:bodyPr wrap="square" lIns="36576" tIns="36576" rIns="36576" bIns="36576" anchor="ctr">
            <a:spAutoFit/>
          </a:bodyPr>
          <a:lstStyle/>
          <a:p>
            <a:pPr algn="ctr">
              <a:lnSpc>
                <a:spcPct val="100000"/>
              </a:lnSpc>
              <a:defRPr sz="1000" b="1">
                <a:solidFill>
                  <a:srgbClr val="0F172A"/>
                </a:solidFill>
                <a:latin typeface="Inter"/>
              </a:defRPr>
            </a:pPr>
            <a:r>
              <a:rPr sz="1200"/>
              <a:t>Random initial</a:t>
            </a:r>
            <a:br>
              <a:rPr sz="1200"/>
            </a:br>
            <a:r>
              <a:rPr sz="1200"/>
              <a:t>phase</a:t>
            </a:r>
          </a:p>
        </p:txBody>
      </p:sp>
      <p:sp>
        <p:nvSpPr>
          <p:cNvPr id="37" name="Chevron 36"/>
          <p:cNvSpPr/>
          <p:nvPr/>
        </p:nvSpPr>
        <p:spPr>
          <a:xfrm>
            <a:off x="5870448" y="4050791"/>
            <a:ext cx="310896" cy="347472"/>
          </a:xfrm>
          <a:prstGeom prst="chevron">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Rounded Rectangle 37"/>
          <p:cNvSpPr/>
          <p:nvPr/>
        </p:nvSpPr>
        <p:spPr>
          <a:xfrm>
            <a:off x="6281928" y="3822191"/>
            <a:ext cx="1389888" cy="804672"/>
          </a:xfrm>
          <a:prstGeom prst="roundRect">
            <a:avLst/>
          </a:prstGeom>
          <a:solidFill>
            <a:srgbClr val="F0F9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6327648" y="4002928"/>
            <a:ext cx="1298448" cy="443198"/>
          </a:xfrm>
          <a:prstGeom prst="rect">
            <a:avLst/>
          </a:prstGeom>
          <a:noFill/>
        </p:spPr>
        <p:txBody>
          <a:bodyPr wrap="square" lIns="36576" tIns="36576" rIns="36576" bIns="36576" anchor="ctr">
            <a:spAutoFit/>
          </a:bodyPr>
          <a:lstStyle/>
          <a:p>
            <a:pPr algn="ctr">
              <a:lnSpc>
                <a:spcPct val="100000"/>
              </a:lnSpc>
              <a:defRPr sz="1000" b="1">
                <a:solidFill>
                  <a:srgbClr val="0F172A"/>
                </a:solidFill>
                <a:latin typeface="Inter"/>
              </a:defRPr>
            </a:pPr>
            <a:r>
              <a:rPr sz="1200"/>
              <a:t>Complex</a:t>
            </a:r>
            <a:br>
              <a:rPr sz="1200"/>
            </a:br>
            <a:r>
              <a:rPr sz="1200"/>
              <a:t>AWGN</a:t>
            </a:r>
          </a:p>
        </p:txBody>
      </p:sp>
      <p:sp>
        <p:nvSpPr>
          <p:cNvPr id="40" name="Chevron 39"/>
          <p:cNvSpPr/>
          <p:nvPr/>
        </p:nvSpPr>
        <p:spPr>
          <a:xfrm>
            <a:off x="7735824" y="4050791"/>
            <a:ext cx="310896" cy="347472"/>
          </a:xfrm>
          <a:prstGeom prst="chevron">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Rounded Rectangle 40"/>
          <p:cNvSpPr/>
          <p:nvPr/>
        </p:nvSpPr>
        <p:spPr>
          <a:xfrm>
            <a:off x="8147304" y="3822191"/>
            <a:ext cx="1389888" cy="804672"/>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8193024" y="4095261"/>
            <a:ext cx="1298448" cy="258532"/>
          </a:xfrm>
          <a:prstGeom prst="rect">
            <a:avLst/>
          </a:prstGeom>
          <a:noFill/>
        </p:spPr>
        <p:txBody>
          <a:bodyPr wrap="square" lIns="36576" tIns="36576" rIns="36576" bIns="36576" anchor="ctr">
            <a:spAutoFit/>
          </a:bodyPr>
          <a:lstStyle/>
          <a:p>
            <a:pPr algn="ctr">
              <a:lnSpc>
                <a:spcPct val="100000"/>
              </a:lnSpc>
              <a:defRPr sz="1000" b="1">
                <a:solidFill>
                  <a:srgbClr val="0F172A"/>
                </a:solidFill>
                <a:latin typeface="Inter"/>
              </a:defRPr>
            </a:pPr>
            <a:r>
              <a:rPr sz="1200"/>
              <a:t>[I, Q]</a:t>
            </a:r>
          </a:p>
        </p:txBody>
      </p:sp>
      <p:sp>
        <p:nvSpPr>
          <p:cNvPr id="43" name="Chevron 42"/>
          <p:cNvSpPr/>
          <p:nvPr/>
        </p:nvSpPr>
        <p:spPr>
          <a:xfrm>
            <a:off x="9601200" y="4050791"/>
            <a:ext cx="310896" cy="347472"/>
          </a:xfrm>
          <a:prstGeom prst="chevron">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Rounded Rectangle 43"/>
          <p:cNvSpPr/>
          <p:nvPr/>
        </p:nvSpPr>
        <p:spPr>
          <a:xfrm>
            <a:off x="10012680" y="3822191"/>
            <a:ext cx="1389888" cy="804672"/>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10058400" y="4002928"/>
            <a:ext cx="1298448" cy="443198"/>
          </a:xfrm>
          <a:prstGeom prst="rect">
            <a:avLst/>
          </a:prstGeom>
          <a:noFill/>
        </p:spPr>
        <p:txBody>
          <a:bodyPr wrap="square" lIns="36576" tIns="36576" rIns="36576" bIns="36576" anchor="ctr">
            <a:spAutoFit/>
          </a:bodyPr>
          <a:lstStyle/>
          <a:p>
            <a:pPr algn="ctr">
              <a:lnSpc>
                <a:spcPct val="100000"/>
              </a:lnSpc>
              <a:defRPr sz="1000" b="1">
                <a:solidFill>
                  <a:srgbClr val="0F172A"/>
                </a:solidFill>
                <a:latin typeface="Inter"/>
              </a:defRPr>
            </a:pPr>
            <a:r>
              <a:rPr sz="1200"/>
              <a:t>RMS</a:t>
            </a:r>
            <a:br>
              <a:rPr sz="1200"/>
            </a:br>
            <a:r>
              <a:rPr sz="1200"/>
              <a:t>normalize</a:t>
            </a:r>
          </a:p>
        </p:txBody>
      </p:sp>
      <p:sp>
        <p:nvSpPr>
          <p:cNvPr id="46" name="Rounded Rectangle 45"/>
          <p:cNvSpPr/>
          <p:nvPr/>
        </p:nvSpPr>
        <p:spPr>
          <a:xfrm>
            <a:off x="2029968" y="5138928"/>
            <a:ext cx="8119872" cy="658368"/>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2240280" y="5294376"/>
            <a:ext cx="2606040" cy="292608"/>
          </a:xfrm>
          <a:prstGeom prst="rect">
            <a:avLst/>
          </a:prstGeom>
          <a:noFill/>
        </p:spPr>
        <p:txBody>
          <a:bodyPr wrap="square" lIns="36576" tIns="36576" rIns="36576" bIns="36576" anchor="ctr">
            <a:spAutoFit/>
          </a:bodyPr>
          <a:lstStyle/>
          <a:p>
            <a:pPr algn="l">
              <a:lnSpc>
                <a:spcPct val="100000"/>
              </a:lnSpc>
              <a:defRPr sz="1500" b="1">
                <a:solidFill>
                  <a:srgbClr val="0F172A"/>
                </a:solidFill>
                <a:latin typeface="Consolas"/>
              </a:defRPr>
            </a:pPr>
            <a:r>
              <a:t>RMS = √mean(I² + Q²)</a:t>
            </a:r>
          </a:p>
        </p:txBody>
      </p:sp>
      <p:sp>
        <p:nvSpPr>
          <p:cNvPr id="48" name="TextBox 47"/>
          <p:cNvSpPr txBox="1"/>
          <p:nvPr/>
        </p:nvSpPr>
        <p:spPr>
          <a:xfrm>
            <a:off x="5010912" y="5303520"/>
            <a:ext cx="4800600" cy="274320"/>
          </a:xfrm>
          <a:prstGeom prst="rect">
            <a:avLst/>
          </a:prstGeom>
          <a:noFill/>
        </p:spPr>
        <p:txBody>
          <a:bodyPr wrap="square" lIns="36576" tIns="36576" rIns="36576" bIns="36576" anchor="ctr">
            <a:spAutoFit/>
          </a:bodyPr>
          <a:lstStyle/>
          <a:p>
            <a:pPr algn="l">
              <a:lnSpc>
                <a:spcPct val="100000"/>
              </a:lnSpc>
              <a:defRPr sz="1050" b="1">
                <a:solidFill>
                  <a:srgbClr val="DC2626"/>
                </a:solidFill>
                <a:latin typeface="Inter"/>
              </a:defRPr>
            </a:pPr>
            <a:r>
              <a:rPr sz="1300"/>
              <a:t>Synthetic benchmark — not a full real-world RF channel model</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11480" y="190774"/>
            <a:ext cx="3840480" cy="258532"/>
          </a:xfrm>
          <a:prstGeom prst="rect">
            <a:avLst/>
          </a:prstGeom>
          <a:noFill/>
        </p:spPr>
        <p:txBody>
          <a:bodyPr wrap="square" lIns="36576" tIns="36576" rIns="36576" bIns="36576" anchor="ctr">
            <a:spAutoFit/>
          </a:bodyPr>
          <a:lstStyle/>
          <a:p>
            <a:pPr algn="l">
              <a:lnSpc>
                <a:spcPct val="100000"/>
              </a:lnSpc>
              <a:defRPr sz="1000" b="1">
                <a:solidFill>
                  <a:srgbClr val="0284C7"/>
                </a:solidFill>
                <a:latin typeface="Inter"/>
              </a:defRPr>
            </a:pPr>
            <a:r>
              <a:rPr sz="1200"/>
              <a:t>03 · EXPERIMENT</a:t>
            </a:r>
          </a:p>
        </p:txBody>
      </p:sp>
      <p:sp>
        <p:nvSpPr>
          <p:cNvPr id="3" name="TextBox 2"/>
          <p:cNvSpPr txBox="1"/>
          <p:nvPr/>
        </p:nvSpPr>
        <p:spPr>
          <a:xfrm>
            <a:off x="411480" y="438912"/>
            <a:ext cx="10744200" cy="640080"/>
          </a:xfrm>
          <a:prstGeom prst="rect">
            <a:avLst/>
          </a:prstGeom>
          <a:noFill/>
        </p:spPr>
        <p:txBody>
          <a:bodyPr wrap="square" lIns="36576" tIns="36576" rIns="36576" bIns="36576" anchor="ctr">
            <a:spAutoFit/>
          </a:bodyPr>
          <a:lstStyle/>
          <a:p>
            <a:pPr algn="l">
              <a:lnSpc>
                <a:spcPct val="100000"/>
              </a:lnSpc>
              <a:defRPr sz="3000" b="1">
                <a:solidFill>
                  <a:srgbClr val="0F172A"/>
                </a:solidFill>
                <a:latin typeface="Manrope"/>
              </a:defRPr>
            </a:pPr>
            <a:r>
              <a:t>Leakage-free paired comparison</a:t>
            </a:r>
          </a:p>
        </p:txBody>
      </p:sp>
      <p:sp>
        <p:nvSpPr>
          <p:cNvPr id="4" name="TextBox 3"/>
          <p:cNvSpPr txBox="1"/>
          <p:nvPr/>
        </p:nvSpPr>
        <p:spPr>
          <a:xfrm>
            <a:off x="411480" y="1080641"/>
            <a:ext cx="10561320" cy="289310"/>
          </a:xfrm>
          <a:prstGeom prst="rect">
            <a:avLst/>
          </a:prstGeom>
          <a:noFill/>
        </p:spPr>
        <p:txBody>
          <a:bodyPr wrap="square" lIns="36576" tIns="36576" rIns="36576" bIns="36576" anchor="ctr">
            <a:spAutoFit/>
          </a:bodyPr>
          <a:lstStyle/>
          <a:p>
            <a:pPr algn="l">
              <a:lnSpc>
                <a:spcPct val="100000"/>
              </a:lnSpc>
              <a:defRPr sz="1200" b="0">
                <a:solidFill>
                  <a:srgbClr val="64748B"/>
                </a:solidFill>
                <a:latin typeface="Inter"/>
              </a:defRPr>
            </a:pPr>
            <a:r>
              <a:rPr sz="1400"/>
              <a:t>Within each seed, baseline and augmented training differ only by augmentation</a:t>
            </a:r>
          </a:p>
        </p:txBody>
      </p:sp>
      <p:cxnSp>
        <p:nvCxnSpPr>
          <p:cNvPr id="5" name="Connector 4"/>
          <p:cNvCxnSpPr/>
          <p:nvPr/>
        </p:nvCxnSpPr>
        <p:spPr>
          <a:xfrm>
            <a:off x="411480" y="1435608"/>
            <a:ext cx="11365992" cy="0"/>
          </a:xfrm>
          <a:prstGeom prst="line">
            <a:avLst/>
          </a:prstGeom>
          <a:ln w="12700">
            <a:solidFill>
              <a:srgbClr val="E2E8F0"/>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11480" y="6515523"/>
            <a:ext cx="6126480" cy="227755"/>
          </a:xfrm>
          <a:prstGeom prst="rect">
            <a:avLst/>
          </a:prstGeom>
          <a:noFill/>
        </p:spPr>
        <p:txBody>
          <a:bodyPr wrap="square" lIns="36576" tIns="36576" rIns="36576" bIns="36576" anchor="ctr">
            <a:spAutoFit/>
          </a:bodyPr>
          <a:lstStyle/>
          <a:p>
            <a:pPr algn="l">
              <a:lnSpc>
                <a:spcPct val="100000"/>
              </a:lnSpc>
              <a:defRPr sz="900" b="0">
                <a:solidFill>
                  <a:srgbClr val="64748B"/>
                </a:solidFill>
                <a:latin typeface="Inter"/>
              </a:defRPr>
            </a:pPr>
            <a:r>
              <a:rPr sz="1000"/>
              <a:t>EE136: Machine Learning for Wireless Communications</a:t>
            </a:r>
          </a:p>
        </p:txBody>
      </p:sp>
      <p:sp>
        <p:nvSpPr>
          <p:cNvPr id="7" name="TextBox 6"/>
          <p:cNvSpPr txBox="1"/>
          <p:nvPr/>
        </p:nvSpPr>
        <p:spPr>
          <a:xfrm>
            <a:off x="10222992" y="6515523"/>
            <a:ext cx="1554480" cy="227755"/>
          </a:xfrm>
          <a:prstGeom prst="rect">
            <a:avLst/>
          </a:prstGeom>
          <a:noFill/>
        </p:spPr>
        <p:txBody>
          <a:bodyPr wrap="square" lIns="36576" tIns="36576" rIns="36576" bIns="36576" anchor="ctr">
            <a:spAutoFit/>
          </a:bodyPr>
          <a:lstStyle/>
          <a:p>
            <a:pPr algn="r">
              <a:lnSpc>
                <a:spcPct val="100000"/>
              </a:lnSpc>
              <a:defRPr sz="900" b="0">
                <a:solidFill>
                  <a:srgbClr val="64748B"/>
                </a:solidFill>
                <a:latin typeface="Inter"/>
              </a:defRPr>
            </a:pPr>
            <a:r>
              <a:rPr sz="1000"/>
              <a:t>Slide 5 of 12</a:t>
            </a:r>
          </a:p>
        </p:txBody>
      </p:sp>
      <p:sp>
        <p:nvSpPr>
          <p:cNvPr id="8" name="Rounded Rectangle 7"/>
          <p:cNvSpPr/>
          <p:nvPr/>
        </p:nvSpPr>
        <p:spPr>
          <a:xfrm>
            <a:off x="685800" y="1691640"/>
            <a:ext cx="10972800" cy="224028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32688" y="1891557"/>
            <a:ext cx="1417320" cy="258532"/>
          </a:xfrm>
          <a:prstGeom prst="rect">
            <a:avLst/>
          </a:prstGeom>
          <a:noFill/>
        </p:spPr>
        <p:txBody>
          <a:bodyPr wrap="square" lIns="36576" tIns="36576" rIns="36576" bIns="36576" anchor="ctr">
            <a:spAutoFit/>
          </a:bodyPr>
          <a:lstStyle/>
          <a:p>
            <a:pPr algn="l">
              <a:lnSpc>
                <a:spcPct val="100000"/>
              </a:lnSpc>
              <a:defRPr sz="1000" b="1">
                <a:solidFill>
                  <a:srgbClr val="0284C7"/>
                </a:solidFill>
                <a:latin typeface="Inter"/>
              </a:defRPr>
            </a:pPr>
            <a:r>
              <a:rPr sz="1200"/>
              <a:t>SEEDS 42–46</a:t>
            </a:r>
          </a:p>
        </p:txBody>
      </p:sp>
      <p:sp>
        <p:nvSpPr>
          <p:cNvPr id="10" name="Rounded Rectangle 9"/>
          <p:cNvSpPr/>
          <p:nvPr/>
        </p:nvSpPr>
        <p:spPr>
          <a:xfrm>
            <a:off x="914400" y="2359152"/>
            <a:ext cx="1463040" cy="713232"/>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87552" y="2494169"/>
            <a:ext cx="1316736" cy="443198"/>
          </a:xfrm>
          <a:prstGeom prst="rect">
            <a:avLst/>
          </a:prstGeom>
          <a:noFill/>
        </p:spPr>
        <p:txBody>
          <a:bodyPr wrap="square" lIns="36576" tIns="36576" rIns="36576" bIns="36576" anchor="ctr">
            <a:spAutoFit/>
          </a:bodyPr>
          <a:lstStyle/>
          <a:p>
            <a:pPr algn="ctr">
              <a:lnSpc>
                <a:spcPct val="100000"/>
              </a:lnSpc>
              <a:defRPr sz="1000" b="1">
                <a:solidFill>
                  <a:srgbClr val="0F172A"/>
                </a:solidFill>
                <a:latin typeface="Inter"/>
              </a:defRPr>
            </a:pPr>
            <a:r>
              <a:rPr sz="1200"/>
              <a:t>Same initial</a:t>
            </a:r>
            <a:br>
              <a:rPr sz="1200"/>
            </a:br>
            <a:r>
              <a:rPr sz="1200"/>
              <a:t>weights</a:t>
            </a:r>
          </a:p>
        </p:txBody>
      </p:sp>
      <p:sp>
        <p:nvSpPr>
          <p:cNvPr id="12" name="Chevron 11"/>
          <p:cNvSpPr/>
          <p:nvPr/>
        </p:nvSpPr>
        <p:spPr>
          <a:xfrm>
            <a:off x="2542032" y="2542032"/>
            <a:ext cx="411480" cy="347472"/>
          </a:xfrm>
          <a:prstGeom prst="chevron">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3127248" y="2057400"/>
            <a:ext cx="2011680" cy="594360"/>
          </a:xfrm>
          <a:prstGeom prst="roundRect">
            <a:avLst/>
          </a:prstGeom>
          <a:solidFill>
            <a:srgbClr val="FFFFFF"/>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3127248" y="2209925"/>
            <a:ext cx="2011680" cy="289310"/>
          </a:xfrm>
          <a:prstGeom prst="rect">
            <a:avLst/>
          </a:prstGeom>
          <a:noFill/>
        </p:spPr>
        <p:txBody>
          <a:bodyPr wrap="square" lIns="36576" tIns="36576" rIns="36576" bIns="36576" anchor="ctr">
            <a:spAutoFit/>
          </a:bodyPr>
          <a:lstStyle/>
          <a:p>
            <a:pPr algn="ctr">
              <a:lnSpc>
                <a:spcPct val="100000"/>
              </a:lnSpc>
              <a:defRPr sz="1200" b="1">
                <a:solidFill>
                  <a:srgbClr val="334155"/>
                </a:solidFill>
                <a:latin typeface="Inter"/>
              </a:defRPr>
            </a:pPr>
            <a:r>
              <a:rPr sz="1400"/>
              <a:t>Baseline</a:t>
            </a:r>
          </a:p>
        </p:txBody>
      </p:sp>
      <p:sp>
        <p:nvSpPr>
          <p:cNvPr id="15" name="Rounded Rectangle 14"/>
          <p:cNvSpPr/>
          <p:nvPr/>
        </p:nvSpPr>
        <p:spPr>
          <a:xfrm>
            <a:off x="3127248" y="2816352"/>
            <a:ext cx="2011680" cy="594360"/>
          </a:xfrm>
          <a:prstGeom prst="roundRect">
            <a:avLst/>
          </a:prstGeom>
          <a:solidFill>
            <a:srgbClr val="F0F9FF"/>
          </a:solidFill>
          <a:ln w="1270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3127248" y="2968877"/>
            <a:ext cx="2011680" cy="289310"/>
          </a:xfrm>
          <a:prstGeom prst="rect">
            <a:avLst/>
          </a:prstGeom>
          <a:noFill/>
        </p:spPr>
        <p:txBody>
          <a:bodyPr wrap="square" lIns="36576" tIns="36576" rIns="36576" bIns="36576" anchor="ctr">
            <a:spAutoFit/>
          </a:bodyPr>
          <a:lstStyle/>
          <a:p>
            <a:pPr algn="ctr">
              <a:lnSpc>
                <a:spcPct val="100000"/>
              </a:lnSpc>
              <a:defRPr sz="1200" b="1">
                <a:solidFill>
                  <a:srgbClr val="0284C7"/>
                </a:solidFill>
                <a:latin typeface="Inter"/>
              </a:defRPr>
            </a:pPr>
            <a:r>
              <a:rPr sz="1400"/>
              <a:t>Augmented</a:t>
            </a:r>
          </a:p>
        </p:txBody>
      </p:sp>
      <p:sp>
        <p:nvSpPr>
          <p:cNvPr id="17" name="Chevron 16"/>
          <p:cNvSpPr/>
          <p:nvPr/>
        </p:nvSpPr>
        <p:spPr>
          <a:xfrm>
            <a:off x="5330952" y="2542032"/>
            <a:ext cx="411480" cy="347472"/>
          </a:xfrm>
          <a:prstGeom prst="chevron">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5916168" y="2359152"/>
            <a:ext cx="1691640" cy="713232"/>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5989320" y="2494169"/>
            <a:ext cx="1554480" cy="443198"/>
          </a:xfrm>
          <a:prstGeom prst="rect">
            <a:avLst/>
          </a:prstGeom>
          <a:noFill/>
        </p:spPr>
        <p:txBody>
          <a:bodyPr wrap="square" lIns="36576" tIns="36576" rIns="36576" bIns="36576" anchor="ctr">
            <a:spAutoFit/>
          </a:bodyPr>
          <a:lstStyle/>
          <a:p>
            <a:pPr algn="ctr">
              <a:lnSpc>
                <a:spcPct val="100000"/>
              </a:lnSpc>
              <a:defRPr sz="1000" b="1">
                <a:solidFill>
                  <a:srgbClr val="0F172A"/>
                </a:solidFill>
                <a:latin typeface="Inter"/>
              </a:defRPr>
            </a:pPr>
            <a:r>
              <a:rPr sz="1200"/>
              <a:t>Same shuffle +</a:t>
            </a:r>
            <a:br>
              <a:rPr sz="1200"/>
            </a:br>
            <a:r>
              <a:rPr sz="1200"/>
              <a:t>hyperparameters</a:t>
            </a:r>
          </a:p>
        </p:txBody>
      </p:sp>
      <p:sp>
        <p:nvSpPr>
          <p:cNvPr id="20" name="Chevron 19"/>
          <p:cNvSpPr/>
          <p:nvPr/>
        </p:nvSpPr>
        <p:spPr>
          <a:xfrm>
            <a:off x="7790688" y="2542032"/>
            <a:ext cx="411480" cy="347472"/>
          </a:xfrm>
          <a:prstGeom prst="chevron">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8385048" y="2359152"/>
            <a:ext cx="1298448" cy="713232"/>
          </a:xfrm>
          <a:prstGeom prst="roundRect">
            <a:avLst/>
          </a:prstGeom>
          <a:solidFill>
            <a:srgbClr val="F0F9FF"/>
          </a:solidFill>
          <a:ln w="1270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439912" y="2494169"/>
            <a:ext cx="1188720" cy="443198"/>
          </a:xfrm>
          <a:prstGeom prst="rect">
            <a:avLst/>
          </a:prstGeom>
          <a:noFill/>
        </p:spPr>
        <p:txBody>
          <a:bodyPr wrap="square" lIns="36576" tIns="36576" rIns="36576" bIns="36576" anchor="ctr">
            <a:spAutoFit/>
          </a:bodyPr>
          <a:lstStyle/>
          <a:p>
            <a:pPr algn="ctr">
              <a:lnSpc>
                <a:spcPct val="100000"/>
              </a:lnSpc>
              <a:defRPr sz="1000" b="1">
                <a:solidFill>
                  <a:srgbClr val="0284C7"/>
                </a:solidFill>
                <a:latin typeface="Inter"/>
              </a:defRPr>
            </a:pPr>
            <a:r>
              <a:rPr sz="1200"/>
              <a:t>Validation</a:t>
            </a:r>
            <a:br>
              <a:rPr sz="1200"/>
            </a:br>
            <a:r>
              <a:rPr sz="1200"/>
              <a:t>selects</a:t>
            </a:r>
          </a:p>
        </p:txBody>
      </p:sp>
      <p:sp>
        <p:nvSpPr>
          <p:cNvPr id="23" name="Chevron 22"/>
          <p:cNvSpPr/>
          <p:nvPr/>
        </p:nvSpPr>
        <p:spPr>
          <a:xfrm>
            <a:off x="9848088" y="2542032"/>
            <a:ext cx="411480" cy="347472"/>
          </a:xfrm>
          <a:prstGeom prst="chevron">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ounded Rectangle 23"/>
          <p:cNvSpPr/>
          <p:nvPr/>
        </p:nvSpPr>
        <p:spPr>
          <a:xfrm>
            <a:off x="10378440" y="2359152"/>
            <a:ext cx="932688" cy="713232"/>
          </a:xfrm>
          <a:prstGeom prst="roundRect">
            <a:avLst/>
          </a:prstGeom>
          <a:solidFill>
            <a:srgbClr val="FFFFFF"/>
          </a:solidFill>
          <a:ln w="1270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10424160" y="2494169"/>
            <a:ext cx="841248" cy="443198"/>
          </a:xfrm>
          <a:prstGeom prst="rect">
            <a:avLst/>
          </a:prstGeom>
          <a:noFill/>
        </p:spPr>
        <p:txBody>
          <a:bodyPr wrap="square" lIns="36576" tIns="36576" rIns="36576" bIns="36576" anchor="ctr">
            <a:spAutoFit/>
          </a:bodyPr>
          <a:lstStyle/>
          <a:p>
            <a:pPr algn="ctr">
              <a:lnSpc>
                <a:spcPct val="100000"/>
              </a:lnSpc>
              <a:defRPr sz="1000" b="1">
                <a:solidFill>
                  <a:srgbClr val="059669"/>
                </a:solidFill>
                <a:latin typeface="Inter"/>
              </a:defRPr>
            </a:pPr>
            <a:r>
              <a:rPr sz="1200"/>
              <a:t>Test</a:t>
            </a:r>
            <a:br>
              <a:rPr sz="1200"/>
            </a:br>
            <a:r>
              <a:rPr sz="1200"/>
              <a:t>once</a:t>
            </a:r>
          </a:p>
        </p:txBody>
      </p:sp>
      <p:sp>
        <p:nvSpPr>
          <p:cNvPr id="26" name="Rounded Rectangle 25"/>
          <p:cNvSpPr/>
          <p:nvPr/>
        </p:nvSpPr>
        <p:spPr>
          <a:xfrm>
            <a:off x="685800" y="4315968"/>
            <a:ext cx="3401568" cy="1078992"/>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868680" y="4480560"/>
            <a:ext cx="3017520" cy="256032"/>
          </a:xfrm>
          <a:prstGeom prst="rect">
            <a:avLst/>
          </a:prstGeom>
          <a:noFill/>
        </p:spPr>
        <p:txBody>
          <a:bodyPr wrap="square" lIns="36576" tIns="36576" rIns="36576" bIns="36576" anchor="ctr">
            <a:spAutoFit/>
          </a:bodyPr>
          <a:lstStyle/>
          <a:p>
            <a:pPr algn="l">
              <a:lnSpc>
                <a:spcPct val="100000"/>
              </a:lnSpc>
              <a:defRPr sz="1000" b="1">
                <a:solidFill>
                  <a:srgbClr val="0284C7"/>
                </a:solidFill>
                <a:latin typeface="Inter"/>
              </a:defRPr>
            </a:pPr>
            <a:r>
              <a:rPr sz="1200"/>
              <a:t>NO TEST LEAKAGE</a:t>
            </a:r>
          </a:p>
        </p:txBody>
      </p:sp>
      <p:sp>
        <p:nvSpPr>
          <p:cNvPr id="28" name="TextBox 27"/>
          <p:cNvSpPr txBox="1"/>
          <p:nvPr/>
        </p:nvSpPr>
        <p:spPr>
          <a:xfrm>
            <a:off x="868680" y="4780169"/>
            <a:ext cx="2999232" cy="443198"/>
          </a:xfrm>
          <a:prstGeom prst="rect">
            <a:avLst/>
          </a:prstGeom>
          <a:noFill/>
        </p:spPr>
        <p:txBody>
          <a:bodyPr wrap="square" lIns="36576" tIns="36576" rIns="36576" bIns="36576" anchor="ctr">
            <a:spAutoFit/>
          </a:bodyPr>
          <a:lstStyle/>
          <a:p>
            <a:pPr algn="l">
              <a:lnSpc>
                <a:spcPct val="100000"/>
              </a:lnSpc>
              <a:defRPr sz="950" b="0">
                <a:solidFill>
                  <a:srgbClr val="475569"/>
                </a:solidFill>
                <a:latin typeface="Inter"/>
              </a:defRPr>
            </a:pPr>
            <a:r>
              <a:rPr sz="1200"/>
              <a:t>Transform and checkpoint are chosen on validation.</a:t>
            </a:r>
          </a:p>
        </p:txBody>
      </p:sp>
      <p:sp>
        <p:nvSpPr>
          <p:cNvPr id="29" name="Rounded Rectangle 28"/>
          <p:cNvSpPr/>
          <p:nvPr/>
        </p:nvSpPr>
        <p:spPr>
          <a:xfrm>
            <a:off x="4416552" y="4315968"/>
            <a:ext cx="3401568" cy="1078992"/>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4599432" y="4480560"/>
            <a:ext cx="3017520" cy="256032"/>
          </a:xfrm>
          <a:prstGeom prst="rect">
            <a:avLst/>
          </a:prstGeom>
          <a:noFill/>
        </p:spPr>
        <p:txBody>
          <a:bodyPr wrap="square" lIns="36576" tIns="36576" rIns="36576" bIns="36576" anchor="ctr">
            <a:spAutoFit/>
          </a:bodyPr>
          <a:lstStyle/>
          <a:p>
            <a:pPr algn="l">
              <a:lnSpc>
                <a:spcPct val="100000"/>
              </a:lnSpc>
              <a:defRPr sz="1000" b="1">
                <a:solidFill>
                  <a:srgbClr val="0284C7"/>
                </a:solidFill>
                <a:latin typeface="Inter"/>
              </a:defRPr>
            </a:pPr>
            <a:r>
              <a:rPr sz="1200"/>
              <a:t>PAIRED RANDOMNESS</a:t>
            </a:r>
          </a:p>
        </p:txBody>
      </p:sp>
      <p:sp>
        <p:nvSpPr>
          <p:cNvPr id="31" name="TextBox 30"/>
          <p:cNvSpPr txBox="1"/>
          <p:nvPr/>
        </p:nvSpPr>
        <p:spPr>
          <a:xfrm>
            <a:off x="4599432" y="4872502"/>
            <a:ext cx="2999232" cy="258532"/>
          </a:xfrm>
          <a:prstGeom prst="rect">
            <a:avLst/>
          </a:prstGeom>
          <a:noFill/>
        </p:spPr>
        <p:txBody>
          <a:bodyPr wrap="square" lIns="36576" tIns="36576" rIns="36576" bIns="36576" anchor="ctr">
            <a:spAutoFit/>
          </a:bodyPr>
          <a:lstStyle/>
          <a:p>
            <a:pPr algn="l">
              <a:lnSpc>
                <a:spcPct val="100000"/>
              </a:lnSpc>
              <a:defRPr sz="950" b="0">
                <a:solidFill>
                  <a:srgbClr val="475569"/>
                </a:solidFill>
                <a:latin typeface="Inter"/>
              </a:defRPr>
            </a:pPr>
            <a:r>
              <a:rPr sz="1200"/>
              <a:t>Initial weights and batch order are matched.</a:t>
            </a:r>
          </a:p>
        </p:txBody>
      </p:sp>
      <p:sp>
        <p:nvSpPr>
          <p:cNvPr id="32" name="Rounded Rectangle 31"/>
          <p:cNvSpPr/>
          <p:nvPr/>
        </p:nvSpPr>
        <p:spPr>
          <a:xfrm>
            <a:off x="8147304" y="4315968"/>
            <a:ext cx="3401568" cy="1078992"/>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8330183" y="4480560"/>
            <a:ext cx="3017520" cy="256032"/>
          </a:xfrm>
          <a:prstGeom prst="rect">
            <a:avLst/>
          </a:prstGeom>
          <a:noFill/>
        </p:spPr>
        <p:txBody>
          <a:bodyPr wrap="square" lIns="36576" tIns="36576" rIns="36576" bIns="36576" anchor="ctr">
            <a:spAutoFit/>
          </a:bodyPr>
          <a:lstStyle/>
          <a:p>
            <a:pPr algn="l">
              <a:lnSpc>
                <a:spcPct val="100000"/>
              </a:lnSpc>
              <a:defRPr sz="1000" b="1">
                <a:solidFill>
                  <a:srgbClr val="059669"/>
                </a:solidFill>
                <a:latin typeface="Inter"/>
              </a:defRPr>
            </a:pPr>
            <a:r>
              <a:rPr sz="1200"/>
              <a:t>MULTI-SEED REPORT</a:t>
            </a:r>
          </a:p>
        </p:txBody>
      </p:sp>
      <p:sp>
        <p:nvSpPr>
          <p:cNvPr id="34" name="TextBox 33"/>
          <p:cNvSpPr txBox="1"/>
          <p:nvPr/>
        </p:nvSpPr>
        <p:spPr>
          <a:xfrm>
            <a:off x="8330183" y="4872502"/>
            <a:ext cx="2999232" cy="258532"/>
          </a:xfrm>
          <a:prstGeom prst="rect">
            <a:avLst/>
          </a:prstGeom>
          <a:noFill/>
        </p:spPr>
        <p:txBody>
          <a:bodyPr wrap="square" lIns="36576" tIns="36576" rIns="36576" bIns="36576" anchor="ctr">
            <a:spAutoFit/>
          </a:bodyPr>
          <a:lstStyle/>
          <a:p>
            <a:pPr algn="l">
              <a:lnSpc>
                <a:spcPct val="100000"/>
              </a:lnSpc>
              <a:defRPr sz="950" b="0">
                <a:solidFill>
                  <a:srgbClr val="475569"/>
                </a:solidFill>
                <a:latin typeface="Inter"/>
              </a:defRPr>
            </a:pPr>
            <a:r>
              <a:rPr sz="1200"/>
              <a:t>Mean ± sample SD across five training seeds.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11480" y="190774"/>
            <a:ext cx="3840480" cy="258532"/>
          </a:xfrm>
          <a:prstGeom prst="rect">
            <a:avLst/>
          </a:prstGeom>
          <a:noFill/>
        </p:spPr>
        <p:txBody>
          <a:bodyPr wrap="square" lIns="36576" tIns="36576" rIns="36576" bIns="36576" anchor="ctr">
            <a:spAutoFit/>
          </a:bodyPr>
          <a:lstStyle/>
          <a:p>
            <a:pPr algn="l">
              <a:lnSpc>
                <a:spcPct val="100000"/>
              </a:lnSpc>
              <a:defRPr sz="1000" b="1">
                <a:solidFill>
                  <a:srgbClr val="0284C7"/>
                </a:solidFill>
                <a:latin typeface="Inter"/>
              </a:defRPr>
            </a:pPr>
            <a:r>
              <a:rPr sz="1200"/>
              <a:t>03 · AUGMENTATION</a:t>
            </a:r>
          </a:p>
        </p:txBody>
      </p:sp>
      <p:sp>
        <p:nvSpPr>
          <p:cNvPr id="3" name="TextBox 2"/>
          <p:cNvSpPr txBox="1"/>
          <p:nvPr/>
        </p:nvSpPr>
        <p:spPr>
          <a:xfrm>
            <a:off x="411480" y="438912"/>
            <a:ext cx="10744200" cy="640080"/>
          </a:xfrm>
          <a:prstGeom prst="rect">
            <a:avLst/>
          </a:prstGeom>
          <a:noFill/>
        </p:spPr>
        <p:txBody>
          <a:bodyPr wrap="square" lIns="36576" tIns="36576" rIns="36576" bIns="36576" anchor="ctr">
            <a:spAutoFit/>
          </a:bodyPr>
          <a:lstStyle/>
          <a:p>
            <a:pPr algn="l">
              <a:lnSpc>
                <a:spcPct val="100000"/>
              </a:lnSpc>
              <a:defRPr sz="3000" b="1">
                <a:solidFill>
                  <a:srgbClr val="0F172A"/>
                </a:solidFill>
                <a:latin typeface="Manrope"/>
              </a:defRPr>
            </a:pPr>
            <a:r>
              <a:t>Four physically motivated candidates</a:t>
            </a:r>
          </a:p>
        </p:txBody>
      </p:sp>
      <p:sp>
        <p:nvSpPr>
          <p:cNvPr id="4" name="TextBox 3"/>
          <p:cNvSpPr txBox="1"/>
          <p:nvPr/>
        </p:nvSpPr>
        <p:spPr>
          <a:xfrm>
            <a:off x="411480" y="1080641"/>
            <a:ext cx="10561320" cy="289310"/>
          </a:xfrm>
          <a:prstGeom prst="rect">
            <a:avLst/>
          </a:prstGeom>
          <a:noFill/>
        </p:spPr>
        <p:txBody>
          <a:bodyPr wrap="square" lIns="36576" tIns="36576" rIns="36576" bIns="36576" anchor="ctr">
            <a:spAutoFit/>
          </a:bodyPr>
          <a:lstStyle/>
          <a:p>
            <a:pPr algn="l">
              <a:lnSpc>
                <a:spcPct val="100000"/>
              </a:lnSpc>
              <a:defRPr sz="1200" b="0">
                <a:solidFill>
                  <a:srgbClr val="64748B"/>
                </a:solidFill>
                <a:latin typeface="Inter"/>
              </a:defRPr>
            </a:pPr>
            <a:r>
              <a:rPr sz="1400"/>
              <a:t>Each transform is ablated before considering the full combination</a:t>
            </a:r>
          </a:p>
        </p:txBody>
      </p:sp>
      <p:cxnSp>
        <p:nvCxnSpPr>
          <p:cNvPr id="5" name="Connector 4"/>
          <p:cNvCxnSpPr/>
          <p:nvPr/>
        </p:nvCxnSpPr>
        <p:spPr>
          <a:xfrm>
            <a:off x="411480" y="1435608"/>
            <a:ext cx="11365992" cy="0"/>
          </a:xfrm>
          <a:prstGeom prst="line">
            <a:avLst/>
          </a:prstGeom>
          <a:ln w="12700">
            <a:solidFill>
              <a:srgbClr val="E2E8F0"/>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11480" y="6515523"/>
            <a:ext cx="6126480" cy="227755"/>
          </a:xfrm>
          <a:prstGeom prst="rect">
            <a:avLst/>
          </a:prstGeom>
          <a:noFill/>
        </p:spPr>
        <p:txBody>
          <a:bodyPr wrap="square" lIns="36576" tIns="36576" rIns="36576" bIns="36576" anchor="ctr">
            <a:spAutoFit/>
          </a:bodyPr>
          <a:lstStyle/>
          <a:p>
            <a:pPr algn="l">
              <a:lnSpc>
                <a:spcPct val="100000"/>
              </a:lnSpc>
              <a:defRPr sz="900" b="0">
                <a:solidFill>
                  <a:srgbClr val="64748B"/>
                </a:solidFill>
                <a:latin typeface="Inter"/>
              </a:defRPr>
            </a:pPr>
            <a:r>
              <a:rPr sz="1000"/>
              <a:t>EE136: Machine Learning for Wireless Communications</a:t>
            </a:r>
          </a:p>
        </p:txBody>
      </p:sp>
      <p:sp>
        <p:nvSpPr>
          <p:cNvPr id="7" name="TextBox 6"/>
          <p:cNvSpPr txBox="1"/>
          <p:nvPr/>
        </p:nvSpPr>
        <p:spPr>
          <a:xfrm>
            <a:off x="10222992" y="6515523"/>
            <a:ext cx="1554480" cy="227755"/>
          </a:xfrm>
          <a:prstGeom prst="rect">
            <a:avLst/>
          </a:prstGeom>
          <a:noFill/>
        </p:spPr>
        <p:txBody>
          <a:bodyPr wrap="square" lIns="36576" tIns="36576" rIns="36576" bIns="36576" anchor="ctr">
            <a:spAutoFit/>
          </a:bodyPr>
          <a:lstStyle/>
          <a:p>
            <a:pPr algn="r">
              <a:lnSpc>
                <a:spcPct val="100000"/>
              </a:lnSpc>
              <a:defRPr sz="900" b="0">
                <a:solidFill>
                  <a:srgbClr val="64748B"/>
                </a:solidFill>
                <a:latin typeface="Inter"/>
              </a:defRPr>
            </a:pPr>
            <a:r>
              <a:rPr sz="1000"/>
              <a:t>Slide 6 of 12</a:t>
            </a:r>
          </a:p>
        </p:txBody>
      </p:sp>
      <p:sp>
        <p:nvSpPr>
          <p:cNvPr id="8" name="Rounded Rectangle 7"/>
          <p:cNvSpPr/>
          <p:nvPr/>
        </p:nvSpPr>
        <p:spPr>
          <a:xfrm>
            <a:off x="658368" y="1664208"/>
            <a:ext cx="5257800" cy="1353312"/>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658368" y="1664208"/>
            <a:ext cx="91440" cy="1353312"/>
          </a:xfrm>
          <a:prstGeom prst="rect">
            <a:avLst/>
          </a:prstGeom>
          <a:solidFill>
            <a:srgbClr val="0284C7"/>
          </a:solidFill>
          <a:ln w="1270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32688" y="1819856"/>
            <a:ext cx="2514600" cy="273921"/>
          </a:xfrm>
          <a:prstGeom prst="rect">
            <a:avLst/>
          </a:prstGeom>
          <a:noFill/>
        </p:spPr>
        <p:txBody>
          <a:bodyPr wrap="square" lIns="36576" tIns="36576" rIns="36576" bIns="36576" anchor="ctr">
            <a:spAutoFit/>
          </a:bodyPr>
          <a:lstStyle/>
          <a:p>
            <a:pPr algn="l">
              <a:lnSpc>
                <a:spcPct val="100000"/>
              </a:lnSpc>
              <a:defRPr sz="1100" b="1">
                <a:solidFill>
                  <a:srgbClr val="0284C7"/>
                </a:solidFill>
                <a:latin typeface="Inter"/>
              </a:defRPr>
            </a:pPr>
            <a:r>
              <a:rPr sz="1300"/>
              <a:t>PHASE ROTATION</a:t>
            </a:r>
          </a:p>
        </p:txBody>
      </p:sp>
      <p:sp>
        <p:nvSpPr>
          <p:cNvPr id="11" name="TextBox 10"/>
          <p:cNvSpPr txBox="1"/>
          <p:nvPr/>
        </p:nvSpPr>
        <p:spPr>
          <a:xfrm>
            <a:off x="4828031" y="1828800"/>
            <a:ext cx="749808" cy="256032"/>
          </a:xfrm>
          <a:prstGeom prst="rect">
            <a:avLst/>
          </a:prstGeom>
          <a:noFill/>
        </p:spPr>
        <p:txBody>
          <a:bodyPr wrap="square" lIns="36576" tIns="36576" rIns="36576" bIns="36576" anchor="ctr">
            <a:spAutoFit/>
          </a:bodyPr>
          <a:lstStyle/>
          <a:p>
            <a:pPr algn="r">
              <a:lnSpc>
                <a:spcPct val="100000"/>
              </a:lnSpc>
              <a:defRPr sz="1000" b="1">
                <a:solidFill>
                  <a:srgbClr val="0F172A"/>
                </a:solidFill>
                <a:latin typeface="Inter"/>
              </a:defRPr>
            </a:pPr>
            <a:r>
              <a:rPr sz="1200"/>
              <a:t>p = 0.50</a:t>
            </a:r>
          </a:p>
        </p:txBody>
      </p:sp>
      <p:sp>
        <p:nvSpPr>
          <p:cNvPr id="12" name="TextBox 11"/>
          <p:cNvSpPr txBox="1"/>
          <p:nvPr/>
        </p:nvSpPr>
        <p:spPr>
          <a:xfrm>
            <a:off x="932688" y="2176272"/>
            <a:ext cx="2697480" cy="329184"/>
          </a:xfrm>
          <a:prstGeom prst="rect">
            <a:avLst/>
          </a:prstGeom>
          <a:noFill/>
        </p:spPr>
        <p:txBody>
          <a:bodyPr wrap="square" lIns="36576" tIns="36576" rIns="36576" bIns="36576" anchor="ctr">
            <a:spAutoFit/>
          </a:bodyPr>
          <a:lstStyle/>
          <a:p>
            <a:pPr algn="l">
              <a:lnSpc>
                <a:spcPct val="100000"/>
              </a:lnSpc>
              <a:defRPr sz="1600" b="1">
                <a:solidFill>
                  <a:srgbClr val="0F172A"/>
                </a:solidFill>
                <a:latin typeface="Consolas"/>
              </a:defRPr>
            </a:pPr>
            <a:r>
              <a:t>s′[n] = s[n]eʲᶿ</a:t>
            </a:r>
          </a:p>
        </p:txBody>
      </p:sp>
      <p:sp>
        <p:nvSpPr>
          <p:cNvPr id="13" name="TextBox 12"/>
          <p:cNvSpPr txBox="1"/>
          <p:nvPr/>
        </p:nvSpPr>
        <p:spPr>
          <a:xfrm>
            <a:off x="3538728" y="2211598"/>
            <a:ext cx="2011680" cy="258532"/>
          </a:xfrm>
          <a:prstGeom prst="rect">
            <a:avLst/>
          </a:prstGeom>
          <a:noFill/>
        </p:spPr>
        <p:txBody>
          <a:bodyPr wrap="square" lIns="36576" tIns="36576" rIns="36576" bIns="36576" anchor="ctr">
            <a:spAutoFit/>
          </a:bodyPr>
          <a:lstStyle/>
          <a:p>
            <a:pPr algn="r">
              <a:lnSpc>
                <a:spcPct val="100000"/>
              </a:lnSpc>
              <a:defRPr sz="1000" b="0">
                <a:solidFill>
                  <a:srgbClr val="475569"/>
                </a:solidFill>
                <a:latin typeface="Inter"/>
              </a:defRPr>
            </a:pPr>
            <a:r>
              <a:rPr sz="1200"/>
              <a:t>Constant phase offset</a:t>
            </a:r>
          </a:p>
        </p:txBody>
      </p:sp>
      <p:sp>
        <p:nvSpPr>
          <p:cNvPr id="14" name="Rounded Rectangle 13"/>
          <p:cNvSpPr/>
          <p:nvPr/>
        </p:nvSpPr>
        <p:spPr>
          <a:xfrm>
            <a:off x="6309359" y="1664208"/>
            <a:ext cx="5257800" cy="1353312"/>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6309359" y="1664208"/>
            <a:ext cx="91440" cy="135331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583679" y="1819856"/>
            <a:ext cx="2514600" cy="273921"/>
          </a:xfrm>
          <a:prstGeom prst="rect">
            <a:avLst/>
          </a:prstGeom>
          <a:noFill/>
        </p:spPr>
        <p:txBody>
          <a:bodyPr wrap="square" lIns="36576" tIns="36576" rIns="36576" bIns="36576" anchor="ctr">
            <a:spAutoFit/>
          </a:bodyPr>
          <a:lstStyle/>
          <a:p>
            <a:pPr algn="l">
              <a:lnSpc>
                <a:spcPct val="100000"/>
              </a:lnSpc>
              <a:defRPr sz="1100" b="1">
                <a:solidFill>
                  <a:srgbClr val="2563EB"/>
                </a:solidFill>
                <a:latin typeface="Inter"/>
              </a:defRPr>
            </a:pPr>
            <a:r>
              <a:rPr sz="1300"/>
              <a:t>ADDED AWGN</a:t>
            </a:r>
          </a:p>
        </p:txBody>
      </p:sp>
      <p:sp>
        <p:nvSpPr>
          <p:cNvPr id="17" name="TextBox 16"/>
          <p:cNvSpPr txBox="1"/>
          <p:nvPr/>
        </p:nvSpPr>
        <p:spPr>
          <a:xfrm>
            <a:off x="10479024" y="1828800"/>
            <a:ext cx="749808" cy="256032"/>
          </a:xfrm>
          <a:prstGeom prst="rect">
            <a:avLst/>
          </a:prstGeom>
          <a:noFill/>
        </p:spPr>
        <p:txBody>
          <a:bodyPr wrap="square" lIns="36576" tIns="36576" rIns="36576" bIns="36576" anchor="ctr">
            <a:spAutoFit/>
          </a:bodyPr>
          <a:lstStyle/>
          <a:p>
            <a:pPr algn="r">
              <a:lnSpc>
                <a:spcPct val="100000"/>
              </a:lnSpc>
              <a:defRPr sz="1000" b="1">
                <a:solidFill>
                  <a:srgbClr val="0F172A"/>
                </a:solidFill>
                <a:latin typeface="Inter"/>
              </a:defRPr>
            </a:pPr>
            <a:r>
              <a:rPr sz="1200"/>
              <a:t>p = 0.40</a:t>
            </a:r>
          </a:p>
        </p:txBody>
      </p:sp>
      <p:sp>
        <p:nvSpPr>
          <p:cNvPr id="18" name="TextBox 17"/>
          <p:cNvSpPr txBox="1"/>
          <p:nvPr/>
        </p:nvSpPr>
        <p:spPr>
          <a:xfrm>
            <a:off x="6583679" y="2176272"/>
            <a:ext cx="2697480" cy="329184"/>
          </a:xfrm>
          <a:prstGeom prst="rect">
            <a:avLst/>
          </a:prstGeom>
          <a:noFill/>
        </p:spPr>
        <p:txBody>
          <a:bodyPr wrap="square" lIns="36576" tIns="36576" rIns="36576" bIns="36576" anchor="ctr">
            <a:spAutoFit/>
          </a:bodyPr>
          <a:lstStyle/>
          <a:p>
            <a:pPr algn="l">
              <a:lnSpc>
                <a:spcPct val="100000"/>
              </a:lnSpc>
              <a:defRPr sz="1600" b="1">
                <a:solidFill>
                  <a:srgbClr val="0F172A"/>
                </a:solidFill>
                <a:latin typeface="Consolas"/>
              </a:defRPr>
            </a:pPr>
            <a:r>
              <a:t>ΔSNR ∈ [0, 6] dB</a:t>
            </a:r>
          </a:p>
        </p:txBody>
      </p:sp>
      <p:sp>
        <p:nvSpPr>
          <p:cNvPr id="19" name="TextBox 18"/>
          <p:cNvSpPr txBox="1"/>
          <p:nvPr/>
        </p:nvSpPr>
        <p:spPr>
          <a:xfrm>
            <a:off x="9189719" y="2211598"/>
            <a:ext cx="2011680" cy="258532"/>
          </a:xfrm>
          <a:prstGeom prst="rect">
            <a:avLst/>
          </a:prstGeom>
          <a:noFill/>
        </p:spPr>
        <p:txBody>
          <a:bodyPr wrap="square" lIns="36576" tIns="36576" rIns="36576" bIns="36576" anchor="ctr">
            <a:spAutoFit/>
          </a:bodyPr>
          <a:lstStyle/>
          <a:p>
            <a:pPr algn="r">
              <a:lnSpc>
                <a:spcPct val="100000"/>
              </a:lnSpc>
              <a:defRPr sz="1000" b="0">
                <a:solidFill>
                  <a:srgbClr val="475569"/>
                </a:solidFill>
                <a:latin typeface="Inter"/>
              </a:defRPr>
            </a:pPr>
            <a:r>
              <a:rPr sz="1200"/>
              <a:t>Randomly lower SNR</a:t>
            </a:r>
          </a:p>
        </p:txBody>
      </p:sp>
      <p:sp>
        <p:nvSpPr>
          <p:cNvPr id="20" name="Rounded Rectangle 19"/>
          <p:cNvSpPr/>
          <p:nvPr/>
        </p:nvSpPr>
        <p:spPr>
          <a:xfrm>
            <a:off x="658368" y="3328416"/>
            <a:ext cx="5257800" cy="1353312"/>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658368" y="3328416"/>
            <a:ext cx="91440" cy="1353312"/>
          </a:xfrm>
          <a:prstGeom prst="rect">
            <a:avLst/>
          </a:prstGeom>
          <a:solidFill>
            <a:srgbClr val="059669"/>
          </a:solidFill>
          <a:ln w="1270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932688" y="3484064"/>
            <a:ext cx="2514600" cy="273921"/>
          </a:xfrm>
          <a:prstGeom prst="rect">
            <a:avLst/>
          </a:prstGeom>
          <a:noFill/>
        </p:spPr>
        <p:txBody>
          <a:bodyPr wrap="square" lIns="36576" tIns="36576" rIns="36576" bIns="36576" anchor="ctr">
            <a:spAutoFit/>
          </a:bodyPr>
          <a:lstStyle/>
          <a:p>
            <a:pPr algn="l">
              <a:lnSpc>
                <a:spcPct val="100000"/>
              </a:lnSpc>
              <a:defRPr sz="1100" b="1">
                <a:solidFill>
                  <a:srgbClr val="059669"/>
                </a:solidFill>
                <a:latin typeface="Inter"/>
              </a:defRPr>
            </a:pPr>
            <a:r>
              <a:rPr sz="1300"/>
              <a:t>CIRCULAR SHIFT</a:t>
            </a:r>
          </a:p>
        </p:txBody>
      </p:sp>
      <p:sp>
        <p:nvSpPr>
          <p:cNvPr id="23" name="TextBox 22"/>
          <p:cNvSpPr txBox="1"/>
          <p:nvPr/>
        </p:nvSpPr>
        <p:spPr>
          <a:xfrm>
            <a:off x="4828031" y="3493008"/>
            <a:ext cx="749808" cy="256032"/>
          </a:xfrm>
          <a:prstGeom prst="rect">
            <a:avLst/>
          </a:prstGeom>
          <a:noFill/>
        </p:spPr>
        <p:txBody>
          <a:bodyPr wrap="square" lIns="36576" tIns="36576" rIns="36576" bIns="36576" anchor="ctr">
            <a:spAutoFit/>
          </a:bodyPr>
          <a:lstStyle/>
          <a:p>
            <a:pPr algn="r">
              <a:lnSpc>
                <a:spcPct val="100000"/>
              </a:lnSpc>
              <a:defRPr sz="1000" b="1">
                <a:solidFill>
                  <a:srgbClr val="0F172A"/>
                </a:solidFill>
                <a:latin typeface="Inter"/>
              </a:defRPr>
            </a:pPr>
            <a:r>
              <a:rPr sz="1200"/>
              <a:t>p = 0.40</a:t>
            </a:r>
          </a:p>
        </p:txBody>
      </p:sp>
      <p:sp>
        <p:nvSpPr>
          <p:cNvPr id="24" name="TextBox 23"/>
          <p:cNvSpPr txBox="1"/>
          <p:nvPr/>
        </p:nvSpPr>
        <p:spPr>
          <a:xfrm>
            <a:off x="932688" y="3840480"/>
            <a:ext cx="2697480" cy="329184"/>
          </a:xfrm>
          <a:prstGeom prst="rect">
            <a:avLst/>
          </a:prstGeom>
          <a:noFill/>
        </p:spPr>
        <p:txBody>
          <a:bodyPr wrap="square" lIns="36576" tIns="36576" rIns="36576" bIns="36576" anchor="ctr">
            <a:spAutoFit/>
          </a:bodyPr>
          <a:lstStyle/>
          <a:p>
            <a:pPr algn="l">
              <a:lnSpc>
                <a:spcPct val="100000"/>
              </a:lnSpc>
              <a:defRPr sz="1600" b="1">
                <a:solidFill>
                  <a:srgbClr val="0F172A"/>
                </a:solidFill>
                <a:latin typeface="Consolas"/>
              </a:defRPr>
            </a:pPr>
            <a:r>
              <a:t>Δn ∈ [−8, +8]</a:t>
            </a:r>
          </a:p>
        </p:txBody>
      </p:sp>
      <p:sp>
        <p:nvSpPr>
          <p:cNvPr id="25" name="TextBox 24"/>
          <p:cNvSpPr txBox="1"/>
          <p:nvPr/>
        </p:nvSpPr>
        <p:spPr>
          <a:xfrm>
            <a:off x="3538728" y="3875806"/>
            <a:ext cx="2011680" cy="258532"/>
          </a:xfrm>
          <a:prstGeom prst="rect">
            <a:avLst/>
          </a:prstGeom>
          <a:noFill/>
        </p:spPr>
        <p:txBody>
          <a:bodyPr wrap="square" lIns="36576" tIns="36576" rIns="36576" bIns="36576" anchor="ctr">
            <a:spAutoFit/>
          </a:bodyPr>
          <a:lstStyle/>
          <a:p>
            <a:pPr algn="r">
              <a:lnSpc>
                <a:spcPct val="100000"/>
              </a:lnSpc>
              <a:defRPr sz="1000" b="0">
                <a:solidFill>
                  <a:srgbClr val="475569"/>
                </a:solidFill>
                <a:latin typeface="Inter"/>
              </a:defRPr>
            </a:pPr>
            <a:r>
              <a:rPr sz="1200"/>
              <a:t>Approx. timing mismatch</a:t>
            </a:r>
          </a:p>
        </p:txBody>
      </p:sp>
      <p:sp>
        <p:nvSpPr>
          <p:cNvPr id="26" name="Rounded Rectangle 25"/>
          <p:cNvSpPr/>
          <p:nvPr/>
        </p:nvSpPr>
        <p:spPr>
          <a:xfrm>
            <a:off x="6309359" y="3328416"/>
            <a:ext cx="5257800" cy="1353312"/>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ectangle 26"/>
          <p:cNvSpPr/>
          <p:nvPr/>
        </p:nvSpPr>
        <p:spPr>
          <a:xfrm>
            <a:off x="6309359" y="3328416"/>
            <a:ext cx="91440" cy="1353312"/>
          </a:xfrm>
          <a:prstGeom prst="rect">
            <a:avLst/>
          </a:prstGeom>
          <a:solidFill>
            <a:srgbClr val="D97706"/>
          </a:solidFill>
          <a:ln w="1270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6583679" y="3484064"/>
            <a:ext cx="2514600" cy="273921"/>
          </a:xfrm>
          <a:prstGeom prst="rect">
            <a:avLst/>
          </a:prstGeom>
          <a:noFill/>
        </p:spPr>
        <p:txBody>
          <a:bodyPr wrap="square" lIns="36576" tIns="36576" rIns="36576" bIns="36576" anchor="ctr">
            <a:spAutoFit/>
          </a:bodyPr>
          <a:lstStyle/>
          <a:p>
            <a:pPr algn="l">
              <a:lnSpc>
                <a:spcPct val="100000"/>
              </a:lnSpc>
              <a:defRPr sz="1100" b="1">
                <a:solidFill>
                  <a:srgbClr val="D97706"/>
                </a:solidFill>
                <a:latin typeface="Inter"/>
              </a:defRPr>
            </a:pPr>
            <a:r>
              <a:rPr sz="1300"/>
              <a:t>AMPLITUDE SCALE</a:t>
            </a:r>
          </a:p>
        </p:txBody>
      </p:sp>
      <p:sp>
        <p:nvSpPr>
          <p:cNvPr id="29" name="TextBox 28"/>
          <p:cNvSpPr txBox="1"/>
          <p:nvPr/>
        </p:nvSpPr>
        <p:spPr>
          <a:xfrm>
            <a:off x="10479024" y="3493008"/>
            <a:ext cx="749808" cy="256032"/>
          </a:xfrm>
          <a:prstGeom prst="rect">
            <a:avLst/>
          </a:prstGeom>
          <a:noFill/>
        </p:spPr>
        <p:txBody>
          <a:bodyPr wrap="square" lIns="36576" tIns="36576" rIns="36576" bIns="36576" anchor="ctr">
            <a:spAutoFit/>
          </a:bodyPr>
          <a:lstStyle/>
          <a:p>
            <a:pPr algn="r">
              <a:lnSpc>
                <a:spcPct val="100000"/>
              </a:lnSpc>
              <a:defRPr sz="1000" b="1">
                <a:solidFill>
                  <a:srgbClr val="0F172A"/>
                </a:solidFill>
                <a:latin typeface="Inter"/>
              </a:defRPr>
            </a:pPr>
            <a:r>
              <a:rPr sz="1200"/>
              <a:t>p = 0.30</a:t>
            </a:r>
          </a:p>
        </p:txBody>
      </p:sp>
      <p:sp>
        <p:nvSpPr>
          <p:cNvPr id="30" name="TextBox 29"/>
          <p:cNvSpPr txBox="1"/>
          <p:nvPr/>
        </p:nvSpPr>
        <p:spPr>
          <a:xfrm>
            <a:off x="6583679" y="3840480"/>
            <a:ext cx="2697480" cy="329184"/>
          </a:xfrm>
          <a:prstGeom prst="rect">
            <a:avLst/>
          </a:prstGeom>
          <a:noFill/>
        </p:spPr>
        <p:txBody>
          <a:bodyPr wrap="square" lIns="36576" tIns="36576" rIns="36576" bIns="36576" anchor="ctr">
            <a:spAutoFit/>
          </a:bodyPr>
          <a:lstStyle/>
          <a:p>
            <a:pPr algn="l">
              <a:lnSpc>
                <a:spcPct val="100000"/>
              </a:lnSpc>
              <a:defRPr sz="1600" b="1">
                <a:solidFill>
                  <a:srgbClr val="0F172A"/>
                </a:solidFill>
                <a:latin typeface="Consolas"/>
              </a:defRPr>
            </a:pPr>
            <a:r>
              <a:t>α ∈ [0.85, 1.15]</a:t>
            </a:r>
          </a:p>
        </p:txBody>
      </p:sp>
      <p:sp>
        <p:nvSpPr>
          <p:cNvPr id="31" name="TextBox 30"/>
          <p:cNvSpPr txBox="1"/>
          <p:nvPr/>
        </p:nvSpPr>
        <p:spPr>
          <a:xfrm>
            <a:off x="9189719" y="3875806"/>
            <a:ext cx="2011680" cy="258532"/>
          </a:xfrm>
          <a:prstGeom prst="rect">
            <a:avLst/>
          </a:prstGeom>
          <a:noFill/>
        </p:spPr>
        <p:txBody>
          <a:bodyPr wrap="square" lIns="36576" tIns="36576" rIns="36576" bIns="36576" anchor="ctr">
            <a:spAutoFit/>
          </a:bodyPr>
          <a:lstStyle/>
          <a:p>
            <a:pPr algn="r">
              <a:lnSpc>
                <a:spcPct val="100000"/>
              </a:lnSpc>
              <a:defRPr sz="1000" b="0">
                <a:solidFill>
                  <a:srgbClr val="475569"/>
                </a:solidFill>
                <a:latin typeface="Inter"/>
              </a:defRPr>
            </a:pPr>
            <a:r>
              <a:rPr sz="1200"/>
              <a:t>Common gain change</a:t>
            </a:r>
          </a:p>
        </p:txBody>
      </p:sp>
      <p:sp>
        <p:nvSpPr>
          <p:cNvPr id="32" name="Rounded Rectangle 31"/>
          <p:cNvSpPr/>
          <p:nvPr/>
        </p:nvSpPr>
        <p:spPr>
          <a:xfrm>
            <a:off x="1170432" y="5230368"/>
            <a:ext cx="9857232" cy="612648"/>
          </a:xfrm>
          <a:prstGeom prst="roundRect">
            <a:avLst/>
          </a:prstGeom>
          <a:solidFill>
            <a:srgbClr val="FFF7ED"/>
          </a:solidFill>
          <a:ln w="12700">
            <a:solidFill>
              <a:srgbClr val="FED7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1417320" y="5373749"/>
            <a:ext cx="9372600" cy="289310"/>
          </a:xfrm>
          <a:prstGeom prst="rect">
            <a:avLst/>
          </a:prstGeom>
          <a:noFill/>
        </p:spPr>
        <p:txBody>
          <a:bodyPr wrap="square" lIns="36576" tIns="36576" rIns="36576" bIns="36576" anchor="ctr">
            <a:spAutoFit/>
          </a:bodyPr>
          <a:lstStyle/>
          <a:p>
            <a:pPr algn="ctr">
              <a:lnSpc>
                <a:spcPct val="100000"/>
              </a:lnSpc>
              <a:defRPr sz="1200" b="1">
                <a:solidFill>
                  <a:srgbClr val="D97706"/>
                </a:solidFill>
                <a:latin typeface="Inter"/>
              </a:defRPr>
            </a:pPr>
            <a:r>
              <a:rPr sz="1400"/>
              <a:t>Important: constant phase offset ≠ CFO — CFO produces a phase ramp over time.</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11480" y="190774"/>
            <a:ext cx="3840480" cy="258532"/>
          </a:xfrm>
          <a:prstGeom prst="rect">
            <a:avLst/>
          </a:prstGeom>
          <a:noFill/>
        </p:spPr>
        <p:txBody>
          <a:bodyPr wrap="square" lIns="36576" tIns="36576" rIns="36576" bIns="36576" anchor="ctr">
            <a:spAutoFit/>
          </a:bodyPr>
          <a:lstStyle/>
          <a:p>
            <a:pPr algn="l">
              <a:lnSpc>
                <a:spcPct val="100000"/>
              </a:lnSpc>
              <a:defRPr sz="1000" b="1">
                <a:solidFill>
                  <a:srgbClr val="0284C7"/>
                </a:solidFill>
                <a:latin typeface="Inter"/>
              </a:defRPr>
            </a:pPr>
            <a:r>
              <a:rPr sz="1200"/>
              <a:t>04 · MODEL</a:t>
            </a:r>
          </a:p>
        </p:txBody>
      </p:sp>
      <p:sp>
        <p:nvSpPr>
          <p:cNvPr id="3" name="TextBox 2"/>
          <p:cNvSpPr txBox="1"/>
          <p:nvPr/>
        </p:nvSpPr>
        <p:spPr>
          <a:xfrm>
            <a:off x="411480" y="438912"/>
            <a:ext cx="10744200" cy="640080"/>
          </a:xfrm>
          <a:prstGeom prst="rect">
            <a:avLst/>
          </a:prstGeom>
          <a:noFill/>
        </p:spPr>
        <p:txBody>
          <a:bodyPr wrap="square" lIns="36576" tIns="36576" rIns="36576" bIns="36576" anchor="ctr">
            <a:spAutoFit/>
          </a:bodyPr>
          <a:lstStyle/>
          <a:p>
            <a:pPr algn="l">
              <a:lnSpc>
                <a:spcPct val="100000"/>
              </a:lnSpc>
              <a:defRPr sz="3000" b="1">
                <a:solidFill>
                  <a:srgbClr val="0F172A"/>
                </a:solidFill>
                <a:latin typeface="Manrope"/>
              </a:defRPr>
            </a:pPr>
            <a:r>
              <a:t>Same CNN, same training recipe</a:t>
            </a:r>
          </a:p>
        </p:txBody>
      </p:sp>
      <p:sp>
        <p:nvSpPr>
          <p:cNvPr id="4" name="TextBox 3"/>
          <p:cNvSpPr txBox="1"/>
          <p:nvPr/>
        </p:nvSpPr>
        <p:spPr>
          <a:xfrm>
            <a:off x="411480" y="1080641"/>
            <a:ext cx="10561320" cy="289310"/>
          </a:xfrm>
          <a:prstGeom prst="rect">
            <a:avLst/>
          </a:prstGeom>
          <a:noFill/>
        </p:spPr>
        <p:txBody>
          <a:bodyPr wrap="square" lIns="36576" tIns="36576" rIns="36576" bIns="36576" anchor="ctr">
            <a:spAutoFit/>
          </a:bodyPr>
          <a:lstStyle/>
          <a:p>
            <a:pPr algn="l">
              <a:lnSpc>
                <a:spcPct val="100000"/>
              </a:lnSpc>
              <a:defRPr sz="1200" b="0">
                <a:solidFill>
                  <a:srgbClr val="64748B"/>
                </a:solidFill>
                <a:latin typeface="Inter"/>
              </a:defRPr>
            </a:pPr>
            <a:r>
              <a:rPr sz="1400"/>
              <a:t>Only the training input pipeline changes between configurations</a:t>
            </a:r>
          </a:p>
        </p:txBody>
      </p:sp>
      <p:cxnSp>
        <p:nvCxnSpPr>
          <p:cNvPr id="5" name="Connector 4"/>
          <p:cNvCxnSpPr/>
          <p:nvPr/>
        </p:nvCxnSpPr>
        <p:spPr>
          <a:xfrm>
            <a:off x="411480" y="1435608"/>
            <a:ext cx="11365992" cy="0"/>
          </a:xfrm>
          <a:prstGeom prst="line">
            <a:avLst/>
          </a:prstGeom>
          <a:ln w="12700">
            <a:solidFill>
              <a:srgbClr val="E2E8F0"/>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11480" y="6515523"/>
            <a:ext cx="6126480" cy="227755"/>
          </a:xfrm>
          <a:prstGeom prst="rect">
            <a:avLst/>
          </a:prstGeom>
          <a:noFill/>
        </p:spPr>
        <p:txBody>
          <a:bodyPr wrap="square" lIns="36576" tIns="36576" rIns="36576" bIns="36576" anchor="ctr">
            <a:spAutoFit/>
          </a:bodyPr>
          <a:lstStyle/>
          <a:p>
            <a:pPr algn="l">
              <a:lnSpc>
                <a:spcPct val="100000"/>
              </a:lnSpc>
              <a:defRPr sz="900" b="0">
                <a:solidFill>
                  <a:srgbClr val="64748B"/>
                </a:solidFill>
                <a:latin typeface="Inter"/>
              </a:defRPr>
            </a:pPr>
            <a:r>
              <a:rPr sz="1000"/>
              <a:t>EE136: Machine Learning for Wireless Communications</a:t>
            </a:r>
          </a:p>
        </p:txBody>
      </p:sp>
      <p:sp>
        <p:nvSpPr>
          <p:cNvPr id="7" name="TextBox 6"/>
          <p:cNvSpPr txBox="1"/>
          <p:nvPr/>
        </p:nvSpPr>
        <p:spPr>
          <a:xfrm>
            <a:off x="10222992" y="6515523"/>
            <a:ext cx="1554480" cy="227755"/>
          </a:xfrm>
          <a:prstGeom prst="rect">
            <a:avLst/>
          </a:prstGeom>
          <a:noFill/>
        </p:spPr>
        <p:txBody>
          <a:bodyPr wrap="square" lIns="36576" tIns="36576" rIns="36576" bIns="36576" anchor="ctr">
            <a:spAutoFit/>
          </a:bodyPr>
          <a:lstStyle/>
          <a:p>
            <a:pPr algn="r">
              <a:lnSpc>
                <a:spcPct val="100000"/>
              </a:lnSpc>
              <a:defRPr sz="900" b="0">
                <a:solidFill>
                  <a:srgbClr val="64748B"/>
                </a:solidFill>
                <a:latin typeface="Inter"/>
              </a:defRPr>
            </a:pPr>
            <a:r>
              <a:rPr sz="1000"/>
              <a:t>Slide 7 of 12</a:t>
            </a:r>
          </a:p>
        </p:txBody>
      </p:sp>
      <p:sp>
        <p:nvSpPr>
          <p:cNvPr id="8" name="Rounded Rectangle 7"/>
          <p:cNvSpPr/>
          <p:nvPr/>
        </p:nvSpPr>
        <p:spPr>
          <a:xfrm>
            <a:off x="603504" y="1828800"/>
            <a:ext cx="1490472" cy="1207008"/>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94944" y="2019574"/>
            <a:ext cx="1307592" cy="258532"/>
          </a:xfrm>
          <a:prstGeom prst="rect">
            <a:avLst/>
          </a:prstGeom>
          <a:noFill/>
        </p:spPr>
        <p:txBody>
          <a:bodyPr wrap="square" lIns="36576" tIns="36576" rIns="36576" bIns="36576" anchor="ctr">
            <a:spAutoFit/>
          </a:bodyPr>
          <a:lstStyle/>
          <a:p>
            <a:pPr algn="ctr">
              <a:lnSpc>
                <a:spcPct val="100000"/>
              </a:lnSpc>
              <a:defRPr sz="1000" b="1">
                <a:solidFill>
                  <a:srgbClr val="64748B"/>
                </a:solidFill>
                <a:latin typeface="Inter"/>
              </a:defRPr>
            </a:pPr>
            <a:r>
              <a:rPr sz="1200"/>
              <a:t>INPUT</a:t>
            </a:r>
          </a:p>
        </p:txBody>
      </p:sp>
      <p:sp>
        <p:nvSpPr>
          <p:cNvPr id="10" name="TextBox 9"/>
          <p:cNvSpPr txBox="1"/>
          <p:nvPr/>
        </p:nvSpPr>
        <p:spPr>
          <a:xfrm>
            <a:off x="676656" y="2441448"/>
            <a:ext cx="1344168" cy="310896"/>
          </a:xfrm>
          <a:prstGeom prst="rect">
            <a:avLst/>
          </a:prstGeom>
          <a:noFill/>
        </p:spPr>
        <p:txBody>
          <a:bodyPr wrap="square" lIns="36576" tIns="36576" rIns="36576" bIns="36576" anchor="ctr">
            <a:spAutoFit/>
          </a:bodyPr>
          <a:lstStyle/>
          <a:p>
            <a:pPr algn="ctr">
              <a:lnSpc>
                <a:spcPct val="100000"/>
              </a:lnSpc>
              <a:defRPr sz="1500" b="1">
                <a:solidFill>
                  <a:srgbClr val="0F172A"/>
                </a:solidFill>
                <a:latin typeface="Manrope"/>
              </a:defRPr>
            </a:pPr>
            <a:r>
              <a:t>2 × 128</a:t>
            </a:r>
          </a:p>
        </p:txBody>
      </p:sp>
      <p:sp>
        <p:nvSpPr>
          <p:cNvPr id="11" name="Chevron 10"/>
          <p:cNvSpPr/>
          <p:nvPr/>
        </p:nvSpPr>
        <p:spPr>
          <a:xfrm>
            <a:off x="2157984" y="2258568"/>
            <a:ext cx="256032" cy="347472"/>
          </a:xfrm>
          <a:prstGeom prst="chevron">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p:cNvSpPr/>
          <p:nvPr/>
        </p:nvSpPr>
        <p:spPr>
          <a:xfrm>
            <a:off x="2505456" y="1828800"/>
            <a:ext cx="1490472" cy="1207008"/>
          </a:xfrm>
          <a:prstGeom prst="roundRect">
            <a:avLst/>
          </a:prstGeom>
          <a:solidFill>
            <a:srgbClr val="F0F9FF"/>
          </a:solidFill>
          <a:ln w="1270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2596896" y="2019574"/>
            <a:ext cx="1307592" cy="258532"/>
          </a:xfrm>
          <a:prstGeom prst="rect">
            <a:avLst/>
          </a:prstGeom>
          <a:noFill/>
        </p:spPr>
        <p:txBody>
          <a:bodyPr wrap="square" lIns="36576" tIns="36576" rIns="36576" bIns="36576" anchor="ctr">
            <a:spAutoFit/>
          </a:bodyPr>
          <a:lstStyle/>
          <a:p>
            <a:pPr algn="ctr">
              <a:lnSpc>
                <a:spcPct val="100000"/>
              </a:lnSpc>
              <a:defRPr sz="1000" b="1">
                <a:solidFill>
                  <a:srgbClr val="0284C7"/>
                </a:solidFill>
                <a:latin typeface="Inter"/>
              </a:defRPr>
            </a:pPr>
            <a:r>
              <a:rPr sz="1200"/>
              <a:t>CONV 1</a:t>
            </a:r>
          </a:p>
        </p:txBody>
      </p:sp>
      <p:sp>
        <p:nvSpPr>
          <p:cNvPr id="14" name="TextBox 13"/>
          <p:cNvSpPr txBox="1"/>
          <p:nvPr/>
        </p:nvSpPr>
        <p:spPr>
          <a:xfrm>
            <a:off x="2578608" y="2441448"/>
            <a:ext cx="1344168" cy="310896"/>
          </a:xfrm>
          <a:prstGeom prst="rect">
            <a:avLst/>
          </a:prstGeom>
          <a:noFill/>
        </p:spPr>
        <p:txBody>
          <a:bodyPr wrap="square" lIns="36576" tIns="36576" rIns="36576" bIns="36576" anchor="ctr">
            <a:spAutoFit/>
          </a:bodyPr>
          <a:lstStyle/>
          <a:p>
            <a:pPr algn="ctr">
              <a:lnSpc>
                <a:spcPct val="100000"/>
              </a:lnSpc>
              <a:defRPr sz="1500" b="1">
                <a:solidFill>
                  <a:srgbClr val="0F172A"/>
                </a:solidFill>
                <a:latin typeface="Manrope"/>
              </a:defRPr>
            </a:pPr>
            <a:r>
              <a:t>64 · k7</a:t>
            </a:r>
          </a:p>
        </p:txBody>
      </p:sp>
      <p:sp>
        <p:nvSpPr>
          <p:cNvPr id="15" name="Chevron 14"/>
          <p:cNvSpPr/>
          <p:nvPr/>
        </p:nvSpPr>
        <p:spPr>
          <a:xfrm>
            <a:off x="4059936" y="2258568"/>
            <a:ext cx="256032" cy="347472"/>
          </a:xfrm>
          <a:prstGeom prst="chevron">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ounded Rectangle 15"/>
          <p:cNvSpPr/>
          <p:nvPr/>
        </p:nvSpPr>
        <p:spPr>
          <a:xfrm>
            <a:off x="4407408" y="1828800"/>
            <a:ext cx="1490472" cy="1207008"/>
          </a:xfrm>
          <a:prstGeom prst="roundRect">
            <a:avLst/>
          </a:prstGeom>
          <a:solidFill>
            <a:srgbClr val="F0F9FF"/>
          </a:solidFill>
          <a:ln w="1270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498848" y="2019574"/>
            <a:ext cx="1307592" cy="258532"/>
          </a:xfrm>
          <a:prstGeom prst="rect">
            <a:avLst/>
          </a:prstGeom>
          <a:noFill/>
        </p:spPr>
        <p:txBody>
          <a:bodyPr wrap="square" lIns="36576" tIns="36576" rIns="36576" bIns="36576" anchor="ctr">
            <a:spAutoFit/>
          </a:bodyPr>
          <a:lstStyle/>
          <a:p>
            <a:pPr algn="ctr">
              <a:lnSpc>
                <a:spcPct val="100000"/>
              </a:lnSpc>
              <a:defRPr sz="1000" b="1">
                <a:solidFill>
                  <a:srgbClr val="0284C7"/>
                </a:solidFill>
                <a:latin typeface="Inter"/>
              </a:defRPr>
            </a:pPr>
            <a:r>
              <a:rPr sz="1200"/>
              <a:t>CONV 2</a:t>
            </a:r>
          </a:p>
        </p:txBody>
      </p:sp>
      <p:sp>
        <p:nvSpPr>
          <p:cNvPr id="18" name="TextBox 17"/>
          <p:cNvSpPr txBox="1"/>
          <p:nvPr/>
        </p:nvSpPr>
        <p:spPr>
          <a:xfrm>
            <a:off x="4480560" y="2441448"/>
            <a:ext cx="1344168" cy="310896"/>
          </a:xfrm>
          <a:prstGeom prst="rect">
            <a:avLst/>
          </a:prstGeom>
          <a:noFill/>
        </p:spPr>
        <p:txBody>
          <a:bodyPr wrap="square" lIns="36576" tIns="36576" rIns="36576" bIns="36576" anchor="ctr">
            <a:spAutoFit/>
          </a:bodyPr>
          <a:lstStyle/>
          <a:p>
            <a:pPr algn="ctr">
              <a:lnSpc>
                <a:spcPct val="100000"/>
              </a:lnSpc>
              <a:defRPr sz="1500" b="1">
                <a:solidFill>
                  <a:srgbClr val="0F172A"/>
                </a:solidFill>
                <a:latin typeface="Manrope"/>
              </a:defRPr>
            </a:pPr>
            <a:r>
              <a:t>128 · k5</a:t>
            </a:r>
          </a:p>
        </p:txBody>
      </p:sp>
      <p:sp>
        <p:nvSpPr>
          <p:cNvPr id="19" name="Chevron 18"/>
          <p:cNvSpPr/>
          <p:nvPr/>
        </p:nvSpPr>
        <p:spPr>
          <a:xfrm>
            <a:off x="5961888" y="2258568"/>
            <a:ext cx="256032" cy="347472"/>
          </a:xfrm>
          <a:prstGeom prst="chevron">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ounded Rectangle 19"/>
          <p:cNvSpPr/>
          <p:nvPr/>
        </p:nvSpPr>
        <p:spPr>
          <a:xfrm>
            <a:off x="6309360" y="1828800"/>
            <a:ext cx="1490472" cy="1207008"/>
          </a:xfrm>
          <a:prstGeom prst="roundRect">
            <a:avLst/>
          </a:prstGeom>
          <a:solidFill>
            <a:srgbClr val="F0F9FF"/>
          </a:solidFill>
          <a:ln w="1270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400800" y="2019574"/>
            <a:ext cx="1307592" cy="258532"/>
          </a:xfrm>
          <a:prstGeom prst="rect">
            <a:avLst/>
          </a:prstGeom>
          <a:noFill/>
        </p:spPr>
        <p:txBody>
          <a:bodyPr wrap="square" lIns="36576" tIns="36576" rIns="36576" bIns="36576" anchor="ctr">
            <a:spAutoFit/>
          </a:bodyPr>
          <a:lstStyle/>
          <a:p>
            <a:pPr algn="ctr">
              <a:lnSpc>
                <a:spcPct val="100000"/>
              </a:lnSpc>
              <a:defRPr sz="1000" b="1">
                <a:solidFill>
                  <a:srgbClr val="0284C7"/>
                </a:solidFill>
                <a:latin typeface="Inter"/>
              </a:defRPr>
            </a:pPr>
            <a:r>
              <a:rPr sz="1200"/>
              <a:t>CONV 3</a:t>
            </a:r>
          </a:p>
        </p:txBody>
      </p:sp>
      <p:sp>
        <p:nvSpPr>
          <p:cNvPr id="22" name="TextBox 21"/>
          <p:cNvSpPr txBox="1"/>
          <p:nvPr/>
        </p:nvSpPr>
        <p:spPr>
          <a:xfrm>
            <a:off x="6382512" y="2441448"/>
            <a:ext cx="1344168" cy="310896"/>
          </a:xfrm>
          <a:prstGeom prst="rect">
            <a:avLst/>
          </a:prstGeom>
          <a:noFill/>
        </p:spPr>
        <p:txBody>
          <a:bodyPr wrap="square" lIns="36576" tIns="36576" rIns="36576" bIns="36576" anchor="ctr">
            <a:spAutoFit/>
          </a:bodyPr>
          <a:lstStyle/>
          <a:p>
            <a:pPr algn="ctr">
              <a:lnSpc>
                <a:spcPct val="100000"/>
              </a:lnSpc>
              <a:defRPr sz="1500" b="1">
                <a:solidFill>
                  <a:srgbClr val="0F172A"/>
                </a:solidFill>
                <a:latin typeface="Manrope"/>
              </a:defRPr>
            </a:pPr>
            <a:r>
              <a:t>256 · k3</a:t>
            </a:r>
          </a:p>
        </p:txBody>
      </p:sp>
      <p:sp>
        <p:nvSpPr>
          <p:cNvPr id="23" name="Chevron 22"/>
          <p:cNvSpPr/>
          <p:nvPr/>
        </p:nvSpPr>
        <p:spPr>
          <a:xfrm>
            <a:off x="7863840" y="2258568"/>
            <a:ext cx="256032" cy="347472"/>
          </a:xfrm>
          <a:prstGeom prst="chevron">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ounded Rectangle 23"/>
          <p:cNvSpPr/>
          <p:nvPr/>
        </p:nvSpPr>
        <p:spPr>
          <a:xfrm>
            <a:off x="8211312" y="1828800"/>
            <a:ext cx="1490472" cy="1207008"/>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302752" y="2019574"/>
            <a:ext cx="1307592" cy="258532"/>
          </a:xfrm>
          <a:prstGeom prst="rect">
            <a:avLst/>
          </a:prstGeom>
          <a:noFill/>
        </p:spPr>
        <p:txBody>
          <a:bodyPr wrap="square" lIns="36576" tIns="36576" rIns="36576" bIns="36576" anchor="ctr">
            <a:spAutoFit/>
          </a:bodyPr>
          <a:lstStyle/>
          <a:p>
            <a:pPr algn="ctr">
              <a:lnSpc>
                <a:spcPct val="100000"/>
              </a:lnSpc>
              <a:defRPr sz="1000" b="1">
                <a:solidFill>
                  <a:srgbClr val="64748B"/>
                </a:solidFill>
                <a:latin typeface="Inter"/>
              </a:defRPr>
            </a:pPr>
            <a:r>
              <a:rPr sz="1200"/>
              <a:t>POOL</a:t>
            </a:r>
          </a:p>
        </p:txBody>
      </p:sp>
      <p:sp>
        <p:nvSpPr>
          <p:cNvPr id="26" name="TextBox 25"/>
          <p:cNvSpPr txBox="1"/>
          <p:nvPr/>
        </p:nvSpPr>
        <p:spPr>
          <a:xfrm>
            <a:off x="8284464" y="2441448"/>
            <a:ext cx="1344168" cy="310896"/>
          </a:xfrm>
          <a:prstGeom prst="rect">
            <a:avLst/>
          </a:prstGeom>
          <a:noFill/>
        </p:spPr>
        <p:txBody>
          <a:bodyPr wrap="square" lIns="36576" tIns="36576" rIns="36576" bIns="36576" anchor="ctr">
            <a:spAutoFit/>
          </a:bodyPr>
          <a:lstStyle/>
          <a:p>
            <a:pPr algn="ctr">
              <a:lnSpc>
                <a:spcPct val="100000"/>
              </a:lnSpc>
              <a:defRPr sz="1500" b="1">
                <a:solidFill>
                  <a:srgbClr val="0F172A"/>
                </a:solidFill>
                <a:latin typeface="Manrope"/>
              </a:defRPr>
            </a:pPr>
            <a:r>
              <a:t>Adaptive</a:t>
            </a:r>
          </a:p>
        </p:txBody>
      </p:sp>
      <p:sp>
        <p:nvSpPr>
          <p:cNvPr id="27" name="Chevron 26"/>
          <p:cNvSpPr/>
          <p:nvPr/>
        </p:nvSpPr>
        <p:spPr>
          <a:xfrm>
            <a:off x="9765792" y="2258568"/>
            <a:ext cx="256032" cy="347472"/>
          </a:xfrm>
          <a:prstGeom prst="chevron">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10113264" y="1828800"/>
            <a:ext cx="1490472" cy="1207008"/>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10204704" y="2019574"/>
            <a:ext cx="1307592" cy="258532"/>
          </a:xfrm>
          <a:prstGeom prst="rect">
            <a:avLst/>
          </a:prstGeom>
          <a:noFill/>
        </p:spPr>
        <p:txBody>
          <a:bodyPr wrap="square" lIns="36576" tIns="36576" rIns="36576" bIns="36576" anchor="ctr">
            <a:spAutoFit/>
          </a:bodyPr>
          <a:lstStyle/>
          <a:p>
            <a:pPr algn="ctr">
              <a:lnSpc>
                <a:spcPct val="100000"/>
              </a:lnSpc>
              <a:defRPr sz="1000" b="1">
                <a:solidFill>
                  <a:srgbClr val="64748B"/>
                </a:solidFill>
                <a:latin typeface="Inter"/>
              </a:defRPr>
            </a:pPr>
            <a:r>
              <a:rPr sz="1200"/>
              <a:t>HEAD</a:t>
            </a:r>
          </a:p>
        </p:txBody>
      </p:sp>
      <p:sp>
        <p:nvSpPr>
          <p:cNvPr id="30" name="TextBox 29"/>
          <p:cNvSpPr txBox="1"/>
          <p:nvPr/>
        </p:nvSpPr>
        <p:spPr>
          <a:xfrm>
            <a:off x="10186416" y="2441448"/>
            <a:ext cx="1344168" cy="310896"/>
          </a:xfrm>
          <a:prstGeom prst="rect">
            <a:avLst/>
          </a:prstGeom>
          <a:noFill/>
        </p:spPr>
        <p:txBody>
          <a:bodyPr wrap="square" lIns="36576" tIns="36576" rIns="36576" bIns="36576" anchor="ctr">
            <a:spAutoFit/>
          </a:bodyPr>
          <a:lstStyle/>
          <a:p>
            <a:pPr algn="ctr">
              <a:lnSpc>
                <a:spcPct val="100000"/>
              </a:lnSpc>
              <a:defRPr sz="1500" b="1">
                <a:solidFill>
                  <a:srgbClr val="0F172A"/>
                </a:solidFill>
                <a:latin typeface="Manrope"/>
              </a:defRPr>
            </a:pPr>
            <a:r>
              <a:t>128 → 8</a:t>
            </a:r>
          </a:p>
        </p:txBody>
      </p:sp>
      <p:sp>
        <p:nvSpPr>
          <p:cNvPr id="31" name="Rounded Rectangle 30"/>
          <p:cNvSpPr/>
          <p:nvPr/>
        </p:nvSpPr>
        <p:spPr>
          <a:xfrm>
            <a:off x="685800" y="3886200"/>
            <a:ext cx="3401568" cy="132588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Rectangle 31"/>
          <p:cNvSpPr/>
          <p:nvPr/>
        </p:nvSpPr>
        <p:spPr>
          <a:xfrm>
            <a:off x="685800" y="3886200"/>
            <a:ext cx="73152" cy="1325880"/>
          </a:xfrm>
          <a:prstGeom prst="rect">
            <a:avLst/>
          </a:prstGeom>
          <a:solidFill>
            <a:srgbClr val="0284C7"/>
          </a:solidFill>
          <a:ln w="1270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914400" y="4040398"/>
            <a:ext cx="3035808" cy="258532"/>
          </a:xfrm>
          <a:prstGeom prst="rect">
            <a:avLst/>
          </a:prstGeom>
          <a:noFill/>
        </p:spPr>
        <p:txBody>
          <a:bodyPr wrap="square" lIns="36576" tIns="36576" rIns="36576" bIns="36576" anchor="ctr">
            <a:spAutoFit/>
          </a:bodyPr>
          <a:lstStyle/>
          <a:p>
            <a:pPr algn="l">
              <a:lnSpc>
                <a:spcPct val="100000"/>
              </a:lnSpc>
              <a:defRPr sz="1000" b="1">
                <a:solidFill>
                  <a:srgbClr val="64748B"/>
                </a:solidFill>
                <a:latin typeface="Inter"/>
              </a:defRPr>
            </a:pPr>
            <a:r>
              <a:rPr sz="1200"/>
              <a:t>TRAINABLE PARAMETERS</a:t>
            </a:r>
          </a:p>
        </p:txBody>
      </p:sp>
      <p:sp>
        <p:nvSpPr>
          <p:cNvPr id="34" name="TextBox 33"/>
          <p:cNvSpPr txBox="1"/>
          <p:nvPr/>
        </p:nvSpPr>
        <p:spPr>
          <a:xfrm>
            <a:off x="914400" y="4325112"/>
            <a:ext cx="3035808" cy="512064"/>
          </a:xfrm>
          <a:prstGeom prst="rect">
            <a:avLst/>
          </a:prstGeom>
          <a:noFill/>
        </p:spPr>
        <p:txBody>
          <a:bodyPr wrap="square" lIns="36576" tIns="36576" rIns="36576" bIns="36576" anchor="ctr">
            <a:spAutoFit/>
          </a:bodyPr>
          <a:lstStyle/>
          <a:p>
            <a:pPr algn="l">
              <a:lnSpc>
                <a:spcPct val="100000"/>
              </a:lnSpc>
              <a:defRPr sz="2500" b="1">
                <a:solidFill>
                  <a:srgbClr val="0F172A"/>
                </a:solidFill>
                <a:latin typeface="Manrope"/>
              </a:defRPr>
            </a:pPr>
            <a:r>
              <a:t>175,432</a:t>
            </a:r>
          </a:p>
        </p:txBody>
      </p:sp>
      <p:sp>
        <p:nvSpPr>
          <p:cNvPr id="35" name="TextBox 34"/>
          <p:cNvSpPr txBox="1"/>
          <p:nvPr/>
        </p:nvSpPr>
        <p:spPr>
          <a:xfrm>
            <a:off x="914400" y="4791456"/>
            <a:ext cx="3035808" cy="256032"/>
          </a:xfrm>
          <a:prstGeom prst="rect">
            <a:avLst/>
          </a:prstGeom>
          <a:noFill/>
        </p:spPr>
        <p:txBody>
          <a:bodyPr wrap="square" lIns="36576" tIns="36576" rIns="36576" bIns="36576" anchor="ctr">
            <a:spAutoFit/>
          </a:bodyPr>
          <a:lstStyle/>
          <a:p>
            <a:pPr algn="l">
              <a:lnSpc>
                <a:spcPct val="100000"/>
              </a:lnSpc>
              <a:defRPr sz="1000" b="0">
                <a:solidFill>
                  <a:srgbClr val="475569"/>
                </a:solidFill>
                <a:latin typeface="Inter"/>
              </a:defRPr>
            </a:pPr>
            <a:r>
              <a:rPr sz="1200"/>
              <a:t>Identical architecture</a:t>
            </a:r>
          </a:p>
        </p:txBody>
      </p:sp>
      <p:sp>
        <p:nvSpPr>
          <p:cNvPr id="36" name="Rounded Rectangle 35"/>
          <p:cNvSpPr/>
          <p:nvPr/>
        </p:nvSpPr>
        <p:spPr>
          <a:xfrm>
            <a:off x="4389120" y="3886200"/>
            <a:ext cx="3401568" cy="132588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Rectangle 36"/>
          <p:cNvSpPr/>
          <p:nvPr/>
        </p:nvSpPr>
        <p:spPr>
          <a:xfrm>
            <a:off x="4389120" y="3886200"/>
            <a:ext cx="73152" cy="1325880"/>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4617720" y="4040398"/>
            <a:ext cx="3035808" cy="258532"/>
          </a:xfrm>
          <a:prstGeom prst="rect">
            <a:avLst/>
          </a:prstGeom>
          <a:noFill/>
        </p:spPr>
        <p:txBody>
          <a:bodyPr wrap="square" lIns="36576" tIns="36576" rIns="36576" bIns="36576" anchor="ctr">
            <a:spAutoFit/>
          </a:bodyPr>
          <a:lstStyle/>
          <a:p>
            <a:pPr algn="l">
              <a:lnSpc>
                <a:spcPct val="100000"/>
              </a:lnSpc>
              <a:defRPr sz="1000" b="1">
                <a:solidFill>
                  <a:srgbClr val="64748B"/>
                </a:solidFill>
                <a:latin typeface="Inter"/>
              </a:defRPr>
            </a:pPr>
            <a:r>
              <a:rPr sz="1200"/>
              <a:t>OPTIMIZER</a:t>
            </a:r>
          </a:p>
        </p:txBody>
      </p:sp>
      <p:sp>
        <p:nvSpPr>
          <p:cNvPr id="39" name="TextBox 38"/>
          <p:cNvSpPr txBox="1"/>
          <p:nvPr/>
        </p:nvSpPr>
        <p:spPr>
          <a:xfrm>
            <a:off x="4617720" y="4325112"/>
            <a:ext cx="3035808" cy="512064"/>
          </a:xfrm>
          <a:prstGeom prst="rect">
            <a:avLst/>
          </a:prstGeom>
          <a:noFill/>
        </p:spPr>
        <p:txBody>
          <a:bodyPr wrap="square" lIns="36576" tIns="36576" rIns="36576" bIns="36576" anchor="ctr">
            <a:spAutoFit/>
          </a:bodyPr>
          <a:lstStyle/>
          <a:p>
            <a:pPr algn="l">
              <a:lnSpc>
                <a:spcPct val="100000"/>
              </a:lnSpc>
              <a:defRPr sz="2500" b="1">
                <a:solidFill>
                  <a:srgbClr val="0F172A"/>
                </a:solidFill>
                <a:latin typeface="Manrope"/>
              </a:defRPr>
            </a:pPr>
            <a:r>
              <a:t>Adam · 10⁻³</a:t>
            </a:r>
          </a:p>
        </p:txBody>
      </p:sp>
      <p:sp>
        <p:nvSpPr>
          <p:cNvPr id="40" name="TextBox 39"/>
          <p:cNvSpPr txBox="1"/>
          <p:nvPr/>
        </p:nvSpPr>
        <p:spPr>
          <a:xfrm>
            <a:off x="4617720" y="4791456"/>
            <a:ext cx="3035808" cy="256032"/>
          </a:xfrm>
          <a:prstGeom prst="rect">
            <a:avLst/>
          </a:prstGeom>
          <a:noFill/>
        </p:spPr>
        <p:txBody>
          <a:bodyPr wrap="square" lIns="36576" tIns="36576" rIns="36576" bIns="36576" anchor="ctr">
            <a:spAutoFit/>
          </a:bodyPr>
          <a:lstStyle/>
          <a:p>
            <a:pPr algn="l">
              <a:lnSpc>
                <a:spcPct val="100000"/>
              </a:lnSpc>
              <a:defRPr sz="1000" b="0">
                <a:solidFill>
                  <a:srgbClr val="475569"/>
                </a:solidFill>
                <a:latin typeface="Inter"/>
              </a:defRPr>
            </a:pPr>
            <a:r>
              <a:rPr sz="1200"/>
              <a:t>weight decay 10⁻⁴</a:t>
            </a:r>
          </a:p>
        </p:txBody>
      </p:sp>
      <p:sp>
        <p:nvSpPr>
          <p:cNvPr id="41" name="Rounded Rectangle 40"/>
          <p:cNvSpPr/>
          <p:nvPr/>
        </p:nvSpPr>
        <p:spPr>
          <a:xfrm>
            <a:off x="8092440" y="3886200"/>
            <a:ext cx="3401568" cy="132588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Rectangle 41"/>
          <p:cNvSpPr/>
          <p:nvPr/>
        </p:nvSpPr>
        <p:spPr>
          <a:xfrm>
            <a:off x="8092440" y="3886200"/>
            <a:ext cx="73152" cy="1325880"/>
          </a:xfrm>
          <a:prstGeom prst="rect">
            <a:avLst/>
          </a:prstGeom>
          <a:solidFill>
            <a:srgbClr val="059669"/>
          </a:solidFill>
          <a:ln w="1270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8321040" y="4040398"/>
            <a:ext cx="3035808" cy="258532"/>
          </a:xfrm>
          <a:prstGeom prst="rect">
            <a:avLst/>
          </a:prstGeom>
          <a:noFill/>
        </p:spPr>
        <p:txBody>
          <a:bodyPr wrap="square" lIns="36576" tIns="36576" rIns="36576" bIns="36576" anchor="ctr">
            <a:spAutoFit/>
          </a:bodyPr>
          <a:lstStyle/>
          <a:p>
            <a:pPr algn="l">
              <a:lnSpc>
                <a:spcPct val="100000"/>
              </a:lnSpc>
              <a:defRPr sz="1000" b="1">
                <a:solidFill>
                  <a:srgbClr val="64748B"/>
                </a:solidFill>
                <a:latin typeface="Inter"/>
              </a:defRPr>
            </a:pPr>
            <a:r>
              <a:rPr sz="1200"/>
              <a:t>TRAINING</a:t>
            </a:r>
          </a:p>
        </p:txBody>
      </p:sp>
      <p:sp>
        <p:nvSpPr>
          <p:cNvPr id="44" name="TextBox 43"/>
          <p:cNvSpPr txBox="1"/>
          <p:nvPr/>
        </p:nvSpPr>
        <p:spPr>
          <a:xfrm>
            <a:off x="8321040" y="4325112"/>
            <a:ext cx="3035808" cy="512064"/>
          </a:xfrm>
          <a:prstGeom prst="rect">
            <a:avLst/>
          </a:prstGeom>
          <a:noFill/>
        </p:spPr>
        <p:txBody>
          <a:bodyPr wrap="square" lIns="36576" tIns="36576" rIns="36576" bIns="36576" anchor="ctr">
            <a:spAutoFit/>
          </a:bodyPr>
          <a:lstStyle/>
          <a:p>
            <a:pPr algn="l">
              <a:lnSpc>
                <a:spcPct val="100000"/>
              </a:lnSpc>
              <a:defRPr sz="2500" b="1">
                <a:solidFill>
                  <a:srgbClr val="0F172A"/>
                </a:solidFill>
                <a:latin typeface="Manrope"/>
              </a:defRPr>
            </a:pPr>
            <a:r>
              <a:t>25 epochs</a:t>
            </a:r>
          </a:p>
        </p:txBody>
      </p:sp>
      <p:sp>
        <p:nvSpPr>
          <p:cNvPr id="45" name="TextBox 44"/>
          <p:cNvSpPr txBox="1"/>
          <p:nvPr/>
        </p:nvSpPr>
        <p:spPr>
          <a:xfrm>
            <a:off x="8321040" y="4791456"/>
            <a:ext cx="3035808" cy="256032"/>
          </a:xfrm>
          <a:prstGeom prst="rect">
            <a:avLst/>
          </a:prstGeom>
          <a:noFill/>
        </p:spPr>
        <p:txBody>
          <a:bodyPr wrap="square" lIns="36576" tIns="36576" rIns="36576" bIns="36576" anchor="ctr">
            <a:spAutoFit/>
          </a:bodyPr>
          <a:lstStyle/>
          <a:p>
            <a:pPr algn="l">
              <a:lnSpc>
                <a:spcPct val="100000"/>
              </a:lnSpc>
              <a:defRPr sz="1000" b="0">
                <a:solidFill>
                  <a:srgbClr val="475569"/>
                </a:solidFill>
                <a:latin typeface="Inter"/>
              </a:defRPr>
            </a:pPr>
            <a:r>
              <a:rPr sz="1200"/>
              <a:t>batch 64 · cosine schedule</a:t>
            </a:r>
          </a:p>
        </p:txBody>
      </p:sp>
      <p:sp>
        <p:nvSpPr>
          <p:cNvPr id="46" name="TextBox 45"/>
          <p:cNvSpPr txBox="1"/>
          <p:nvPr/>
        </p:nvSpPr>
        <p:spPr>
          <a:xfrm>
            <a:off x="2084831" y="5614615"/>
            <a:ext cx="8046720" cy="273921"/>
          </a:xfrm>
          <a:prstGeom prst="rect">
            <a:avLst/>
          </a:prstGeom>
          <a:noFill/>
        </p:spPr>
        <p:txBody>
          <a:bodyPr wrap="square" lIns="36576" tIns="36576" rIns="36576" bIns="36576" anchor="ctr">
            <a:spAutoFit/>
          </a:bodyPr>
          <a:lstStyle/>
          <a:p>
            <a:pPr algn="ctr">
              <a:lnSpc>
                <a:spcPct val="100000"/>
              </a:lnSpc>
              <a:defRPr sz="1100" b="1">
                <a:solidFill>
                  <a:srgbClr val="475569"/>
                </a:solidFill>
                <a:latin typeface="Inter"/>
              </a:defRPr>
            </a:pPr>
            <a:r>
              <a:rPr sz="1300"/>
              <a:t>Checkpoint metric: mean validation accuracy at −10 … +2 dB</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11480" y="190774"/>
            <a:ext cx="3840480" cy="258532"/>
          </a:xfrm>
          <a:prstGeom prst="rect">
            <a:avLst/>
          </a:prstGeom>
          <a:noFill/>
        </p:spPr>
        <p:txBody>
          <a:bodyPr wrap="square" lIns="36576" tIns="36576" rIns="36576" bIns="36576" anchor="ctr">
            <a:spAutoFit/>
          </a:bodyPr>
          <a:lstStyle/>
          <a:p>
            <a:pPr algn="l">
              <a:lnSpc>
                <a:spcPct val="100000"/>
              </a:lnSpc>
              <a:defRPr sz="1000" b="1">
                <a:solidFill>
                  <a:srgbClr val="0284C7"/>
                </a:solidFill>
                <a:latin typeface="Inter"/>
              </a:defRPr>
            </a:pPr>
            <a:r>
              <a:rPr sz="1200"/>
              <a:t>05 · VALIDATION</a:t>
            </a:r>
          </a:p>
        </p:txBody>
      </p:sp>
      <p:sp>
        <p:nvSpPr>
          <p:cNvPr id="3" name="TextBox 2"/>
          <p:cNvSpPr txBox="1"/>
          <p:nvPr/>
        </p:nvSpPr>
        <p:spPr>
          <a:xfrm>
            <a:off x="411480" y="438912"/>
            <a:ext cx="10744200" cy="640080"/>
          </a:xfrm>
          <a:prstGeom prst="rect">
            <a:avLst/>
          </a:prstGeom>
          <a:noFill/>
        </p:spPr>
        <p:txBody>
          <a:bodyPr wrap="square" lIns="36576" tIns="36576" rIns="36576" bIns="36576" anchor="ctr">
            <a:spAutoFit/>
          </a:bodyPr>
          <a:lstStyle/>
          <a:p>
            <a:pPr algn="l">
              <a:lnSpc>
                <a:spcPct val="100000"/>
              </a:lnSpc>
              <a:defRPr sz="3000" b="1">
                <a:solidFill>
                  <a:srgbClr val="0F172A"/>
                </a:solidFill>
                <a:latin typeface="Manrope"/>
              </a:defRPr>
            </a:pPr>
            <a:r>
              <a:t>Ablation selects phase-only</a:t>
            </a:r>
          </a:p>
        </p:txBody>
      </p:sp>
      <p:sp>
        <p:nvSpPr>
          <p:cNvPr id="4" name="TextBox 3"/>
          <p:cNvSpPr txBox="1"/>
          <p:nvPr/>
        </p:nvSpPr>
        <p:spPr>
          <a:xfrm>
            <a:off x="411480" y="1080641"/>
            <a:ext cx="10561320" cy="289310"/>
          </a:xfrm>
          <a:prstGeom prst="rect">
            <a:avLst/>
          </a:prstGeom>
          <a:noFill/>
        </p:spPr>
        <p:txBody>
          <a:bodyPr wrap="square" lIns="36576" tIns="36576" rIns="36576" bIns="36576" anchor="ctr">
            <a:spAutoFit/>
          </a:bodyPr>
          <a:lstStyle/>
          <a:p>
            <a:pPr algn="l">
              <a:lnSpc>
                <a:spcPct val="100000"/>
              </a:lnSpc>
              <a:defRPr sz="1200" b="0">
                <a:solidFill>
                  <a:srgbClr val="64748B"/>
                </a:solidFill>
                <a:latin typeface="Inter"/>
              </a:defRPr>
            </a:pPr>
            <a:r>
              <a:rPr sz="1400"/>
              <a:t>Mean low-SNR validation accuracy across five training seeds</a:t>
            </a:r>
          </a:p>
        </p:txBody>
      </p:sp>
      <p:cxnSp>
        <p:nvCxnSpPr>
          <p:cNvPr id="5" name="Connector 4"/>
          <p:cNvCxnSpPr/>
          <p:nvPr/>
        </p:nvCxnSpPr>
        <p:spPr>
          <a:xfrm>
            <a:off x="411480" y="1435608"/>
            <a:ext cx="11365992" cy="0"/>
          </a:xfrm>
          <a:prstGeom prst="line">
            <a:avLst/>
          </a:prstGeom>
          <a:ln w="12700">
            <a:solidFill>
              <a:srgbClr val="E2E8F0"/>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11480" y="6515523"/>
            <a:ext cx="6126480" cy="227755"/>
          </a:xfrm>
          <a:prstGeom prst="rect">
            <a:avLst/>
          </a:prstGeom>
          <a:noFill/>
        </p:spPr>
        <p:txBody>
          <a:bodyPr wrap="square" lIns="36576" tIns="36576" rIns="36576" bIns="36576" anchor="ctr">
            <a:spAutoFit/>
          </a:bodyPr>
          <a:lstStyle/>
          <a:p>
            <a:pPr algn="l">
              <a:lnSpc>
                <a:spcPct val="100000"/>
              </a:lnSpc>
              <a:defRPr sz="900" b="0">
                <a:solidFill>
                  <a:srgbClr val="64748B"/>
                </a:solidFill>
                <a:latin typeface="Inter"/>
              </a:defRPr>
            </a:pPr>
            <a:r>
              <a:rPr sz="1000"/>
              <a:t>EE136: Machine Learning for Wireless Communications</a:t>
            </a:r>
          </a:p>
        </p:txBody>
      </p:sp>
      <p:sp>
        <p:nvSpPr>
          <p:cNvPr id="7" name="TextBox 6"/>
          <p:cNvSpPr txBox="1"/>
          <p:nvPr/>
        </p:nvSpPr>
        <p:spPr>
          <a:xfrm>
            <a:off x="10222992" y="6515523"/>
            <a:ext cx="1554480" cy="227755"/>
          </a:xfrm>
          <a:prstGeom prst="rect">
            <a:avLst/>
          </a:prstGeom>
          <a:noFill/>
        </p:spPr>
        <p:txBody>
          <a:bodyPr wrap="square" lIns="36576" tIns="36576" rIns="36576" bIns="36576" anchor="ctr">
            <a:spAutoFit/>
          </a:bodyPr>
          <a:lstStyle/>
          <a:p>
            <a:pPr algn="r">
              <a:lnSpc>
                <a:spcPct val="100000"/>
              </a:lnSpc>
              <a:defRPr sz="900" b="0">
                <a:solidFill>
                  <a:srgbClr val="64748B"/>
                </a:solidFill>
                <a:latin typeface="Inter"/>
              </a:defRPr>
            </a:pPr>
            <a:r>
              <a:rPr sz="1000"/>
              <a:t>Slide 8 of 12</a:t>
            </a:r>
          </a:p>
        </p:txBody>
      </p:sp>
      <p:sp>
        <p:nvSpPr>
          <p:cNvPr id="8" name="TextBox 7"/>
          <p:cNvSpPr txBox="1"/>
          <p:nvPr/>
        </p:nvSpPr>
        <p:spPr>
          <a:xfrm>
            <a:off x="713232" y="1764991"/>
            <a:ext cx="2057400" cy="273921"/>
          </a:xfrm>
          <a:prstGeom prst="rect">
            <a:avLst/>
          </a:prstGeom>
          <a:noFill/>
        </p:spPr>
        <p:txBody>
          <a:bodyPr wrap="square" lIns="36576" tIns="36576" rIns="36576" bIns="36576" anchor="ctr">
            <a:spAutoFit/>
          </a:bodyPr>
          <a:lstStyle/>
          <a:p>
            <a:pPr algn="l">
              <a:lnSpc>
                <a:spcPct val="100000"/>
              </a:lnSpc>
              <a:defRPr sz="1100" b="1">
                <a:solidFill>
                  <a:srgbClr val="0F172A"/>
                </a:solidFill>
                <a:latin typeface="Inter"/>
              </a:defRPr>
            </a:pPr>
            <a:r>
              <a:rPr sz="1300"/>
              <a:t>Phase only</a:t>
            </a:r>
          </a:p>
        </p:txBody>
      </p:sp>
      <p:sp>
        <p:nvSpPr>
          <p:cNvPr id="9" name="Rectangle 8"/>
          <p:cNvSpPr/>
          <p:nvPr/>
        </p:nvSpPr>
        <p:spPr>
          <a:xfrm>
            <a:off x="2743200" y="1764792"/>
            <a:ext cx="7086600" cy="265176"/>
          </a:xfrm>
          <a:prstGeom prst="rect">
            <a:avLst/>
          </a:prstGeom>
          <a:solidFill>
            <a:srgbClr val="F1F5F9"/>
          </a:solidFill>
          <a:ln w="12700">
            <a:solidFill>
              <a:srgbClr val="F1F5F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2743200" y="1764792"/>
            <a:ext cx="6631032" cy="265176"/>
          </a:xfrm>
          <a:prstGeom prst="rect">
            <a:avLst/>
          </a:prstGeom>
          <a:solidFill>
            <a:srgbClr val="0284C7"/>
          </a:solidFill>
          <a:ln w="1270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0003536" y="1755847"/>
            <a:ext cx="868680" cy="273921"/>
          </a:xfrm>
          <a:prstGeom prst="rect">
            <a:avLst/>
          </a:prstGeom>
          <a:noFill/>
        </p:spPr>
        <p:txBody>
          <a:bodyPr wrap="square" lIns="36576" tIns="36576" rIns="36576" bIns="36576" anchor="ctr">
            <a:spAutoFit/>
          </a:bodyPr>
          <a:lstStyle/>
          <a:p>
            <a:pPr algn="r">
              <a:lnSpc>
                <a:spcPct val="100000"/>
              </a:lnSpc>
              <a:defRPr sz="1100" b="1">
                <a:solidFill>
                  <a:srgbClr val="0284C7"/>
                </a:solidFill>
                <a:latin typeface="Inter"/>
              </a:defRPr>
            </a:pPr>
            <a:r>
              <a:rPr sz="1300"/>
              <a:t>50.73%</a:t>
            </a:r>
          </a:p>
        </p:txBody>
      </p:sp>
      <p:sp>
        <p:nvSpPr>
          <p:cNvPr id="12" name="TextBox 11"/>
          <p:cNvSpPr txBox="1"/>
          <p:nvPr/>
        </p:nvSpPr>
        <p:spPr>
          <a:xfrm>
            <a:off x="713232" y="2386783"/>
            <a:ext cx="2057400" cy="273921"/>
          </a:xfrm>
          <a:prstGeom prst="rect">
            <a:avLst/>
          </a:prstGeom>
          <a:noFill/>
        </p:spPr>
        <p:txBody>
          <a:bodyPr wrap="square" lIns="36576" tIns="36576" rIns="36576" bIns="36576" anchor="ctr">
            <a:spAutoFit/>
          </a:bodyPr>
          <a:lstStyle/>
          <a:p>
            <a:pPr algn="l">
              <a:lnSpc>
                <a:spcPct val="100000"/>
              </a:lnSpc>
              <a:defRPr sz="1100" b="0">
                <a:solidFill>
                  <a:srgbClr val="0F172A"/>
                </a:solidFill>
                <a:latin typeface="Inter"/>
              </a:defRPr>
            </a:pPr>
            <a:r>
              <a:rPr sz="1300"/>
              <a:t>Noise only</a:t>
            </a:r>
          </a:p>
        </p:txBody>
      </p:sp>
      <p:sp>
        <p:nvSpPr>
          <p:cNvPr id="13" name="Rectangle 12"/>
          <p:cNvSpPr/>
          <p:nvPr/>
        </p:nvSpPr>
        <p:spPr>
          <a:xfrm>
            <a:off x="2743200" y="2386584"/>
            <a:ext cx="7086600" cy="265176"/>
          </a:xfrm>
          <a:prstGeom prst="rect">
            <a:avLst/>
          </a:prstGeom>
          <a:solidFill>
            <a:srgbClr val="F1F5F9"/>
          </a:solidFill>
          <a:ln w="12700">
            <a:solidFill>
              <a:srgbClr val="F1F5F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2743200" y="2386584"/>
            <a:ext cx="6361067" cy="265176"/>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0003536" y="2377639"/>
            <a:ext cx="868680" cy="273921"/>
          </a:xfrm>
          <a:prstGeom prst="rect">
            <a:avLst/>
          </a:prstGeom>
          <a:noFill/>
        </p:spPr>
        <p:txBody>
          <a:bodyPr wrap="square" lIns="36576" tIns="36576" rIns="36576" bIns="36576" anchor="ctr">
            <a:spAutoFit/>
          </a:bodyPr>
          <a:lstStyle/>
          <a:p>
            <a:pPr algn="r">
              <a:lnSpc>
                <a:spcPct val="100000"/>
              </a:lnSpc>
              <a:defRPr sz="1100" b="1">
                <a:solidFill>
                  <a:srgbClr val="2563EB"/>
                </a:solidFill>
                <a:latin typeface="Inter"/>
              </a:defRPr>
            </a:pPr>
            <a:r>
              <a:rPr sz="1300"/>
              <a:t>50.57%</a:t>
            </a:r>
          </a:p>
        </p:txBody>
      </p:sp>
      <p:sp>
        <p:nvSpPr>
          <p:cNvPr id="16" name="TextBox 15"/>
          <p:cNvSpPr txBox="1"/>
          <p:nvPr/>
        </p:nvSpPr>
        <p:spPr>
          <a:xfrm>
            <a:off x="713232" y="3008575"/>
            <a:ext cx="2057400" cy="273921"/>
          </a:xfrm>
          <a:prstGeom prst="rect">
            <a:avLst/>
          </a:prstGeom>
          <a:noFill/>
        </p:spPr>
        <p:txBody>
          <a:bodyPr wrap="square" lIns="36576" tIns="36576" rIns="36576" bIns="36576" anchor="ctr">
            <a:spAutoFit/>
          </a:bodyPr>
          <a:lstStyle/>
          <a:p>
            <a:pPr algn="l">
              <a:lnSpc>
                <a:spcPct val="100000"/>
              </a:lnSpc>
              <a:defRPr sz="1100" b="0">
                <a:solidFill>
                  <a:srgbClr val="0F172A"/>
                </a:solidFill>
                <a:latin typeface="Inter"/>
              </a:defRPr>
            </a:pPr>
            <a:r>
              <a:rPr sz="1300"/>
              <a:t>Full augmentation</a:t>
            </a:r>
          </a:p>
        </p:txBody>
      </p:sp>
      <p:sp>
        <p:nvSpPr>
          <p:cNvPr id="17" name="Rectangle 16"/>
          <p:cNvSpPr/>
          <p:nvPr/>
        </p:nvSpPr>
        <p:spPr>
          <a:xfrm>
            <a:off x="2743200" y="3008375"/>
            <a:ext cx="7086600" cy="265176"/>
          </a:xfrm>
          <a:prstGeom prst="rect">
            <a:avLst/>
          </a:prstGeom>
          <a:solidFill>
            <a:srgbClr val="F1F5F9"/>
          </a:solidFill>
          <a:ln w="12700">
            <a:solidFill>
              <a:srgbClr val="F1F5F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2743200" y="3008375"/>
            <a:ext cx="4420688" cy="265176"/>
          </a:xfrm>
          <a:prstGeom prst="rect">
            <a:avLst/>
          </a:prstGeom>
          <a:solidFill>
            <a:srgbClr val="059669"/>
          </a:solidFill>
          <a:ln w="1270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10003536" y="2999431"/>
            <a:ext cx="868680" cy="273921"/>
          </a:xfrm>
          <a:prstGeom prst="rect">
            <a:avLst/>
          </a:prstGeom>
          <a:noFill/>
        </p:spPr>
        <p:txBody>
          <a:bodyPr wrap="square" lIns="36576" tIns="36576" rIns="36576" bIns="36576" anchor="ctr">
            <a:spAutoFit/>
          </a:bodyPr>
          <a:lstStyle/>
          <a:p>
            <a:pPr algn="r">
              <a:lnSpc>
                <a:spcPct val="100000"/>
              </a:lnSpc>
              <a:defRPr sz="1100" b="1">
                <a:solidFill>
                  <a:srgbClr val="059669"/>
                </a:solidFill>
                <a:latin typeface="Inter"/>
              </a:defRPr>
            </a:pPr>
            <a:r>
              <a:rPr sz="1300"/>
              <a:t>49.42%</a:t>
            </a:r>
          </a:p>
        </p:txBody>
      </p:sp>
      <p:sp>
        <p:nvSpPr>
          <p:cNvPr id="20" name="TextBox 19"/>
          <p:cNvSpPr txBox="1"/>
          <p:nvPr/>
        </p:nvSpPr>
        <p:spPr>
          <a:xfrm>
            <a:off x="713232" y="3630367"/>
            <a:ext cx="2057400" cy="273921"/>
          </a:xfrm>
          <a:prstGeom prst="rect">
            <a:avLst/>
          </a:prstGeom>
          <a:noFill/>
        </p:spPr>
        <p:txBody>
          <a:bodyPr wrap="square" lIns="36576" tIns="36576" rIns="36576" bIns="36576" anchor="ctr">
            <a:spAutoFit/>
          </a:bodyPr>
          <a:lstStyle/>
          <a:p>
            <a:pPr algn="l">
              <a:lnSpc>
                <a:spcPct val="100000"/>
              </a:lnSpc>
              <a:defRPr sz="1100" b="0">
                <a:solidFill>
                  <a:srgbClr val="0F172A"/>
                </a:solidFill>
                <a:latin typeface="Inter"/>
              </a:defRPr>
            </a:pPr>
            <a:r>
              <a:rPr sz="1300"/>
              <a:t>Shift only</a:t>
            </a:r>
          </a:p>
        </p:txBody>
      </p:sp>
      <p:sp>
        <p:nvSpPr>
          <p:cNvPr id="21" name="Rectangle 20"/>
          <p:cNvSpPr/>
          <p:nvPr/>
        </p:nvSpPr>
        <p:spPr>
          <a:xfrm>
            <a:off x="2743200" y="3630168"/>
            <a:ext cx="7086600" cy="265176"/>
          </a:xfrm>
          <a:prstGeom prst="rect">
            <a:avLst/>
          </a:prstGeom>
          <a:solidFill>
            <a:srgbClr val="F1F5F9"/>
          </a:solidFill>
          <a:ln w="12700">
            <a:solidFill>
              <a:srgbClr val="F1F5F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2743200" y="3630168"/>
            <a:ext cx="2058488" cy="265176"/>
          </a:xfrm>
          <a:prstGeom prst="rect">
            <a:avLst/>
          </a:prstGeom>
          <a:solidFill>
            <a:srgbClr val="475569"/>
          </a:solidFill>
          <a:ln w="12700">
            <a:solidFill>
              <a:srgbClr val="4755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10003536" y="3621223"/>
            <a:ext cx="868680" cy="273921"/>
          </a:xfrm>
          <a:prstGeom prst="rect">
            <a:avLst/>
          </a:prstGeom>
          <a:noFill/>
        </p:spPr>
        <p:txBody>
          <a:bodyPr wrap="square" lIns="36576" tIns="36576" rIns="36576" bIns="36576" anchor="ctr">
            <a:spAutoFit/>
          </a:bodyPr>
          <a:lstStyle/>
          <a:p>
            <a:pPr algn="r">
              <a:lnSpc>
                <a:spcPct val="100000"/>
              </a:lnSpc>
              <a:defRPr sz="1100" b="1">
                <a:solidFill>
                  <a:srgbClr val="475569"/>
                </a:solidFill>
                <a:latin typeface="Inter"/>
              </a:defRPr>
            </a:pPr>
            <a:r>
              <a:rPr sz="1300"/>
              <a:t>48.02%</a:t>
            </a:r>
          </a:p>
        </p:txBody>
      </p:sp>
      <p:sp>
        <p:nvSpPr>
          <p:cNvPr id="24" name="TextBox 23"/>
          <p:cNvSpPr txBox="1"/>
          <p:nvPr/>
        </p:nvSpPr>
        <p:spPr>
          <a:xfrm>
            <a:off x="713232" y="4252159"/>
            <a:ext cx="2057400" cy="273921"/>
          </a:xfrm>
          <a:prstGeom prst="rect">
            <a:avLst/>
          </a:prstGeom>
          <a:noFill/>
        </p:spPr>
        <p:txBody>
          <a:bodyPr wrap="square" lIns="36576" tIns="36576" rIns="36576" bIns="36576" anchor="ctr">
            <a:spAutoFit/>
          </a:bodyPr>
          <a:lstStyle/>
          <a:p>
            <a:pPr algn="l">
              <a:lnSpc>
                <a:spcPct val="100000"/>
              </a:lnSpc>
              <a:defRPr sz="1100" b="0">
                <a:solidFill>
                  <a:srgbClr val="0F172A"/>
                </a:solidFill>
                <a:latin typeface="Inter"/>
              </a:defRPr>
            </a:pPr>
            <a:r>
              <a:rPr sz="1300"/>
              <a:t>Baseline</a:t>
            </a:r>
          </a:p>
        </p:txBody>
      </p:sp>
      <p:sp>
        <p:nvSpPr>
          <p:cNvPr id="25" name="Rectangle 24"/>
          <p:cNvSpPr/>
          <p:nvPr/>
        </p:nvSpPr>
        <p:spPr>
          <a:xfrm>
            <a:off x="2743200" y="4251960"/>
            <a:ext cx="7086600" cy="265176"/>
          </a:xfrm>
          <a:prstGeom prst="rect">
            <a:avLst/>
          </a:prstGeom>
          <a:solidFill>
            <a:srgbClr val="F1F5F9"/>
          </a:solidFill>
          <a:ln w="12700">
            <a:solidFill>
              <a:srgbClr val="F1F5F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2743200" y="4251960"/>
            <a:ext cx="1687285" cy="265176"/>
          </a:xfrm>
          <a:prstGeom prst="rect">
            <a:avLst/>
          </a:prstGeom>
          <a:solidFill>
            <a:srgbClr val="334155"/>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10003536" y="4243015"/>
            <a:ext cx="868680" cy="273921"/>
          </a:xfrm>
          <a:prstGeom prst="rect">
            <a:avLst/>
          </a:prstGeom>
          <a:noFill/>
        </p:spPr>
        <p:txBody>
          <a:bodyPr wrap="square" lIns="36576" tIns="36576" rIns="36576" bIns="36576" anchor="ctr">
            <a:spAutoFit/>
          </a:bodyPr>
          <a:lstStyle/>
          <a:p>
            <a:pPr algn="r">
              <a:lnSpc>
                <a:spcPct val="100000"/>
              </a:lnSpc>
              <a:defRPr sz="1100" b="1">
                <a:solidFill>
                  <a:srgbClr val="334155"/>
                </a:solidFill>
                <a:latin typeface="Inter"/>
              </a:defRPr>
            </a:pPr>
            <a:r>
              <a:rPr sz="1300"/>
              <a:t>47.80%</a:t>
            </a:r>
          </a:p>
        </p:txBody>
      </p:sp>
      <p:sp>
        <p:nvSpPr>
          <p:cNvPr id="28" name="TextBox 27"/>
          <p:cNvSpPr txBox="1"/>
          <p:nvPr/>
        </p:nvSpPr>
        <p:spPr>
          <a:xfrm>
            <a:off x="713232" y="4873951"/>
            <a:ext cx="2057400" cy="273921"/>
          </a:xfrm>
          <a:prstGeom prst="rect">
            <a:avLst/>
          </a:prstGeom>
          <a:noFill/>
        </p:spPr>
        <p:txBody>
          <a:bodyPr wrap="square" lIns="36576" tIns="36576" rIns="36576" bIns="36576" anchor="ctr">
            <a:spAutoFit/>
          </a:bodyPr>
          <a:lstStyle/>
          <a:p>
            <a:pPr algn="l">
              <a:lnSpc>
                <a:spcPct val="100000"/>
              </a:lnSpc>
              <a:defRPr sz="1100" b="0">
                <a:solidFill>
                  <a:srgbClr val="0F172A"/>
                </a:solidFill>
                <a:latin typeface="Inter"/>
              </a:defRPr>
            </a:pPr>
            <a:r>
              <a:rPr sz="1300"/>
              <a:t>Scale only</a:t>
            </a:r>
          </a:p>
        </p:txBody>
      </p:sp>
      <p:sp>
        <p:nvSpPr>
          <p:cNvPr id="29" name="Rectangle 28"/>
          <p:cNvSpPr/>
          <p:nvPr/>
        </p:nvSpPr>
        <p:spPr>
          <a:xfrm>
            <a:off x="2743200" y="4873752"/>
            <a:ext cx="7086600" cy="265176"/>
          </a:xfrm>
          <a:prstGeom prst="rect">
            <a:avLst/>
          </a:prstGeom>
          <a:solidFill>
            <a:srgbClr val="F1F5F9"/>
          </a:solidFill>
          <a:ln w="12700">
            <a:solidFill>
              <a:srgbClr val="F1F5F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2743200" y="4873752"/>
            <a:ext cx="961752" cy="265176"/>
          </a:xfrm>
          <a:prstGeom prst="rect">
            <a:avLst/>
          </a:prstGeom>
          <a:solidFill>
            <a:srgbClr val="D97706"/>
          </a:solidFill>
          <a:ln w="1270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10003536" y="4864807"/>
            <a:ext cx="868680" cy="273921"/>
          </a:xfrm>
          <a:prstGeom prst="rect">
            <a:avLst/>
          </a:prstGeom>
          <a:noFill/>
        </p:spPr>
        <p:txBody>
          <a:bodyPr wrap="square" lIns="36576" tIns="36576" rIns="36576" bIns="36576" anchor="ctr">
            <a:spAutoFit/>
          </a:bodyPr>
          <a:lstStyle/>
          <a:p>
            <a:pPr algn="r">
              <a:lnSpc>
                <a:spcPct val="100000"/>
              </a:lnSpc>
              <a:defRPr sz="1100" b="1">
                <a:solidFill>
                  <a:srgbClr val="D97706"/>
                </a:solidFill>
                <a:latin typeface="Inter"/>
              </a:defRPr>
            </a:pPr>
            <a:r>
              <a:rPr sz="1300"/>
              <a:t>47.37%</a:t>
            </a:r>
          </a:p>
        </p:txBody>
      </p:sp>
      <p:sp>
        <p:nvSpPr>
          <p:cNvPr id="32" name="Rounded Rectangle 31"/>
          <p:cNvSpPr/>
          <p:nvPr/>
        </p:nvSpPr>
        <p:spPr>
          <a:xfrm>
            <a:off x="7955279" y="5486400"/>
            <a:ext cx="3200400" cy="621792"/>
          </a:xfrm>
          <a:prstGeom prst="roundRect">
            <a:avLst/>
          </a:prstGeom>
          <a:solidFill>
            <a:srgbClr val="F0F9FF"/>
          </a:solidFill>
          <a:ln w="12700">
            <a:solidFill>
              <a:srgbClr val="F0F9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8138160" y="5637475"/>
            <a:ext cx="2816352" cy="273921"/>
          </a:xfrm>
          <a:prstGeom prst="rect">
            <a:avLst/>
          </a:prstGeom>
          <a:noFill/>
        </p:spPr>
        <p:txBody>
          <a:bodyPr wrap="square" lIns="36576" tIns="36576" rIns="36576" bIns="36576" anchor="ctr">
            <a:spAutoFit/>
          </a:bodyPr>
          <a:lstStyle/>
          <a:p>
            <a:pPr algn="ctr">
              <a:lnSpc>
                <a:spcPct val="100000"/>
              </a:lnSpc>
              <a:defRPr sz="1100" b="1">
                <a:solidFill>
                  <a:srgbClr val="0284C7"/>
                </a:solidFill>
                <a:latin typeface="Inter"/>
              </a:defRPr>
            </a:pPr>
            <a:r>
              <a:rPr sz="1300"/>
              <a:t>LOCK phase_only BEFORE TEST</a:t>
            </a:r>
          </a:p>
        </p:txBody>
      </p:sp>
      <p:sp>
        <p:nvSpPr>
          <p:cNvPr id="34" name="TextBox 33"/>
          <p:cNvSpPr txBox="1"/>
          <p:nvPr/>
        </p:nvSpPr>
        <p:spPr>
          <a:xfrm>
            <a:off x="713232" y="5658886"/>
            <a:ext cx="6903720" cy="258532"/>
          </a:xfrm>
          <a:prstGeom prst="rect">
            <a:avLst/>
          </a:prstGeom>
          <a:noFill/>
        </p:spPr>
        <p:txBody>
          <a:bodyPr wrap="square" lIns="36576" tIns="36576" rIns="36576" bIns="36576" anchor="ctr">
            <a:spAutoFit/>
          </a:bodyPr>
          <a:lstStyle/>
          <a:p>
            <a:pPr algn="l">
              <a:lnSpc>
                <a:spcPct val="100000"/>
              </a:lnSpc>
              <a:defRPr sz="1000" b="1">
                <a:solidFill>
                  <a:srgbClr val="DC2626"/>
                </a:solidFill>
                <a:latin typeface="Inter"/>
              </a:defRPr>
            </a:pPr>
            <a:r>
              <a:rPr sz="1200"/>
              <a:t>Only +0.16 pp vs noise-only — do not overclaim transform superiority.</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11480" y="190774"/>
            <a:ext cx="3840480" cy="258532"/>
          </a:xfrm>
          <a:prstGeom prst="rect">
            <a:avLst/>
          </a:prstGeom>
          <a:noFill/>
        </p:spPr>
        <p:txBody>
          <a:bodyPr wrap="square" lIns="36576" tIns="36576" rIns="36576" bIns="36576" anchor="ctr">
            <a:spAutoFit/>
          </a:bodyPr>
          <a:lstStyle/>
          <a:p>
            <a:pPr algn="l">
              <a:lnSpc>
                <a:spcPct val="100000"/>
              </a:lnSpc>
              <a:defRPr sz="1000" b="1">
                <a:solidFill>
                  <a:srgbClr val="0284C7"/>
                </a:solidFill>
                <a:latin typeface="Inter"/>
              </a:defRPr>
            </a:pPr>
            <a:r>
              <a:rPr sz="1200"/>
              <a:t>06 · FINAL TEST</a:t>
            </a:r>
          </a:p>
        </p:txBody>
      </p:sp>
      <p:sp>
        <p:nvSpPr>
          <p:cNvPr id="3" name="TextBox 2"/>
          <p:cNvSpPr txBox="1"/>
          <p:nvPr/>
        </p:nvSpPr>
        <p:spPr>
          <a:xfrm>
            <a:off x="411480" y="438912"/>
            <a:ext cx="10744200" cy="640080"/>
          </a:xfrm>
          <a:prstGeom prst="rect">
            <a:avLst/>
          </a:prstGeom>
          <a:noFill/>
        </p:spPr>
        <p:txBody>
          <a:bodyPr wrap="square" lIns="36576" tIns="36576" rIns="36576" bIns="36576" anchor="ctr">
            <a:spAutoFit/>
          </a:bodyPr>
          <a:lstStyle/>
          <a:p>
            <a:pPr algn="l">
              <a:lnSpc>
                <a:spcPct val="100000"/>
              </a:lnSpc>
              <a:defRPr sz="3000" b="1">
                <a:solidFill>
                  <a:srgbClr val="0F172A"/>
                </a:solidFill>
                <a:latin typeface="Manrope"/>
              </a:defRPr>
            </a:pPr>
            <a:r>
              <a:t>The largest gain is in the target low-SNR region</a:t>
            </a:r>
          </a:p>
        </p:txBody>
      </p:sp>
      <p:sp>
        <p:nvSpPr>
          <p:cNvPr id="4" name="TextBox 3"/>
          <p:cNvSpPr txBox="1"/>
          <p:nvPr/>
        </p:nvSpPr>
        <p:spPr>
          <a:xfrm>
            <a:off x="411480" y="1080641"/>
            <a:ext cx="10561320" cy="289310"/>
          </a:xfrm>
          <a:prstGeom prst="rect">
            <a:avLst/>
          </a:prstGeom>
          <a:noFill/>
        </p:spPr>
        <p:txBody>
          <a:bodyPr wrap="square" lIns="36576" tIns="36576" rIns="36576" bIns="36576" anchor="ctr">
            <a:spAutoFit/>
          </a:bodyPr>
          <a:lstStyle/>
          <a:p>
            <a:pPr algn="l">
              <a:lnSpc>
                <a:spcPct val="100000"/>
              </a:lnSpc>
              <a:defRPr sz="1200" b="0">
                <a:solidFill>
                  <a:srgbClr val="64748B"/>
                </a:solidFill>
                <a:latin typeface="Inter"/>
              </a:defRPr>
            </a:pPr>
            <a:r>
              <a:rPr sz="1400"/>
              <a:t>Frozen test set · mean across five paired seeds; error bands show sample SD</a:t>
            </a:r>
          </a:p>
        </p:txBody>
      </p:sp>
      <p:cxnSp>
        <p:nvCxnSpPr>
          <p:cNvPr id="5" name="Connector 4"/>
          <p:cNvCxnSpPr/>
          <p:nvPr/>
        </p:nvCxnSpPr>
        <p:spPr>
          <a:xfrm>
            <a:off x="411480" y="1435608"/>
            <a:ext cx="11365992" cy="0"/>
          </a:xfrm>
          <a:prstGeom prst="line">
            <a:avLst/>
          </a:prstGeom>
          <a:ln w="12700">
            <a:solidFill>
              <a:srgbClr val="E2E8F0"/>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11480" y="6515523"/>
            <a:ext cx="6126480" cy="227755"/>
          </a:xfrm>
          <a:prstGeom prst="rect">
            <a:avLst/>
          </a:prstGeom>
          <a:noFill/>
        </p:spPr>
        <p:txBody>
          <a:bodyPr wrap="square" lIns="36576" tIns="36576" rIns="36576" bIns="36576" anchor="ctr">
            <a:spAutoFit/>
          </a:bodyPr>
          <a:lstStyle/>
          <a:p>
            <a:pPr algn="l">
              <a:lnSpc>
                <a:spcPct val="100000"/>
              </a:lnSpc>
              <a:defRPr sz="900" b="0">
                <a:solidFill>
                  <a:srgbClr val="64748B"/>
                </a:solidFill>
                <a:latin typeface="Inter"/>
              </a:defRPr>
            </a:pPr>
            <a:r>
              <a:rPr sz="1000"/>
              <a:t>EE136: Machine Learning for Wireless Communications</a:t>
            </a:r>
          </a:p>
        </p:txBody>
      </p:sp>
      <p:sp>
        <p:nvSpPr>
          <p:cNvPr id="7" name="TextBox 6"/>
          <p:cNvSpPr txBox="1"/>
          <p:nvPr/>
        </p:nvSpPr>
        <p:spPr>
          <a:xfrm>
            <a:off x="10222992" y="6515523"/>
            <a:ext cx="1554480" cy="227755"/>
          </a:xfrm>
          <a:prstGeom prst="rect">
            <a:avLst/>
          </a:prstGeom>
          <a:noFill/>
        </p:spPr>
        <p:txBody>
          <a:bodyPr wrap="square" lIns="36576" tIns="36576" rIns="36576" bIns="36576" anchor="ctr">
            <a:spAutoFit/>
          </a:bodyPr>
          <a:lstStyle/>
          <a:p>
            <a:pPr algn="r">
              <a:lnSpc>
                <a:spcPct val="100000"/>
              </a:lnSpc>
              <a:defRPr sz="900" b="0">
                <a:solidFill>
                  <a:srgbClr val="64748B"/>
                </a:solidFill>
                <a:latin typeface="Inter"/>
              </a:defRPr>
            </a:pPr>
            <a:r>
              <a:rPr sz="1000"/>
              <a:t>Slide 9 of 12</a:t>
            </a:r>
          </a:p>
        </p:txBody>
      </p:sp>
      <p:sp>
        <p:nvSpPr>
          <p:cNvPr id="8" name="TextBox 7"/>
          <p:cNvSpPr txBox="1"/>
          <p:nvPr/>
        </p:nvSpPr>
        <p:spPr>
          <a:xfrm>
            <a:off x="475488" y="1589806"/>
            <a:ext cx="2194560" cy="258532"/>
          </a:xfrm>
          <a:prstGeom prst="rect">
            <a:avLst/>
          </a:prstGeom>
          <a:noFill/>
        </p:spPr>
        <p:txBody>
          <a:bodyPr wrap="square" lIns="36576" tIns="36576" rIns="36576" bIns="36576" anchor="ctr">
            <a:spAutoFit/>
          </a:bodyPr>
          <a:lstStyle/>
          <a:p>
            <a:pPr algn="l">
              <a:lnSpc>
                <a:spcPct val="100000"/>
              </a:lnSpc>
              <a:defRPr sz="1000" b="1">
                <a:solidFill>
                  <a:srgbClr val="64748B"/>
                </a:solidFill>
                <a:latin typeface="Inter"/>
              </a:defRPr>
            </a:pPr>
            <a:r>
              <a:rPr sz="1200"/>
              <a:t>PRIMARY METRICS</a:t>
            </a:r>
          </a:p>
        </p:txBody>
      </p:sp>
      <p:sp>
        <p:nvSpPr>
          <p:cNvPr id="9" name="TextBox 8"/>
          <p:cNvSpPr txBox="1"/>
          <p:nvPr/>
        </p:nvSpPr>
        <p:spPr>
          <a:xfrm>
            <a:off x="3163824" y="1589806"/>
            <a:ext cx="749808" cy="258532"/>
          </a:xfrm>
          <a:prstGeom prst="rect">
            <a:avLst/>
          </a:prstGeom>
          <a:noFill/>
        </p:spPr>
        <p:txBody>
          <a:bodyPr wrap="square" lIns="36576" tIns="36576" rIns="36576" bIns="36576" anchor="ctr">
            <a:spAutoFit/>
          </a:bodyPr>
          <a:lstStyle/>
          <a:p>
            <a:pPr algn="l">
              <a:lnSpc>
                <a:spcPct val="100000"/>
              </a:lnSpc>
              <a:defRPr sz="1000" b="1">
                <a:solidFill>
                  <a:srgbClr val="334155"/>
                </a:solidFill>
                <a:latin typeface="Inter"/>
              </a:defRPr>
            </a:pPr>
            <a:r>
              <a:rPr sz="1200"/>
              <a:t>baseline</a:t>
            </a:r>
          </a:p>
        </p:txBody>
      </p:sp>
      <p:sp>
        <p:nvSpPr>
          <p:cNvPr id="10" name="TextBox 9"/>
          <p:cNvSpPr txBox="1"/>
          <p:nvPr/>
        </p:nvSpPr>
        <p:spPr>
          <a:xfrm>
            <a:off x="4087368" y="1589806"/>
            <a:ext cx="914400" cy="258532"/>
          </a:xfrm>
          <a:prstGeom prst="rect">
            <a:avLst/>
          </a:prstGeom>
          <a:noFill/>
        </p:spPr>
        <p:txBody>
          <a:bodyPr wrap="square" lIns="36576" tIns="36576" rIns="36576" bIns="36576" anchor="ctr">
            <a:spAutoFit/>
          </a:bodyPr>
          <a:lstStyle/>
          <a:p>
            <a:pPr algn="l">
              <a:lnSpc>
                <a:spcPct val="100000"/>
              </a:lnSpc>
              <a:defRPr sz="1000" b="1">
                <a:solidFill>
                  <a:srgbClr val="0284C7"/>
                </a:solidFill>
                <a:latin typeface="Inter"/>
              </a:defRPr>
            </a:pPr>
            <a:r>
              <a:rPr sz="1200"/>
              <a:t>phase-only</a:t>
            </a:r>
          </a:p>
        </p:txBody>
      </p:sp>
      <p:sp>
        <p:nvSpPr>
          <p:cNvPr id="11" name="TextBox 10"/>
          <p:cNvSpPr txBox="1"/>
          <p:nvPr/>
        </p:nvSpPr>
        <p:spPr>
          <a:xfrm>
            <a:off x="475488" y="1932482"/>
            <a:ext cx="1828800" cy="304699"/>
          </a:xfrm>
          <a:prstGeom prst="rect">
            <a:avLst/>
          </a:prstGeom>
          <a:noFill/>
        </p:spPr>
        <p:txBody>
          <a:bodyPr wrap="square" lIns="36576" tIns="36576" rIns="36576" bIns="36576" anchor="ctr">
            <a:spAutoFit/>
          </a:bodyPr>
          <a:lstStyle/>
          <a:p>
            <a:pPr algn="l">
              <a:lnSpc>
                <a:spcPct val="100000"/>
              </a:lnSpc>
              <a:defRPr sz="1300" b="1">
                <a:solidFill>
                  <a:srgbClr val="0F172A"/>
                </a:solidFill>
                <a:latin typeface="Inter"/>
              </a:defRPr>
            </a:pPr>
            <a:r>
              <a:rPr sz="1500"/>
              <a:t>Global accuracy</a:t>
            </a:r>
          </a:p>
        </p:txBody>
      </p:sp>
      <p:sp>
        <p:nvSpPr>
          <p:cNvPr id="12" name="Rectangle 11"/>
          <p:cNvSpPr/>
          <p:nvPr/>
        </p:nvSpPr>
        <p:spPr>
          <a:xfrm>
            <a:off x="2267712" y="1965960"/>
            <a:ext cx="2651760" cy="265176"/>
          </a:xfrm>
          <a:prstGeom prst="rect">
            <a:avLst/>
          </a:prstGeom>
          <a:solidFill>
            <a:srgbClr val="F1F5F9"/>
          </a:solidFill>
          <a:ln w="12700">
            <a:solidFill>
              <a:srgbClr val="F1F5F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2267712" y="1965960"/>
            <a:ext cx="2354762" cy="265176"/>
          </a:xfrm>
          <a:prstGeom prst="rect">
            <a:avLst/>
          </a:prstGeom>
          <a:solidFill>
            <a:srgbClr val="334155"/>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2331720" y="1960138"/>
            <a:ext cx="749808" cy="258532"/>
          </a:xfrm>
          <a:prstGeom prst="rect">
            <a:avLst/>
          </a:prstGeom>
          <a:noFill/>
        </p:spPr>
        <p:txBody>
          <a:bodyPr wrap="square" lIns="36576" tIns="36576" rIns="36576" bIns="36576" anchor="ctr">
            <a:spAutoFit/>
          </a:bodyPr>
          <a:lstStyle/>
          <a:p>
            <a:pPr algn="l">
              <a:lnSpc>
                <a:spcPct val="100000"/>
              </a:lnSpc>
              <a:defRPr sz="1000" b="1">
                <a:solidFill>
                  <a:srgbClr val="FFFFFF"/>
                </a:solidFill>
                <a:latin typeface="Inter"/>
              </a:defRPr>
            </a:pPr>
            <a:r>
              <a:rPr sz="1200"/>
              <a:t>66.60%</a:t>
            </a:r>
          </a:p>
        </p:txBody>
      </p:sp>
      <p:sp>
        <p:nvSpPr>
          <p:cNvPr id="15" name="Rectangle 14"/>
          <p:cNvSpPr/>
          <p:nvPr/>
        </p:nvSpPr>
        <p:spPr>
          <a:xfrm>
            <a:off x="2267712" y="2359152"/>
            <a:ext cx="2651760" cy="265176"/>
          </a:xfrm>
          <a:prstGeom prst="rect">
            <a:avLst/>
          </a:prstGeom>
          <a:solidFill>
            <a:srgbClr val="F1F5F9"/>
          </a:solidFill>
          <a:ln w="12700">
            <a:solidFill>
              <a:srgbClr val="F1F5F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2267712" y="2359152"/>
            <a:ext cx="2459419" cy="265176"/>
          </a:xfrm>
          <a:prstGeom prst="rect">
            <a:avLst/>
          </a:prstGeom>
          <a:solidFill>
            <a:srgbClr val="0284C7"/>
          </a:solidFill>
          <a:ln w="1270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2331720" y="2353330"/>
            <a:ext cx="749808" cy="258532"/>
          </a:xfrm>
          <a:prstGeom prst="rect">
            <a:avLst/>
          </a:prstGeom>
          <a:noFill/>
        </p:spPr>
        <p:txBody>
          <a:bodyPr wrap="square" lIns="36576" tIns="36576" rIns="36576" bIns="36576" anchor="ctr">
            <a:spAutoFit/>
          </a:bodyPr>
          <a:lstStyle/>
          <a:p>
            <a:pPr algn="l">
              <a:lnSpc>
                <a:spcPct val="100000"/>
              </a:lnSpc>
              <a:defRPr sz="1000" b="1">
                <a:solidFill>
                  <a:srgbClr val="FFFFFF"/>
                </a:solidFill>
                <a:latin typeface="Inter"/>
              </a:defRPr>
            </a:pPr>
            <a:r>
              <a:rPr sz="1200"/>
              <a:t>69.56%</a:t>
            </a:r>
          </a:p>
        </p:txBody>
      </p:sp>
      <p:sp>
        <p:nvSpPr>
          <p:cNvPr id="18" name="Rounded Rectangle 17"/>
          <p:cNvSpPr/>
          <p:nvPr/>
        </p:nvSpPr>
        <p:spPr>
          <a:xfrm>
            <a:off x="5047488" y="2075688"/>
            <a:ext cx="914400" cy="466344"/>
          </a:xfrm>
          <a:prstGeom prst="roundRect">
            <a:avLst/>
          </a:prstGeom>
          <a:solidFill>
            <a:srgbClr val="ECFDF5"/>
          </a:solidFill>
          <a:ln w="12700">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5047488" y="2171899"/>
            <a:ext cx="914400" cy="273921"/>
          </a:xfrm>
          <a:prstGeom prst="rect">
            <a:avLst/>
          </a:prstGeom>
          <a:noFill/>
        </p:spPr>
        <p:txBody>
          <a:bodyPr wrap="square" lIns="36576" tIns="36576" rIns="36576" bIns="36576" anchor="ctr">
            <a:spAutoFit/>
          </a:bodyPr>
          <a:lstStyle/>
          <a:p>
            <a:pPr algn="ctr">
              <a:lnSpc>
                <a:spcPct val="100000"/>
              </a:lnSpc>
              <a:defRPr sz="1100" b="1">
                <a:solidFill>
                  <a:srgbClr val="059669"/>
                </a:solidFill>
                <a:latin typeface="Inter"/>
              </a:defRPr>
            </a:pPr>
            <a:r>
              <a:rPr sz="1300"/>
              <a:t>+2.96 pp</a:t>
            </a:r>
          </a:p>
        </p:txBody>
      </p:sp>
      <p:sp>
        <p:nvSpPr>
          <p:cNvPr id="20" name="TextBox 19"/>
          <p:cNvSpPr txBox="1"/>
          <p:nvPr/>
        </p:nvSpPr>
        <p:spPr>
          <a:xfrm>
            <a:off x="475488" y="3057194"/>
            <a:ext cx="1828800" cy="304699"/>
          </a:xfrm>
          <a:prstGeom prst="rect">
            <a:avLst/>
          </a:prstGeom>
          <a:noFill/>
        </p:spPr>
        <p:txBody>
          <a:bodyPr wrap="square" lIns="36576" tIns="36576" rIns="36576" bIns="36576" anchor="ctr">
            <a:spAutoFit/>
          </a:bodyPr>
          <a:lstStyle/>
          <a:p>
            <a:pPr algn="l">
              <a:lnSpc>
                <a:spcPct val="100000"/>
              </a:lnSpc>
              <a:defRPr sz="1300" b="1">
                <a:solidFill>
                  <a:srgbClr val="0F172A"/>
                </a:solidFill>
                <a:latin typeface="Inter"/>
              </a:defRPr>
            </a:pPr>
            <a:r>
              <a:rPr sz="1500"/>
              <a:t>Global Macro-F1</a:t>
            </a:r>
          </a:p>
        </p:txBody>
      </p:sp>
      <p:sp>
        <p:nvSpPr>
          <p:cNvPr id="21" name="Rectangle 20"/>
          <p:cNvSpPr/>
          <p:nvPr/>
        </p:nvSpPr>
        <p:spPr>
          <a:xfrm>
            <a:off x="2267712" y="3090672"/>
            <a:ext cx="2651760" cy="265176"/>
          </a:xfrm>
          <a:prstGeom prst="rect">
            <a:avLst/>
          </a:prstGeom>
          <a:solidFill>
            <a:srgbClr val="F1F5F9"/>
          </a:solidFill>
          <a:ln w="12700">
            <a:solidFill>
              <a:srgbClr val="F1F5F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2267712" y="3090672"/>
            <a:ext cx="2324709" cy="265176"/>
          </a:xfrm>
          <a:prstGeom prst="rect">
            <a:avLst/>
          </a:prstGeom>
          <a:solidFill>
            <a:srgbClr val="334155"/>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2331720" y="3084850"/>
            <a:ext cx="749808" cy="258532"/>
          </a:xfrm>
          <a:prstGeom prst="rect">
            <a:avLst/>
          </a:prstGeom>
          <a:noFill/>
        </p:spPr>
        <p:txBody>
          <a:bodyPr wrap="square" lIns="36576" tIns="36576" rIns="36576" bIns="36576" anchor="ctr">
            <a:spAutoFit/>
          </a:bodyPr>
          <a:lstStyle/>
          <a:p>
            <a:pPr algn="l">
              <a:lnSpc>
                <a:spcPct val="100000"/>
              </a:lnSpc>
              <a:defRPr sz="1000" b="1">
                <a:solidFill>
                  <a:srgbClr val="FFFFFF"/>
                </a:solidFill>
                <a:latin typeface="Inter"/>
              </a:defRPr>
            </a:pPr>
            <a:r>
              <a:rPr sz="1200"/>
              <a:t>65.75%</a:t>
            </a:r>
          </a:p>
        </p:txBody>
      </p:sp>
      <p:sp>
        <p:nvSpPr>
          <p:cNvPr id="24" name="Rectangle 23"/>
          <p:cNvSpPr/>
          <p:nvPr/>
        </p:nvSpPr>
        <p:spPr>
          <a:xfrm>
            <a:off x="2267712" y="3483864"/>
            <a:ext cx="2651760" cy="265176"/>
          </a:xfrm>
          <a:prstGeom prst="rect">
            <a:avLst/>
          </a:prstGeom>
          <a:solidFill>
            <a:srgbClr val="F1F5F9"/>
          </a:solidFill>
          <a:ln w="12700">
            <a:solidFill>
              <a:srgbClr val="F1F5F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2267712" y="3483864"/>
            <a:ext cx="2438204" cy="265176"/>
          </a:xfrm>
          <a:prstGeom prst="rect">
            <a:avLst/>
          </a:prstGeom>
          <a:solidFill>
            <a:srgbClr val="0284C7"/>
          </a:solidFill>
          <a:ln w="1270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2331720" y="3478042"/>
            <a:ext cx="749808" cy="258532"/>
          </a:xfrm>
          <a:prstGeom prst="rect">
            <a:avLst/>
          </a:prstGeom>
          <a:noFill/>
        </p:spPr>
        <p:txBody>
          <a:bodyPr wrap="square" lIns="36576" tIns="36576" rIns="36576" bIns="36576" anchor="ctr">
            <a:spAutoFit/>
          </a:bodyPr>
          <a:lstStyle/>
          <a:p>
            <a:pPr algn="l">
              <a:lnSpc>
                <a:spcPct val="100000"/>
              </a:lnSpc>
              <a:defRPr sz="1000" b="1">
                <a:solidFill>
                  <a:srgbClr val="FFFFFF"/>
                </a:solidFill>
                <a:latin typeface="Inter"/>
              </a:defRPr>
            </a:pPr>
            <a:r>
              <a:rPr sz="1200"/>
              <a:t>68.96%</a:t>
            </a:r>
          </a:p>
        </p:txBody>
      </p:sp>
      <p:sp>
        <p:nvSpPr>
          <p:cNvPr id="27" name="Rounded Rectangle 26"/>
          <p:cNvSpPr/>
          <p:nvPr/>
        </p:nvSpPr>
        <p:spPr>
          <a:xfrm>
            <a:off x="5047488" y="3200400"/>
            <a:ext cx="914400" cy="466344"/>
          </a:xfrm>
          <a:prstGeom prst="roundRect">
            <a:avLst/>
          </a:prstGeom>
          <a:solidFill>
            <a:srgbClr val="ECFDF5"/>
          </a:solidFill>
          <a:ln w="12700">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5047488" y="3296611"/>
            <a:ext cx="914400" cy="273921"/>
          </a:xfrm>
          <a:prstGeom prst="rect">
            <a:avLst/>
          </a:prstGeom>
          <a:noFill/>
        </p:spPr>
        <p:txBody>
          <a:bodyPr wrap="square" lIns="36576" tIns="36576" rIns="36576" bIns="36576" anchor="ctr">
            <a:spAutoFit/>
          </a:bodyPr>
          <a:lstStyle/>
          <a:p>
            <a:pPr algn="ctr">
              <a:lnSpc>
                <a:spcPct val="100000"/>
              </a:lnSpc>
              <a:defRPr sz="1100" b="1">
                <a:solidFill>
                  <a:srgbClr val="059669"/>
                </a:solidFill>
                <a:latin typeface="Inter"/>
              </a:defRPr>
            </a:pPr>
            <a:r>
              <a:rPr sz="1300"/>
              <a:t>+3.20 pp</a:t>
            </a:r>
          </a:p>
        </p:txBody>
      </p:sp>
      <p:sp>
        <p:nvSpPr>
          <p:cNvPr id="29" name="TextBox 28"/>
          <p:cNvSpPr txBox="1"/>
          <p:nvPr/>
        </p:nvSpPr>
        <p:spPr>
          <a:xfrm>
            <a:off x="475488" y="4181906"/>
            <a:ext cx="1828800" cy="304699"/>
          </a:xfrm>
          <a:prstGeom prst="rect">
            <a:avLst/>
          </a:prstGeom>
          <a:noFill/>
        </p:spPr>
        <p:txBody>
          <a:bodyPr wrap="square" lIns="36576" tIns="36576" rIns="36576" bIns="36576" anchor="ctr">
            <a:spAutoFit/>
          </a:bodyPr>
          <a:lstStyle/>
          <a:p>
            <a:pPr algn="l">
              <a:lnSpc>
                <a:spcPct val="100000"/>
              </a:lnSpc>
              <a:defRPr sz="1300" b="1">
                <a:solidFill>
                  <a:srgbClr val="0F172A"/>
                </a:solidFill>
                <a:latin typeface="Inter"/>
              </a:defRPr>
            </a:pPr>
            <a:r>
              <a:rPr sz="1500"/>
              <a:t>Low-SNR accuracy</a:t>
            </a:r>
          </a:p>
        </p:txBody>
      </p:sp>
      <p:sp>
        <p:nvSpPr>
          <p:cNvPr id="30" name="Rectangle 29"/>
          <p:cNvSpPr/>
          <p:nvPr/>
        </p:nvSpPr>
        <p:spPr>
          <a:xfrm>
            <a:off x="2267712" y="4215384"/>
            <a:ext cx="2651760" cy="265176"/>
          </a:xfrm>
          <a:prstGeom prst="rect">
            <a:avLst/>
          </a:prstGeom>
          <a:solidFill>
            <a:srgbClr val="F1F5F9"/>
          </a:solidFill>
          <a:ln w="12700">
            <a:solidFill>
              <a:srgbClr val="F1F5F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ectangle 30"/>
          <p:cNvSpPr/>
          <p:nvPr/>
        </p:nvSpPr>
        <p:spPr>
          <a:xfrm>
            <a:off x="2267712" y="4215384"/>
            <a:ext cx="1641969" cy="265176"/>
          </a:xfrm>
          <a:prstGeom prst="rect">
            <a:avLst/>
          </a:prstGeom>
          <a:solidFill>
            <a:srgbClr val="334155"/>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2331720" y="4209562"/>
            <a:ext cx="749808" cy="258532"/>
          </a:xfrm>
          <a:prstGeom prst="rect">
            <a:avLst/>
          </a:prstGeom>
          <a:noFill/>
        </p:spPr>
        <p:txBody>
          <a:bodyPr wrap="square" lIns="36576" tIns="36576" rIns="36576" bIns="36576" anchor="ctr">
            <a:spAutoFit/>
          </a:bodyPr>
          <a:lstStyle/>
          <a:p>
            <a:pPr algn="l">
              <a:lnSpc>
                <a:spcPct val="100000"/>
              </a:lnSpc>
              <a:defRPr sz="1000" b="1">
                <a:solidFill>
                  <a:srgbClr val="FFFFFF"/>
                </a:solidFill>
                <a:latin typeface="Inter"/>
              </a:defRPr>
            </a:pPr>
            <a:r>
              <a:rPr sz="1200"/>
              <a:t>46.44%</a:t>
            </a:r>
          </a:p>
        </p:txBody>
      </p:sp>
      <p:sp>
        <p:nvSpPr>
          <p:cNvPr id="33" name="Rectangle 32"/>
          <p:cNvSpPr/>
          <p:nvPr/>
        </p:nvSpPr>
        <p:spPr>
          <a:xfrm>
            <a:off x="2267712" y="4608576"/>
            <a:ext cx="2651760" cy="265176"/>
          </a:xfrm>
          <a:prstGeom prst="rect">
            <a:avLst/>
          </a:prstGeom>
          <a:solidFill>
            <a:srgbClr val="F1F5F9"/>
          </a:solidFill>
          <a:ln w="12700">
            <a:solidFill>
              <a:srgbClr val="F1F5F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ectangle 33"/>
          <p:cNvSpPr/>
          <p:nvPr/>
        </p:nvSpPr>
        <p:spPr>
          <a:xfrm>
            <a:off x="2267712" y="4608576"/>
            <a:ext cx="1808853" cy="265176"/>
          </a:xfrm>
          <a:prstGeom prst="rect">
            <a:avLst/>
          </a:prstGeom>
          <a:solidFill>
            <a:srgbClr val="0284C7"/>
          </a:solidFill>
          <a:ln w="1270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2331720" y="4602754"/>
            <a:ext cx="749808" cy="258532"/>
          </a:xfrm>
          <a:prstGeom prst="rect">
            <a:avLst/>
          </a:prstGeom>
          <a:noFill/>
        </p:spPr>
        <p:txBody>
          <a:bodyPr wrap="square" lIns="36576" tIns="36576" rIns="36576" bIns="36576" anchor="ctr">
            <a:spAutoFit/>
          </a:bodyPr>
          <a:lstStyle/>
          <a:p>
            <a:pPr algn="l">
              <a:lnSpc>
                <a:spcPct val="100000"/>
              </a:lnSpc>
              <a:defRPr sz="1000" b="1">
                <a:solidFill>
                  <a:srgbClr val="FFFFFF"/>
                </a:solidFill>
                <a:latin typeface="Inter"/>
              </a:defRPr>
            </a:pPr>
            <a:r>
              <a:rPr sz="1200"/>
              <a:t>51.16%</a:t>
            </a:r>
          </a:p>
        </p:txBody>
      </p:sp>
      <p:sp>
        <p:nvSpPr>
          <p:cNvPr id="36" name="Rounded Rectangle 35"/>
          <p:cNvSpPr/>
          <p:nvPr/>
        </p:nvSpPr>
        <p:spPr>
          <a:xfrm>
            <a:off x="5047488" y="4325112"/>
            <a:ext cx="914400" cy="466344"/>
          </a:xfrm>
          <a:prstGeom prst="roundRect">
            <a:avLst/>
          </a:prstGeom>
          <a:solidFill>
            <a:srgbClr val="ECFDF5"/>
          </a:solidFill>
          <a:ln w="12700">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5047488" y="4421323"/>
            <a:ext cx="914400" cy="273921"/>
          </a:xfrm>
          <a:prstGeom prst="rect">
            <a:avLst/>
          </a:prstGeom>
          <a:noFill/>
        </p:spPr>
        <p:txBody>
          <a:bodyPr wrap="square" lIns="36576" tIns="36576" rIns="36576" bIns="36576" anchor="ctr">
            <a:spAutoFit/>
          </a:bodyPr>
          <a:lstStyle/>
          <a:p>
            <a:pPr algn="ctr">
              <a:lnSpc>
                <a:spcPct val="100000"/>
              </a:lnSpc>
              <a:defRPr sz="1100" b="1">
                <a:solidFill>
                  <a:srgbClr val="059669"/>
                </a:solidFill>
                <a:latin typeface="Inter"/>
              </a:defRPr>
            </a:pPr>
            <a:r>
              <a:rPr sz="1300"/>
              <a:t>+4.72 pp</a:t>
            </a:r>
          </a:p>
        </p:txBody>
      </p:sp>
      <p:pic>
        <p:nvPicPr>
          <p:cNvPr id="38" name="Picture 37" descr="accuracy_vs_snr.png"/>
          <p:cNvPicPr>
            <a:picLocks noChangeAspect="1"/>
          </p:cNvPicPr>
          <p:nvPr/>
        </p:nvPicPr>
        <p:blipFill>
          <a:blip r:embed="rId3"/>
          <a:stretch>
            <a:fillRect/>
          </a:stretch>
        </p:blipFill>
        <p:spPr>
          <a:xfrm>
            <a:off x="6053328" y="1508760"/>
            <a:ext cx="5687568" cy="3584448"/>
          </a:xfrm>
          <a:prstGeom prst="rect">
            <a:avLst/>
          </a:prstGeom>
        </p:spPr>
      </p:pic>
      <p:sp>
        <p:nvSpPr>
          <p:cNvPr id="39" name="Rounded Rectangle 38"/>
          <p:cNvSpPr/>
          <p:nvPr/>
        </p:nvSpPr>
        <p:spPr>
          <a:xfrm>
            <a:off x="6144768" y="5193792"/>
            <a:ext cx="1609344" cy="621792"/>
          </a:xfrm>
          <a:prstGeom prst="roundRect">
            <a:avLst/>
          </a:prstGeom>
          <a:solidFill>
            <a:srgbClr val="F0F9FF"/>
          </a:solidFill>
          <a:ln w="12700">
            <a:solidFill>
              <a:srgbClr val="F0F9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6236207" y="5274838"/>
            <a:ext cx="548640" cy="258532"/>
          </a:xfrm>
          <a:prstGeom prst="rect">
            <a:avLst/>
          </a:prstGeom>
          <a:noFill/>
        </p:spPr>
        <p:txBody>
          <a:bodyPr wrap="square" lIns="36576" tIns="36576" rIns="36576" bIns="36576" anchor="ctr">
            <a:spAutoFit/>
          </a:bodyPr>
          <a:lstStyle/>
          <a:p>
            <a:pPr algn="l">
              <a:lnSpc>
                <a:spcPct val="100000"/>
              </a:lnSpc>
              <a:defRPr sz="950" b="1">
                <a:solidFill>
                  <a:srgbClr val="64748B"/>
                </a:solidFill>
                <a:latin typeface="Inter"/>
              </a:defRPr>
            </a:pPr>
            <a:r>
              <a:rPr sz="1200"/>
              <a:t>−8 dB</a:t>
            </a:r>
          </a:p>
        </p:txBody>
      </p:sp>
      <p:sp>
        <p:nvSpPr>
          <p:cNvPr id="41" name="TextBox 40"/>
          <p:cNvSpPr txBox="1"/>
          <p:nvPr/>
        </p:nvSpPr>
        <p:spPr>
          <a:xfrm>
            <a:off x="6766559" y="5254877"/>
            <a:ext cx="877824" cy="289310"/>
          </a:xfrm>
          <a:prstGeom prst="rect">
            <a:avLst/>
          </a:prstGeom>
          <a:noFill/>
        </p:spPr>
        <p:txBody>
          <a:bodyPr wrap="square" lIns="36576" tIns="36576" rIns="36576" bIns="36576" anchor="ctr">
            <a:spAutoFit/>
          </a:bodyPr>
          <a:lstStyle/>
          <a:p>
            <a:pPr algn="r">
              <a:lnSpc>
                <a:spcPct val="100000"/>
              </a:lnSpc>
              <a:defRPr sz="1150" b="1">
                <a:solidFill>
                  <a:srgbClr val="0284C7"/>
                </a:solidFill>
                <a:latin typeface="Inter"/>
              </a:defRPr>
            </a:pPr>
            <a:r>
              <a:rPr sz="1400"/>
              <a:t>+5.40 pp</a:t>
            </a:r>
          </a:p>
        </p:txBody>
      </p:sp>
      <p:sp>
        <p:nvSpPr>
          <p:cNvPr id="42" name="Rounded Rectangle 41"/>
          <p:cNvSpPr/>
          <p:nvPr/>
        </p:nvSpPr>
        <p:spPr>
          <a:xfrm>
            <a:off x="7955279" y="5193792"/>
            <a:ext cx="1609344" cy="621792"/>
          </a:xfrm>
          <a:prstGeom prst="roundRect">
            <a:avLst/>
          </a:prstGeom>
          <a:solidFill>
            <a:srgbClr val="F0F9FF"/>
          </a:solidFill>
          <a:ln w="12700">
            <a:solidFill>
              <a:srgbClr val="F0F9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8046719" y="5274838"/>
            <a:ext cx="548640" cy="258532"/>
          </a:xfrm>
          <a:prstGeom prst="rect">
            <a:avLst/>
          </a:prstGeom>
          <a:noFill/>
        </p:spPr>
        <p:txBody>
          <a:bodyPr wrap="square" lIns="36576" tIns="36576" rIns="36576" bIns="36576" anchor="ctr">
            <a:spAutoFit/>
          </a:bodyPr>
          <a:lstStyle/>
          <a:p>
            <a:pPr algn="l">
              <a:lnSpc>
                <a:spcPct val="100000"/>
              </a:lnSpc>
              <a:defRPr sz="950" b="1">
                <a:solidFill>
                  <a:srgbClr val="64748B"/>
                </a:solidFill>
                <a:latin typeface="Inter"/>
              </a:defRPr>
            </a:pPr>
            <a:r>
              <a:rPr sz="1200"/>
              <a:t>−4 dB</a:t>
            </a:r>
          </a:p>
        </p:txBody>
      </p:sp>
      <p:sp>
        <p:nvSpPr>
          <p:cNvPr id="44" name="TextBox 43"/>
          <p:cNvSpPr txBox="1"/>
          <p:nvPr/>
        </p:nvSpPr>
        <p:spPr>
          <a:xfrm>
            <a:off x="8577072" y="5254877"/>
            <a:ext cx="877824" cy="289310"/>
          </a:xfrm>
          <a:prstGeom prst="rect">
            <a:avLst/>
          </a:prstGeom>
          <a:noFill/>
        </p:spPr>
        <p:txBody>
          <a:bodyPr wrap="square" lIns="36576" tIns="36576" rIns="36576" bIns="36576" anchor="ctr">
            <a:spAutoFit/>
          </a:bodyPr>
          <a:lstStyle/>
          <a:p>
            <a:pPr algn="r">
              <a:lnSpc>
                <a:spcPct val="100000"/>
              </a:lnSpc>
              <a:defRPr sz="1150" b="1">
                <a:solidFill>
                  <a:srgbClr val="0284C7"/>
                </a:solidFill>
                <a:latin typeface="Inter"/>
              </a:defRPr>
            </a:pPr>
            <a:r>
              <a:rPr sz="1400"/>
              <a:t>+5.10 pp</a:t>
            </a:r>
          </a:p>
        </p:txBody>
      </p:sp>
      <p:sp>
        <p:nvSpPr>
          <p:cNvPr id="45" name="Rounded Rectangle 44"/>
          <p:cNvSpPr/>
          <p:nvPr/>
        </p:nvSpPr>
        <p:spPr>
          <a:xfrm>
            <a:off x="9765792" y="5193792"/>
            <a:ext cx="1609344" cy="621792"/>
          </a:xfrm>
          <a:prstGeom prst="roundRect">
            <a:avLst/>
          </a:prstGeom>
          <a:solidFill>
            <a:srgbClr val="F0F9FF"/>
          </a:solidFill>
          <a:ln w="12700">
            <a:solidFill>
              <a:srgbClr val="F0F9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9857232" y="5274838"/>
            <a:ext cx="548640" cy="258532"/>
          </a:xfrm>
          <a:prstGeom prst="rect">
            <a:avLst/>
          </a:prstGeom>
          <a:noFill/>
        </p:spPr>
        <p:txBody>
          <a:bodyPr wrap="square" lIns="36576" tIns="36576" rIns="36576" bIns="36576" anchor="ctr">
            <a:spAutoFit/>
          </a:bodyPr>
          <a:lstStyle/>
          <a:p>
            <a:pPr algn="l">
              <a:lnSpc>
                <a:spcPct val="100000"/>
              </a:lnSpc>
              <a:defRPr sz="950" b="1">
                <a:solidFill>
                  <a:srgbClr val="64748B"/>
                </a:solidFill>
                <a:latin typeface="Inter"/>
              </a:defRPr>
            </a:pPr>
            <a:r>
              <a:rPr sz="1200"/>
              <a:t>+4 dB</a:t>
            </a:r>
          </a:p>
        </p:txBody>
      </p:sp>
      <p:sp>
        <p:nvSpPr>
          <p:cNvPr id="47" name="TextBox 46"/>
          <p:cNvSpPr txBox="1"/>
          <p:nvPr/>
        </p:nvSpPr>
        <p:spPr>
          <a:xfrm>
            <a:off x="10387584" y="5254877"/>
            <a:ext cx="877824" cy="289310"/>
          </a:xfrm>
          <a:prstGeom prst="rect">
            <a:avLst/>
          </a:prstGeom>
          <a:noFill/>
        </p:spPr>
        <p:txBody>
          <a:bodyPr wrap="square" lIns="36576" tIns="36576" rIns="36576" bIns="36576" anchor="ctr">
            <a:spAutoFit/>
          </a:bodyPr>
          <a:lstStyle/>
          <a:p>
            <a:pPr algn="r">
              <a:lnSpc>
                <a:spcPct val="100000"/>
              </a:lnSpc>
              <a:defRPr sz="1150" b="1">
                <a:solidFill>
                  <a:srgbClr val="0284C7"/>
                </a:solidFill>
                <a:latin typeface="Inter"/>
              </a:defRPr>
            </a:pPr>
            <a:r>
              <a:rPr sz="1400"/>
              <a:t>+2.25 pp</a:t>
            </a:r>
          </a:p>
        </p:txBody>
      </p:sp>
      <p:sp>
        <p:nvSpPr>
          <p:cNvPr id="48" name="TextBox 47"/>
          <p:cNvSpPr txBox="1"/>
          <p:nvPr/>
        </p:nvSpPr>
        <p:spPr>
          <a:xfrm>
            <a:off x="502920" y="5681522"/>
            <a:ext cx="5440680" cy="304699"/>
          </a:xfrm>
          <a:prstGeom prst="rect">
            <a:avLst/>
          </a:prstGeom>
          <a:noFill/>
        </p:spPr>
        <p:txBody>
          <a:bodyPr wrap="square" lIns="36576" tIns="36576" rIns="36576" bIns="36576" anchor="ctr">
            <a:spAutoFit/>
          </a:bodyPr>
          <a:lstStyle/>
          <a:p>
            <a:pPr algn="l">
              <a:lnSpc>
                <a:spcPct val="100000"/>
              </a:lnSpc>
              <a:defRPr sz="1250" b="1">
                <a:solidFill>
                  <a:srgbClr val="059669"/>
                </a:solidFill>
                <a:latin typeface="Inter"/>
              </a:defRPr>
            </a:pPr>
            <a:r>
              <a:rPr sz="1500"/>
              <a:t>Gain is strongest where checkpoint selection was optimized.</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11480" y="190774"/>
            <a:ext cx="3840480" cy="258532"/>
          </a:xfrm>
          <a:prstGeom prst="rect">
            <a:avLst/>
          </a:prstGeom>
          <a:noFill/>
        </p:spPr>
        <p:txBody>
          <a:bodyPr wrap="square" lIns="36576" tIns="36576" rIns="36576" bIns="36576" anchor="ctr">
            <a:spAutoFit/>
          </a:bodyPr>
          <a:lstStyle/>
          <a:p>
            <a:pPr algn="l">
              <a:lnSpc>
                <a:spcPct val="100000"/>
              </a:lnSpc>
              <a:defRPr sz="1000" b="1">
                <a:solidFill>
                  <a:srgbClr val="0284C7"/>
                </a:solidFill>
                <a:latin typeface="Inter"/>
              </a:defRPr>
            </a:pPr>
            <a:r>
              <a:rPr sz="1200"/>
              <a:t>06 · ANALYSIS</a:t>
            </a:r>
          </a:p>
        </p:txBody>
      </p:sp>
      <p:sp>
        <p:nvSpPr>
          <p:cNvPr id="3" name="TextBox 2"/>
          <p:cNvSpPr txBox="1"/>
          <p:nvPr/>
        </p:nvSpPr>
        <p:spPr>
          <a:xfrm>
            <a:off x="411480" y="438912"/>
            <a:ext cx="10744200" cy="640080"/>
          </a:xfrm>
          <a:prstGeom prst="rect">
            <a:avLst/>
          </a:prstGeom>
          <a:noFill/>
        </p:spPr>
        <p:txBody>
          <a:bodyPr wrap="square" lIns="36576" tIns="36576" rIns="36576" bIns="36576" anchor="ctr">
            <a:spAutoFit/>
          </a:bodyPr>
          <a:lstStyle/>
          <a:p>
            <a:pPr algn="l">
              <a:lnSpc>
                <a:spcPct val="100000"/>
              </a:lnSpc>
              <a:defRPr sz="3000" b="1">
                <a:solidFill>
                  <a:srgbClr val="0F172A"/>
                </a:solidFill>
                <a:latin typeface="Manrope"/>
              </a:defRPr>
            </a:pPr>
            <a:r>
              <a:t>Confusion improves — but not uniformly</a:t>
            </a:r>
          </a:p>
        </p:txBody>
      </p:sp>
      <p:sp>
        <p:nvSpPr>
          <p:cNvPr id="4" name="TextBox 3"/>
          <p:cNvSpPr txBox="1"/>
          <p:nvPr/>
        </p:nvSpPr>
        <p:spPr>
          <a:xfrm>
            <a:off x="411480" y="1080641"/>
            <a:ext cx="10561320" cy="289310"/>
          </a:xfrm>
          <a:prstGeom prst="rect">
            <a:avLst/>
          </a:prstGeom>
          <a:noFill/>
        </p:spPr>
        <p:txBody>
          <a:bodyPr wrap="square" lIns="36576" tIns="36576" rIns="36576" bIns="36576" anchor="ctr">
            <a:spAutoFit/>
          </a:bodyPr>
          <a:lstStyle/>
          <a:p>
            <a:pPr algn="l">
              <a:lnSpc>
                <a:spcPct val="100000"/>
              </a:lnSpc>
              <a:defRPr sz="1200" b="0">
                <a:solidFill>
                  <a:srgbClr val="64748B"/>
                </a:solidFill>
                <a:latin typeface="Inter"/>
              </a:defRPr>
            </a:pPr>
            <a:r>
              <a:rPr sz="1400"/>
              <a:t>Row-normalized confusion matrices for seed 42 at low and moderate SNR</a:t>
            </a:r>
          </a:p>
        </p:txBody>
      </p:sp>
      <p:cxnSp>
        <p:nvCxnSpPr>
          <p:cNvPr id="5" name="Connector 4"/>
          <p:cNvCxnSpPr/>
          <p:nvPr/>
        </p:nvCxnSpPr>
        <p:spPr>
          <a:xfrm>
            <a:off x="411480" y="1435608"/>
            <a:ext cx="11365992" cy="0"/>
          </a:xfrm>
          <a:prstGeom prst="line">
            <a:avLst/>
          </a:prstGeom>
          <a:ln w="12700">
            <a:solidFill>
              <a:srgbClr val="E2E8F0"/>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11480" y="6515523"/>
            <a:ext cx="6126480" cy="227755"/>
          </a:xfrm>
          <a:prstGeom prst="rect">
            <a:avLst/>
          </a:prstGeom>
          <a:noFill/>
        </p:spPr>
        <p:txBody>
          <a:bodyPr wrap="square" lIns="36576" tIns="36576" rIns="36576" bIns="36576" anchor="ctr">
            <a:spAutoFit/>
          </a:bodyPr>
          <a:lstStyle/>
          <a:p>
            <a:pPr algn="l">
              <a:lnSpc>
                <a:spcPct val="100000"/>
              </a:lnSpc>
              <a:defRPr sz="900" b="0">
                <a:solidFill>
                  <a:srgbClr val="64748B"/>
                </a:solidFill>
                <a:latin typeface="Inter"/>
              </a:defRPr>
            </a:pPr>
            <a:r>
              <a:rPr sz="1000"/>
              <a:t>EE136: Machine Learning for Wireless Communications</a:t>
            </a:r>
          </a:p>
        </p:txBody>
      </p:sp>
      <p:sp>
        <p:nvSpPr>
          <p:cNvPr id="7" name="TextBox 6"/>
          <p:cNvSpPr txBox="1"/>
          <p:nvPr/>
        </p:nvSpPr>
        <p:spPr>
          <a:xfrm>
            <a:off x="10222992" y="6515523"/>
            <a:ext cx="1554480" cy="227755"/>
          </a:xfrm>
          <a:prstGeom prst="rect">
            <a:avLst/>
          </a:prstGeom>
          <a:noFill/>
        </p:spPr>
        <p:txBody>
          <a:bodyPr wrap="square" lIns="36576" tIns="36576" rIns="36576" bIns="36576" anchor="ctr">
            <a:spAutoFit/>
          </a:bodyPr>
          <a:lstStyle/>
          <a:p>
            <a:pPr algn="r">
              <a:lnSpc>
                <a:spcPct val="100000"/>
              </a:lnSpc>
              <a:defRPr sz="900" b="0">
                <a:solidFill>
                  <a:srgbClr val="64748B"/>
                </a:solidFill>
                <a:latin typeface="Inter"/>
              </a:defRPr>
            </a:pPr>
            <a:r>
              <a:rPr sz="1000"/>
              <a:t>Slide 10 of 12</a:t>
            </a:r>
          </a:p>
        </p:txBody>
      </p:sp>
      <p:pic>
        <p:nvPicPr>
          <p:cNvPr id="8" name="Picture 7" descr="cm_seed42_-4dB.png"/>
          <p:cNvPicPr>
            <a:picLocks noChangeAspect="1"/>
          </p:cNvPicPr>
          <p:nvPr/>
        </p:nvPicPr>
        <p:blipFill>
          <a:blip r:embed="rId3"/>
          <a:stretch>
            <a:fillRect/>
          </a:stretch>
        </p:blipFill>
        <p:spPr>
          <a:xfrm>
            <a:off x="384048" y="1508760"/>
            <a:ext cx="5650992" cy="3401568"/>
          </a:xfrm>
          <a:prstGeom prst="rect">
            <a:avLst/>
          </a:prstGeom>
        </p:spPr>
      </p:pic>
      <p:pic>
        <p:nvPicPr>
          <p:cNvPr id="9" name="Picture 8" descr="cm_seed42_+4dB.png"/>
          <p:cNvPicPr>
            <a:picLocks noChangeAspect="1"/>
          </p:cNvPicPr>
          <p:nvPr/>
        </p:nvPicPr>
        <p:blipFill>
          <a:blip r:embed="rId4"/>
          <a:stretch>
            <a:fillRect/>
          </a:stretch>
        </p:blipFill>
        <p:spPr>
          <a:xfrm>
            <a:off x="6153912" y="1508760"/>
            <a:ext cx="5650992" cy="3401568"/>
          </a:xfrm>
          <a:prstGeom prst="rect">
            <a:avLst/>
          </a:prstGeom>
        </p:spPr>
      </p:pic>
      <p:sp>
        <p:nvSpPr>
          <p:cNvPr id="10" name="Rounded Rectangle 9"/>
          <p:cNvSpPr/>
          <p:nvPr/>
        </p:nvSpPr>
        <p:spPr>
          <a:xfrm>
            <a:off x="429768" y="5047488"/>
            <a:ext cx="3639312" cy="932688"/>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29768" y="5047488"/>
            <a:ext cx="73152" cy="932688"/>
          </a:xfrm>
          <a:prstGeom prst="rect">
            <a:avLst/>
          </a:prstGeom>
          <a:solidFill>
            <a:srgbClr val="0284C7"/>
          </a:solidFill>
          <a:ln w="1270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30936" y="5151394"/>
            <a:ext cx="3236976" cy="258532"/>
          </a:xfrm>
          <a:prstGeom prst="rect">
            <a:avLst/>
          </a:prstGeom>
          <a:noFill/>
        </p:spPr>
        <p:txBody>
          <a:bodyPr wrap="square" lIns="36576" tIns="36576" rIns="36576" bIns="36576" anchor="ctr">
            <a:spAutoFit/>
          </a:bodyPr>
          <a:lstStyle/>
          <a:p>
            <a:pPr algn="l">
              <a:lnSpc>
                <a:spcPct val="100000"/>
              </a:lnSpc>
              <a:defRPr sz="950" b="1">
                <a:solidFill>
                  <a:srgbClr val="0284C7"/>
                </a:solidFill>
                <a:latin typeface="Inter"/>
              </a:defRPr>
            </a:pPr>
            <a:r>
              <a:rPr sz="1200"/>
              <a:t>−4 dB: FSK RECOVERS</a:t>
            </a:r>
          </a:p>
        </p:txBody>
      </p:sp>
      <p:sp>
        <p:nvSpPr>
          <p:cNvPr id="13" name="TextBox 12"/>
          <p:cNvSpPr txBox="1"/>
          <p:nvPr/>
        </p:nvSpPr>
        <p:spPr>
          <a:xfrm>
            <a:off x="630936" y="5491171"/>
            <a:ext cx="3236976" cy="273921"/>
          </a:xfrm>
          <a:prstGeom prst="rect">
            <a:avLst/>
          </a:prstGeom>
          <a:noFill/>
        </p:spPr>
        <p:txBody>
          <a:bodyPr wrap="square" lIns="36576" tIns="36576" rIns="36576" bIns="36576" anchor="ctr">
            <a:spAutoFit/>
          </a:bodyPr>
          <a:lstStyle/>
          <a:p>
            <a:pPr algn="ctr">
              <a:lnSpc>
                <a:spcPct val="100000"/>
              </a:lnSpc>
              <a:defRPr sz="1050" b="1">
                <a:solidFill>
                  <a:srgbClr val="0F172A"/>
                </a:solidFill>
                <a:latin typeface="Inter"/>
              </a:defRPr>
            </a:pPr>
            <a:r>
              <a:rPr sz="1300"/>
              <a:t>CPFSK 46→70 · GFSK 56→76</a:t>
            </a:r>
          </a:p>
        </p:txBody>
      </p:sp>
      <p:sp>
        <p:nvSpPr>
          <p:cNvPr id="14" name="Rounded Rectangle 13"/>
          <p:cNvSpPr/>
          <p:nvPr/>
        </p:nvSpPr>
        <p:spPr>
          <a:xfrm>
            <a:off x="4270248" y="5047488"/>
            <a:ext cx="3639312" cy="932688"/>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4270248" y="5047488"/>
            <a:ext cx="73152" cy="932688"/>
          </a:xfrm>
          <a:prstGeom prst="rect">
            <a:avLst/>
          </a:prstGeom>
          <a:solidFill>
            <a:srgbClr val="059669"/>
          </a:solidFill>
          <a:ln w="1270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471416" y="5151394"/>
            <a:ext cx="3236976" cy="258532"/>
          </a:xfrm>
          <a:prstGeom prst="rect">
            <a:avLst/>
          </a:prstGeom>
          <a:noFill/>
        </p:spPr>
        <p:txBody>
          <a:bodyPr wrap="square" lIns="36576" tIns="36576" rIns="36576" bIns="36576" anchor="ctr">
            <a:spAutoFit/>
          </a:bodyPr>
          <a:lstStyle/>
          <a:p>
            <a:pPr algn="l">
              <a:lnSpc>
                <a:spcPct val="100000"/>
              </a:lnSpc>
              <a:defRPr sz="950" b="1">
                <a:solidFill>
                  <a:srgbClr val="059669"/>
                </a:solidFill>
                <a:latin typeface="Inter"/>
              </a:defRPr>
            </a:pPr>
            <a:r>
              <a:rPr sz="1200"/>
              <a:t>+4 dB: EASY CLASSES SATURATE</a:t>
            </a:r>
          </a:p>
        </p:txBody>
      </p:sp>
      <p:sp>
        <p:nvSpPr>
          <p:cNvPr id="17" name="TextBox 16"/>
          <p:cNvSpPr txBox="1"/>
          <p:nvPr/>
        </p:nvSpPr>
        <p:spPr>
          <a:xfrm>
            <a:off x="4471416" y="5491171"/>
            <a:ext cx="3236976" cy="273921"/>
          </a:xfrm>
          <a:prstGeom prst="rect">
            <a:avLst/>
          </a:prstGeom>
          <a:noFill/>
        </p:spPr>
        <p:txBody>
          <a:bodyPr wrap="square" lIns="36576" tIns="36576" rIns="36576" bIns="36576" anchor="ctr">
            <a:spAutoFit/>
          </a:bodyPr>
          <a:lstStyle/>
          <a:p>
            <a:pPr algn="ctr">
              <a:lnSpc>
                <a:spcPct val="100000"/>
              </a:lnSpc>
              <a:defRPr sz="1050" b="1">
                <a:solidFill>
                  <a:srgbClr val="0F172A"/>
                </a:solidFill>
                <a:latin typeface="Inter"/>
              </a:defRPr>
            </a:pPr>
            <a:r>
              <a:rPr sz="1300"/>
              <a:t>BPSK, PAM4, CPFSK, GFSK reach 100%</a:t>
            </a:r>
          </a:p>
        </p:txBody>
      </p:sp>
      <p:sp>
        <p:nvSpPr>
          <p:cNvPr id="18" name="Rounded Rectangle 17"/>
          <p:cNvSpPr/>
          <p:nvPr/>
        </p:nvSpPr>
        <p:spPr>
          <a:xfrm>
            <a:off x="8110728" y="5047488"/>
            <a:ext cx="3639312" cy="932688"/>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8110728" y="5047488"/>
            <a:ext cx="73152" cy="932688"/>
          </a:xfrm>
          <a:prstGeom prst="rect">
            <a:avLst/>
          </a:prstGeom>
          <a:solidFill>
            <a:srgbClr val="D97706"/>
          </a:solidFill>
          <a:ln w="1270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311896" y="5151394"/>
            <a:ext cx="3236976" cy="258532"/>
          </a:xfrm>
          <a:prstGeom prst="rect">
            <a:avLst/>
          </a:prstGeom>
          <a:noFill/>
        </p:spPr>
        <p:txBody>
          <a:bodyPr wrap="square" lIns="36576" tIns="36576" rIns="36576" bIns="36576" anchor="ctr">
            <a:spAutoFit/>
          </a:bodyPr>
          <a:lstStyle/>
          <a:p>
            <a:pPr algn="l">
              <a:lnSpc>
                <a:spcPct val="100000"/>
              </a:lnSpc>
              <a:defRPr sz="950" b="1">
                <a:solidFill>
                  <a:srgbClr val="D97706"/>
                </a:solidFill>
                <a:latin typeface="Inter"/>
              </a:defRPr>
            </a:pPr>
            <a:r>
              <a:rPr sz="1200"/>
              <a:t>TRADE-OFF REMAINS</a:t>
            </a:r>
          </a:p>
        </p:txBody>
      </p:sp>
      <p:sp>
        <p:nvSpPr>
          <p:cNvPr id="21" name="TextBox 20"/>
          <p:cNvSpPr txBox="1"/>
          <p:nvPr/>
        </p:nvSpPr>
        <p:spPr>
          <a:xfrm>
            <a:off x="8311896" y="5391144"/>
            <a:ext cx="3236976" cy="473976"/>
          </a:xfrm>
          <a:prstGeom prst="rect">
            <a:avLst/>
          </a:prstGeom>
          <a:noFill/>
        </p:spPr>
        <p:txBody>
          <a:bodyPr wrap="square" lIns="36576" tIns="36576" rIns="36576" bIns="36576" anchor="ctr">
            <a:spAutoFit/>
          </a:bodyPr>
          <a:lstStyle/>
          <a:p>
            <a:pPr algn="ctr">
              <a:lnSpc>
                <a:spcPct val="100000"/>
              </a:lnSpc>
              <a:defRPr sz="1050" b="1">
                <a:solidFill>
                  <a:srgbClr val="0F172A"/>
                </a:solidFill>
                <a:latin typeface="Inter"/>
              </a:defRPr>
            </a:pPr>
            <a:r>
              <a:rPr sz="1300"/>
              <a:t>QPSK 58→72, but 8PSK 44→34 and 64QAM 52→42</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11480" y="190774"/>
            <a:ext cx="3840480" cy="258532"/>
          </a:xfrm>
          <a:prstGeom prst="rect">
            <a:avLst/>
          </a:prstGeom>
          <a:noFill/>
        </p:spPr>
        <p:txBody>
          <a:bodyPr wrap="square" lIns="36576" tIns="36576" rIns="36576" bIns="36576" anchor="ctr">
            <a:spAutoFit/>
          </a:bodyPr>
          <a:lstStyle/>
          <a:p>
            <a:pPr algn="l">
              <a:lnSpc>
                <a:spcPct val="100000"/>
              </a:lnSpc>
              <a:defRPr sz="1000" b="1">
                <a:solidFill>
                  <a:srgbClr val="0284C7"/>
                </a:solidFill>
                <a:latin typeface="Inter"/>
              </a:defRPr>
            </a:pPr>
            <a:r>
              <a:rPr sz="1200"/>
              <a:t>07 · DEMO</a:t>
            </a:r>
          </a:p>
        </p:txBody>
      </p:sp>
      <p:sp>
        <p:nvSpPr>
          <p:cNvPr id="3" name="TextBox 2"/>
          <p:cNvSpPr txBox="1"/>
          <p:nvPr/>
        </p:nvSpPr>
        <p:spPr>
          <a:xfrm>
            <a:off x="411480" y="438912"/>
            <a:ext cx="10744200" cy="640080"/>
          </a:xfrm>
          <a:prstGeom prst="rect">
            <a:avLst/>
          </a:prstGeom>
          <a:noFill/>
        </p:spPr>
        <p:txBody>
          <a:bodyPr wrap="square" lIns="36576" tIns="36576" rIns="36576" bIns="36576" anchor="ctr">
            <a:spAutoFit/>
          </a:bodyPr>
          <a:lstStyle/>
          <a:p>
            <a:pPr algn="l">
              <a:lnSpc>
                <a:spcPct val="100000"/>
              </a:lnSpc>
              <a:defRPr sz="3000" b="1">
                <a:solidFill>
                  <a:srgbClr val="0F172A"/>
                </a:solidFill>
                <a:latin typeface="Manrope"/>
              </a:defRPr>
            </a:pPr>
            <a:r>
              <a:t>Interactive model comparison</a:t>
            </a:r>
          </a:p>
        </p:txBody>
      </p:sp>
      <p:sp>
        <p:nvSpPr>
          <p:cNvPr id="4" name="TextBox 3"/>
          <p:cNvSpPr txBox="1"/>
          <p:nvPr/>
        </p:nvSpPr>
        <p:spPr>
          <a:xfrm>
            <a:off x="411480" y="1080641"/>
            <a:ext cx="10561320" cy="289310"/>
          </a:xfrm>
          <a:prstGeom prst="rect">
            <a:avLst/>
          </a:prstGeom>
          <a:noFill/>
        </p:spPr>
        <p:txBody>
          <a:bodyPr wrap="square" lIns="36576" tIns="36576" rIns="36576" bIns="36576" anchor="ctr">
            <a:spAutoFit/>
          </a:bodyPr>
          <a:lstStyle/>
          <a:p>
            <a:pPr algn="l">
              <a:lnSpc>
                <a:spcPct val="100000"/>
              </a:lnSpc>
              <a:defRPr sz="1200" b="0">
                <a:solidFill>
                  <a:srgbClr val="64748B"/>
                </a:solidFill>
                <a:latin typeface="Inter"/>
              </a:defRPr>
            </a:pPr>
            <a:r>
              <a:rPr sz="1400"/>
              <a:t>Fixed checkpoint, reproducible burst and controllable constant phase offset</a:t>
            </a:r>
          </a:p>
        </p:txBody>
      </p:sp>
      <p:cxnSp>
        <p:nvCxnSpPr>
          <p:cNvPr id="5" name="Connector 4"/>
          <p:cNvCxnSpPr/>
          <p:nvPr/>
        </p:nvCxnSpPr>
        <p:spPr>
          <a:xfrm>
            <a:off x="411480" y="1435608"/>
            <a:ext cx="11365992" cy="0"/>
          </a:xfrm>
          <a:prstGeom prst="line">
            <a:avLst/>
          </a:prstGeom>
          <a:ln w="12700">
            <a:solidFill>
              <a:srgbClr val="E2E8F0"/>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11480" y="6515523"/>
            <a:ext cx="6126480" cy="227755"/>
          </a:xfrm>
          <a:prstGeom prst="rect">
            <a:avLst/>
          </a:prstGeom>
          <a:noFill/>
        </p:spPr>
        <p:txBody>
          <a:bodyPr wrap="square" lIns="36576" tIns="36576" rIns="36576" bIns="36576" anchor="ctr">
            <a:spAutoFit/>
          </a:bodyPr>
          <a:lstStyle/>
          <a:p>
            <a:pPr algn="l">
              <a:lnSpc>
                <a:spcPct val="100000"/>
              </a:lnSpc>
              <a:defRPr sz="900" b="0">
                <a:solidFill>
                  <a:srgbClr val="64748B"/>
                </a:solidFill>
                <a:latin typeface="Inter"/>
              </a:defRPr>
            </a:pPr>
            <a:r>
              <a:rPr sz="1000"/>
              <a:t>EE136: Machine Learning for Wireless Communications</a:t>
            </a:r>
          </a:p>
        </p:txBody>
      </p:sp>
      <p:sp>
        <p:nvSpPr>
          <p:cNvPr id="7" name="TextBox 6"/>
          <p:cNvSpPr txBox="1"/>
          <p:nvPr/>
        </p:nvSpPr>
        <p:spPr>
          <a:xfrm>
            <a:off x="10222992" y="6515523"/>
            <a:ext cx="1554480" cy="227755"/>
          </a:xfrm>
          <a:prstGeom prst="rect">
            <a:avLst/>
          </a:prstGeom>
          <a:noFill/>
        </p:spPr>
        <p:txBody>
          <a:bodyPr wrap="square" lIns="36576" tIns="36576" rIns="36576" bIns="36576" anchor="ctr">
            <a:spAutoFit/>
          </a:bodyPr>
          <a:lstStyle/>
          <a:p>
            <a:pPr algn="r">
              <a:lnSpc>
                <a:spcPct val="100000"/>
              </a:lnSpc>
              <a:defRPr sz="900" b="0">
                <a:solidFill>
                  <a:srgbClr val="64748B"/>
                </a:solidFill>
                <a:latin typeface="Inter"/>
              </a:defRPr>
            </a:pPr>
            <a:r>
              <a:rPr sz="1000"/>
              <a:t>Slide 11 of 12</a:t>
            </a:r>
          </a:p>
        </p:txBody>
      </p:sp>
      <p:sp>
        <p:nvSpPr>
          <p:cNvPr id="8" name="Rounded Rectangle 7"/>
          <p:cNvSpPr/>
          <p:nvPr/>
        </p:nvSpPr>
        <p:spPr>
          <a:xfrm>
            <a:off x="685800" y="1664208"/>
            <a:ext cx="6629400" cy="4325112"/>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685800" y="1664208"/>
            <a:ext cx="6629400" cy="420624"/>
          </a:xfrm>
          <a:prstGeom prst="rect">
            <a:avLst/>
          </a:prstGeom>
          <a:solidFill>
            <a:srgbClr val="0F172A"/>
          </a:solidFill>
          <a:ln w="1270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val 9"/>
          <p:cNvSpPr/>
          <p:nvPr/>
        </p:nvSpPr>
        <p:spPr>
          <a:xfrm>
            <a:off x="868680" y="1801368"/>
            <a:ext cx="109728" cy="109728"/>
          </a:xfrm>
          <a:prstGeom prst="ellipse">
            <a:avLst/>
          </a:prstGeom>
          <a:solidFill>
            <a:srgbClr val="DC2626"/>
          </a:solidFill>
          <a:ln>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1078992" y="1801368"/>
            <a:ext cx="109728" cy="109728"/>
          </a:xfrm>
          <a:prstGeom prst="ellipse">
            <a:avLst/>
          </a:prstGeom>
          <a:solidFill>
            <a:srgbClr val="D97706"/>
          </a:solidFill>
          <a:ln>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1289304" y="1801368"/>
            <a:ext cx="109728" cy="109728"/>
          </a:xfrm>
          <a:prstGeom prst="ellipse">
            <a:avLst/>
          </a:prstGeom>
          <a:solidFill>
            <a:srgbClr val="059669"/>
          </a:solidFill>
          <a:ln>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645920" y="1719072"/>
            <a:ext cx="2286000" cy="256032"/>
          </a:xfrm>
          <a:prstGeom prst="rect">
            <a:avLst/>
          </a:prstGeom>
          <a:noFill/>
        </p:spPr>
        <p:txBody>
          <a:bodyPr wrap="square" lIns="36576" tIns="36576" rIns="36576" bIns="36576" anchor="ctr">
            <a:spAutoFit/>
          </a:bodyPr>
          <a:lstStyle/>
          <a:p>
            <a:pPr algn="l">
              <a:lnSpc>
                <a:spcPct val="100000"/>
              </a:lnSpc>
              <a:defRPr sz="1000" b="1">
                <a:solidFill>
                  <a:srgbClr val="FFFFFF"/>
                </a:solidFill>
                <a:latin typeface="Inter"/>
              </a:defRPr>
            </a:pPr>
            <a:r>
              <a:rPr sz="1200"/>
              <a:t>Low-SNR AMC Explorer</a:t>
            </a:r>
          </a:p>
        </p:txBody>
      </p:sp>
      <p:sp>
        <p:nvSpPr>
          <p:cNvPr id="14" name="TextBox 13"/>
          <p:cNvSpPr txBox="1"/>
          <p:nvPr/>
        </p:nvSpPr>
        <p:spPr>
          <a:xfrm>
            <a:off x="932688" y="2347308"/>
            <a:ext cx="1417320" cy="243143"/>
          </a:xfrm>
          <a:prstGeom prst="rect">
            <a:avLst/>
          </a:prstGeom>
          <a:noFill/>
        </p:spPr>
        <p:txBody>
          <a:bodyPr wrap="square" lIns="36576" tIns="36576" rIns="36576" bIns="36576" anchor="ctr">
            <a:spAutoFit/>
          </a:bodyPr>
          <a:lstStyle/>
          <a:p>
            <a:pPr algn="l">
              <a:lnSpc>
                <a:spcPct val="100000"/>
              </a:lnSpc>
              <a:defRPr sz="900" b="1">
                <a:solidFill>
                  <a:srgbClr val="64748B"/>
                </a:solidFill>
                <a:latin typeface="Inter"/>
              </a:defRPr>
            </a:pPr>
            <a:r>
              <a:rPr sz="1100"/>
              <a:t>Training seed</a:t>
            </a:r>
          </a:p>
        </p:txBody>
      </p:sp>
      <p:sp>
        <p:nvSpPr>
          <p:cNvPr id="15" name="Rounded Rectangle 14"/>
          <p:cNvSpPr/>
          <p:nvPr/>
        </p:nvSpPr>
        <p:spPr>
          <a:xfrm>
            <a:off x="2395728" y="2313432"/>
            <a:ext cx="1536192" cy="347472"/>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2487168" y="2357902"/>
            <a:ext cx="1353312" cy="258532"/>
          </a:xfrm>
          <a:prstGeom prst="rect">
            <a:avLst/>
          </a:prstGeom>
          <a:noFill/>
        </p:spPr>
        <p:txBody>
          <a:bodyPr wrap="square" lIns="36576" tIns="36576" rIns="36576" bIns="36576" anchor="ctr">
            <a:spAutoFit/>
          </a:bodyPr>
          <a:lstStyle/>
          <a:p>
            <a:pPr algn="l">
              <a:lnSpc>
                <a:spcPct val="100000"/>
              </a:lnSpc>
              <a:defRPr sz="1000" b="1">
                <a:solidFill>
                  <a:srgbClr val="0F172A"/>
                </a:solidFill>
                <a:latin typeface="Inter"/>
              </a:defRPr>
            </a:pPr>
            <a:r>
              <a:rPr sz="1200"/>
              <a:t>42</a:t>
            </a:r>
          </a:p>
        </p:txBody>
      </p:sp>
      <p:sp>
        <p:nvSpPr>
          <p:cNvPr id="17" name="TextBox 16"/>
          <p:cNvSpPr txBox="1"/>
          <p:nvPr/>
        </p:nvSpPr>
        <p:spPr>
          <a:xfrm>
            <a:off x="932688" y="2914236"/>
            <a:ext cx="1417320" cy="243143"/>
          </a:xfrm>
          <a:prstGeom prst="rect">
            <a:avLst/>
          </a:prstGeom>
          <a:noFill/>
        </p:spPr>
        <p:txBody>
          <a:bodyPr wrap="square" lIns="36576" tIns="36576" rIns="36576" bIns="36576" anchor="ctr">
            <a:spAutoFit/>
          </a:bodyPr>
          <a:lstStyle/>
          <a:p>
            <a:pPr algn="l">
              <a:lnSpc>
                <a:spcPct val="100000"/>
              </a:lnSpc>
              <a:defRPr sz="900" b="1">
                <a:solidFill>
                  <a:srgbClr val="64748B"/>
                </a:solidFill>
                <a:latin typeface="Inter"/>
              </a:defRPr>
            </a:pPr>
            <a:r>
              <a:rPr sz="1100"/>
              <a:t>Configuration</a:t>
            </a:r>
          </a:p>
        </p:txBody>
      </p:sp>
      <p:sp>
        <p:nvSpPr>
          <p:cNvPr id="18" name="Rounded Rectangle 17"/>
          <p:cNvSpPr/>
          <p:nvPr/>
        </p:nvSpPr>
        <p:spPr>
          <a:xfrm>
            <a:off x="2395728" y="2880360"/>
            <a:ext cx="1536192" cy="347472"/>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2487168" y="2924830"/>
            <a:ext cx="1353312" cy="258532"/>
          </a:xfrm>
          <a:prstGeom prst="rect">
            <a:avLst/>
          </a:prstGeom>
          <a:noFill/>
        </p:spPr>
        <p:txBody>
          <a:bodyPr wrap="square" lIns="36576" tIns="36576" rIns="36576" bIns="36576" anchor="ctr">
            <a:spAutoFit/>
          </a:bodyPr>
          <a:lstStyle/>
          <a:p>
            <a:pPr algn="l">
              <a:lnSpc>
                <a:spcPct val="100000"/>
              </a:lnSpc>
              <a:defRPr sz="1000" b="1">
                <a:solidFill>
                  <a:srgbClr val="0F172A"/>
                </a:solidFill>
                <a:latin typeface="Inter"/>
              </a:defRPr>
            </a:pPr>
            <a:r>
              <a:rPr sz="1200"/>
              <a:t>phase_only</a:t>
            </a:r>
          </a:p>
        </p:txBody>
      </p:sp>
      <p:sp>
        <p:nvSpPr>
          <p:cNvPr id="20" name="TextBox 19"/>
          <p:cNvSpPr txBox="1"/>
          <p:nvPr/>
        </p:nvSpPr>
        <p:spPr>
          <a:xfrm>
            <a:off x="932688" y="3481164"/>
            <a:ext cx="1417320" cy="243143"/>
          </a:xfrm>
          <a:prstGeom prst="rect">
            <a:avLst/>
          </a:prstGeom>
          <a:noFill/>
        </p:spPr>
        <p:txBody>
          <a:bodyPr wrap="square" lIns="36576" tIns="36576" rIns="36576" bIns="36576" anchor="ctr">
            <a:spAutoFit/>
          </a:bodyPr>
          <a:lstStyle/>
          <a:p>
            <a:pPr algn="l">
              <a:lnSpc>
                <a:spcPct val="100000"/>
              </a:lnSpc>
              <a:defRPr sz="900" b="1">
                <a:solidFill>
                  <a:srgbClr val="64748B"/>
                </a:solidFill>
                <a:latin typeface="Inter"/>
              </a:defRPr>
            </a:pPr>
            <a:r>
              <a:rPr sz="1100"/>
              <a:t>Modulation</a:t>
            </a:r>
          </a:p>
        </p:txBody>
      </p:sp>
      <p:sp>
        <p:nvSpPr>
          <p:cNvPr id="21" name="Rounded Rectangle 20"/>
          <p:cNvSpPr/>
          <p:nvPr/>
        </p:nvSpPr>
        <p:spPr>
          <a:xfrm>
            <a:off x="2395728" y="3447288"/>
            <a:ext cx="1536192" cy="347472"/>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2487168" y="3491758"/>
            <a:ext cx="1353312" cy="258532"/>
          </a:xfrm>
          <a:prstGeom prst="rect">
            <a:avLst/>
          </a:prstGeom>
          <a:noFill/>
        </p:spPr>
        <p:txBody>
          <a:bodyPr wrap="square" lIns="36576" tIns="36576" rIns="36576" bIns="36576" anchor="ctr">
            <a:spAutoFit/>
          </a:bodyPr>
          <a:lstStyle/>
          <a:p>
            <a:pPr algn="l">
              <a:lnSpc>
                <a:spcPct val="100000"/>
              </a:lnSpc>
              <a:defRPr sz="1000" b="1">
                <a:solidFill>
                  <a:srgbClr val="0F172A"/>
                </a:solidFill>
                <a:latin typeface="Inter"/>
              </a:defRPr>
            </a:pPr>
            <a:r>
              <a:rPr sz="1200"/>
              <a:t>16QAM</a:t>
            </a:r>
          </a:p>
        </p:txBody>
      </p:sp>
      <p:sp>
        <p:nvSpPr>
          <p:cNvPr id="23" name="TextBox 22"/>
          <p:cNvSpPr txBox="1"/>
          <p:nvPr/>
        </p:nvSpPr>
        <p:spPr>
          <a:xfrm>
            <a:off x="932688" y="4048092"/>
            <a:ext cx="1417320" cy="243143"/>
          </a:xfrm>
          <a:prstGeom prst="rect">
            <a:avLst/>
          </a:prstGeom>
          <a:noFill/>
        </p:spPr>
        <p:txBody>
          <a:bodyPr wrap="square" lIns="36576" tIns="36576" rIns="36576" bIns="36576" anchor="ctr">
            <a:spAutoFit/>
          </a:bodyPr>
          <a:lstStyle/>
          <a:p>
            <a:pPr algn="l">
              <a:lnSpc>
                <a:spcPct val="100000"/>
              </a:lnSpc>
              <a:defRPr sz="900" b="1">
                <a:solidFill>
                  <a:srgbClr val="64748B"/>
                </a:solidFill>
                <a:latin typeface="Inter"/>
              </a:defRPr>
            </a:pPr>
            <a:r>
              <a:rPr sz="1100"/>
              <a:t>SNR</a:t>
            </a:r>
          </a:p>
        </p:txBody>
      </p:sp>
      <p:sp>
        <p:nvSpPr>
          <p:cNvPr id="24" name="Rounded Rectangle 23"/>
          <p:cNvSpPr/>
          <p:nvPr/>
        </p:nvSpPr>
        <p:spPr>
          <a:xfrm>
            <a:off x="2395728" y="4014216"/>
            <a:ext cx="1536192" cy="347472"/>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2487168" y="4058686"/>
            <a:ext cx="1353312" cy="258532"/>
          </a:xfrm>
          <a:prstGeom prst="rect">
            <a:avLst/>
          </a:prstGeom>
          <a:noFill/>
        </p:spPr>
        <p:txBody>
          <a:bodyPr wrap="square" lIns="36576" tIns="36576" rIns="36576" bIns="36576" anchor="ctr">
            <a:spAutoFit/>
          </a:bodyPr>
          <a:lstStyle/>
          <a:p>
            <a:pPr algn="l">
              <a:lnSpc>
                <a:spcPct val="100000"/>
              </a:lnSpc>
              <a:defRPr sz="1000" b="1">
                <a:solidFill>
                  <a:srgbClr val="0F172A"/>
                </a:solidFill>
                <a:latin typeface="Inter"/>
              </a:defRPr>
            </a:pPr>
            <a:r>
              <a:rPr sz="1200"/>
              <a:t>−4 dB</a:t>
            </a:r>
          </a:p>
        </p:txBody>
      </p:sp>
      <p:sp>
        <p:nvSpPr>
          <p:cNvPr id="26" name="TextBox 25"/>
          <p:cNvSpPr txBox="1"/>
          <p:nvPr/>
        </p:nvSpPr>
        <p:spPr>
          <a:xfrm>
            <a:off x="932688" y="4615019"/>
            <a:ext cx="1417320" cy="243143"/>
          </a:xfrm>
          <a:prstGeom prst="rect">
            <a:avLst/>
          </a:prstGeom>
          <a:noFill/>
        </p:spPr>
        <p:txBody>
          <a:bodyPr wrap="square" lIns="36576" tIns="36576" rIns="36576" bIns="36576" anchor="ctr">
            <a:spAutoFit/>
          </a:bodyPr>
          <a:lstStyle/>
          <a:p>
            <a:pPr algn="l">
              <a:lnSpc>
                <a:spcPct val="100000"/>
              </a:lnSpc>
              <a:defRPr sz="900" b="1">
                <a:solidFill>
                  <a:srgbClr val="64748B"/>
                </a:solidFill>
                <a:latin typeface="Inter"/>
              </a:defRPr>
            </a:pPr>
            <a:r>
              <a:rPr sz="1100"/>
              <a:t>Phase offset</a:t>
            </a:r>
          </a:p>
        </p:txBody>
      </p:sp>
      <p:sp>
        <p:nvSpPr>
          <p:cNvPr id="27" name="Rounded Rectangle 26"/>
          <p:cNvSpPr/>
          <p:nvPr/>
        </p:nvSpPr>
        <p:spPr>
          <a:xfrm>
            <a:off x="2395728" y="4581144"/>
            <a:ext cx="1536192" cy="347472"/>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2487168" y="4625614"/>
            <a:ext cx="1353312" cy="258532"/>
          </a:xfrm>
          <a:prstGeom prst="rect">
            <a:avLst/>
          </a:prstGeom>
          <a:noFill/>
        </p:spPr>
        <p:txBody>
          <a:bodyPr wrap="square" lIns="36576" tIns="36576" rIns="36576" bIns="36576" anchor="ctr">
            <a:spAutoFit/>
          </a:bodyPr>
          <a:lstStyle/>
          <a:p>
            <a:pPr algn="l">
              <a:lnSpc>
                <a:spcPct val="100000"/>
              </a:lnSpc>
              <a:defRPr sz="1000" b="1">
                <a:solidFill>
                  <a:srgbClr val="0F172A"/>
                </a:solidFill>
                <a:latin typeface="Inter"/>
              </a:defRPr>
            </a:pPr>
            <a:r>
              <a:rPr sz="1200"/>
              <a:t>90°</a:t>
            </a:r>
          </a:p>
        </p:txBody>
      </p:sp>
      <p:sp>
        <p:nvSpPr>
          <p:cNvPr id="29" name="Rounded Rectangle 28"/>
          <p:cNvSpPr/>
          <p:nvPr/>
        </p:nvSpPr>
        <p:spPr>
          <a:xfrm>
            <a:off x="4297680" y="2331720"/>
            <a:ext cx="2560320" cy="1078992"/>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4498848" y="2479897"/>
            <a:ext cx="1005840" cy="243143"/>
          </a:xfrm>
          <a:prstGeom prst="rect">
            <a:avLst/>
          </a:prstGeom>
          <a:noFill/>
        </p:spPr>
        <p:txBody>
          <a:bodyPr wrap="square" lIns="36576" tIns="36576" rIns="36576" bIns="36576" anchor="ctr">
            <a:spAutoFit/>
          </a:bodyPr>
          <a:lstStyle/>
          <a:p>
            <a:pPr algn="l">
              <a:lnSpc>
                <a:spcPct val="100000"/>
              </a:lnSpc>
              <a:defRPr sz="900" b="1">
                <a:solidFill>
                  <a:srgbClr val="64748B"/>
                </a:solidFill>
                <a:latin typeface="Inter"/>
              </a:defRPr>
            </a:pPr>
            <a:r>
              <a:rPr sz="1100"/>
              <a:t>BASELINE</a:t>
            </a:r>
          </a:p>
        </p:txBody>
      </p:sp>
      <p:sp>
        <p:nvSpPr>
          <p:cNvPr id="31" name="TextBox 30"/>
          <p:cNvSpPr txBox="1"/>
          <p:nvPr/>
        </p:nvSpPr>
        <p:spPr>
          <a:xfrm>
            <a:off x="4498848" y="2770632"/>
            <a:ext cx="1920240" cy="320040"/>
          </a:xfrm>
          <a:prstGeom prst="rect">
            <a:avLst/>
          </a:prstGeom>
          <a:noFill/>
        </p:spPr>
        <p:txBody>
          <a:bodyPr wrap="square" lIns="36576" tIns="36576" rIns="36576" bIns="36576" anchor="ctr">
            <a:spAutoFit/>
          </a:bodyPr>
          <a:lstStyle/>
          <a:p>
            <a:pPr algn="l">
              <a:lnSpc>
                <a:spcPct val="100000"/>
              </a:lnSpc>
              <a:defRPr sz="1800" b="1">
                <a:solidFill>
                  <a:srgbClr val="334155"/>
                </a:solidFill>
                <a:latin typeface="Manrope"/>
              </a:defRPr>
            </a:pPr>
            <a:r>
              <a:t>64QAM</a:t>
            </a:r>
          </a:p>
        </p:txBody>
      </p:sp>
      <p:sp>
        <p:nvSpPr>
          <p:cNvPr id="32" name="Rounded Rectangle 31"/>
          <p:cNvSpPr/>
          <p:nvPr/>
        </p:nvSpPr>
        <p:spPr>
          <a:xfrm>
            <a:off x="4297680" y="3611880"/>
            <a:ext cx="2560320" cy="1078992"/>
          </a:xfrm>
          <a:prstGeom prst="roundRect">
            <a:avLst/>
          </a:prstGeom>
          <a:solidFill>
            <a:srgbClr val="F0F9FF"/>
          </a:solidFill>
          <a:ln w="1270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4498848" y="3760057"/>
            <a:ext cx="1280160" cy="243143"/>
          </a:xfrm>
          <a:prstGeom prst="rect">
            <a:avLst/>
          </a:prstGeom>
          <a:noFill/>
        </p:spPr>
        <p:txBody>
          <a:bodyPr wrap="square" lIns="36576" tIns="36576" rIns="36576" bIns="36576" anchor="ctr">
            <a:spAutoFit/>
          </a:bodyPr>
          <a:lstStyle/>
          <a:p>
            <a:pPr algn="l">
              <a:lnSpc>
                <a:spcPct val="100000"/>
              </a:lnSpc>
              <a:defRPr sz="900" b="1">
                <a:solidFill>
                  <a:srgbClr val="0284C7"/>
                </a:solidFill>
                <a:latin typeface="Inter"/>
              </a:defRPr>
            </a:pPr>
            <a:r>
              <a:rPr sz="1100"/>
              <a:t>PHASE-ONLY</a:t>
            </a:r>
          </a:p>
        </p:txBody>
      </p:sp>
      <p:sp>
        <p:nvSpPr>
          <p:cNvPr id="34" name="TextBox 33"/>
          <p:cNvSpPr txBox="1"/>
          <p:nvPr/>
        </p:nvSpPr>
        <p:spPr>
          <a:xfrm>
            <a:off x="4498848" y="4050791"/>
            <a:ext cx="1920240" cy="320040"/>
          </a:xfrm>
          <a:prstGeom prst="rect">
            <a:avLst/>
          </a:prstGeom>
          <a:noFill/>
        </p:spPr>
        <p:txBody>
          <a:bodyPr wrap="square" lIns="36576" tIns="36576" rIns="36576" bIns="36576" anchor="ctr">
            <a:spAutoFit/>
          </a:bodyPr>
          <a:lstStyle/>
          <a:p>
            <a:pPr algn="l">
              <a:lnSpc>
                <a:spcPct val="100000"/>
              </a:lnSpc>
              <a:defRPr sz="1800" b="1">
                <a:solidFill>
                  <a:srgbClr val="0284C7"/>
                </a:solidFill>
                <a:latin typeface="Manrope"/>
              </a:defRPr>
            </a:pPr>
            <a:r>
              <a:t>16QAM</a:t>
            </a:r>
          </a:p>
        </p:txBody>
      </p:sp>
      <p:sp>
        <p:nvSpPr>
          <p:cNvPr id="35" name="TextBox 34"/>
          <p:cNvSpPr txBox="1"/>
          <p:nvPr/>
        </p:nvSpPr>
        <p:spPr>
          <a:xfrm>
            <a:off x="4434840" y="4983010"/>
            <a:ext cx="2267712" cy="412421"/>
          </a:xfrm>
          <a:prstGeom prst="rect">
            <a:avLst/>
          </a:prstGeom>
          <a:noFill/>
        </p:spPr>
        <p:txBody>
          <a:bodyPr wrap="square" lIns="36576" tIns="36576" rIns="36576" bIns="36576" anchor="ctr">
            <a:spAutoFit/>
          </a:bodyPr>
          <a:lstStyle/>
          <a:p>
            <a:pPr algn="ctr">
              <a:lnSpc>
                <a:spcPct val="100000"/>
              </a:lnSpc>
              <a:defRPr sz="900" b="1">
                <a:solidFill>
                  <a:srgbClr val="DC2626"/>
                </a:solidFill>
                <a:latin typeface="Inter"/>
              </a:defRPr>
            </a:pPr>
            <a:r>
              <a:rPr sz="1100"/>
              <a:t>Illustrative burst — not benchmark evidence</a:t>
            </a:r>
          </a:p>
        </p:txBody>
      </p:sp>
      <p:sp>
        <p:nvSpPr>
          <p:cNvPr id="36" name="Oval 35"/>
          <p:cNvSpPr/>
          <p:nvPr/>
        </p:nvSpPr>
        <p:spPr>
          <a:xfrm>
            <a:off x="7818120" y="1828800"/>
            <a:ext cx="411480" cy="411480"/>
          </a:xfrm>
          <a:prstGeom prst="ellipse">
            <a:avLst/>
          </a:prstGeom>
          <a:solidFill>
            <a:srgbClr val="0284C7"/>
          </a:solidFill>
          <a:ln>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7818120" y="1905274"/>
            <a:ext cx="411480" cy="258532"/>
          </a:xfrm>
          <a:prstGeom prst="rect">
            <a:avLst/>
          </a:prstGeom>
          <a:noFill/>
        </p:spPr>
        <p:txBody>
          <a:bodyPr wrap="square" lIns="36576" tIns="36576" rIns="36576" bIns="36576" anchor="ctr">
            <a:spAutoFit/>
          </a:bodyPr>
          <a:lstStyle/>
          <a:p>
            <a:pPr algn="ctr">
              <a:lnSpc>
                <a:spcPct val="100000"/>
              </a:lnSpc>
              <a:defRPr sz="1000" b="1">
                <a:solidFill>
                  <a:srgbClr val="FFFFFF"/>
                </a:solidFill>
                <a:latin typeface="Inter"/>
              </a:defRPr>
            </a:pPr>
            <a:r>
              <a:rPr sz="1200"/>
              <a:t>1</a:t>
            </a:r>
          </a:p>
        </p:txBody>
      </p:sp>
      <p:sp>
        <p:nvSpPr>
          <p:cNvPr id="38" name="TextBox 37"/>
          <p:cNvSpPr txBox="1"/>
          <p:nvPr/>
        </p:nvSpPr>
        <p:spPr>
          <a:xfrm>
            <a:off x="8439912" y="1882190"/>
            <a:ext cx="2743200" cy="304699"/>
          </a:xfrm>
          <a:prstGeom prst="rect">
            <a:avLst/>
          </a:prstGeom>
          <a:noFill/>
        </p:spPr>
        <p:txBody>
          <a:bodyPr wrap="square" lIns="36576" tIns="36576" rIns="36576" bIns="36576" anchor="ctr">
            <a:spAutoFit/>
          </a:bodyPr>
          <a:lstStyle/>
          <a:p>
            <a:pPr algn="l">
              <a:lnSpc>
                <a:spcPct val="100000"/>
              </a:lnSpc>
              <a:defRPr sz="1300" b="1">
                <a:solidFill>
                  <a:srgbClr val="0F172A"/>
                </a:solidFill>
                <a:latin typeface="Inter"/>
              </a:defRPr>
            </a:pPr>
            <a:r>
              <a:rPr sz="1500"/>
              <a:t>Seed 42 + phase_only</a:t>
            </a:r>
          </a:p>
        </p:txBody>
      </p:sp>
      <p:sp>
        <p:nvSpPr>
          <p:cNvPr id="39" name="Oval 38"/>
          <p:cNvSpPr/>
          <p:nvPr/>
        </p:nvSpPr>
        <p:spPr>
          <a:xfrm>
            <a:off x="7818120" y="2615184"/>
            <a:ext cx="411480" cy="411480"/>
          </a:xfrm>
          <a:prstGeom prst="ellipse">
            <a:avLst/>
          </a:prstGeom>
          <a:solidFill>
            <a:srgbClr val="0284C7"/>
          </a:solidFill>
          <a:ln>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7818120" y="2691658"/>
            <a:ext cx="411480" cy="258532"/>
          </a:xfrm>
          <a:prstGeom prst="rect">
            <a:avLst/>
          </a:prstGeom>
          <a:noFill/>
        </p:spPr>
        <p:txBody>
          <a:bodyPr wrap="square" lIns="36576" tIns="36576" rIns="36576" bIns="36576" anchor="ctr">
            <a:spAutoFit/>
          </a:bodyPr>
          <a:lstStyle/>
          <a:p>
            <a:pPr algn="ctr">
              <a:lnSpc>
                <a:spcPct val="100000"/>
              </a:lnSpc>
              <a:defRPr sz="1000" b="1">
                <a:solidFill>
                  <a:srgbClr val="FFFFFF"/>
                </a:solidFill>
                <a:latin typeface="Inter"/>
              </a:defRPr>
            </a:pPr>
            <a:r>
              <a:rPr sz="1200"/>
              <a:t>2</a:t>
            </a:r>
          </a:p>
        </p:txBody>
      </p:sp>
      <p:sp>
        <p:nvSpPr>
          <p:cNvPr id="41" name="TextBox 40"/>
          <p:cNvSpPr txBox="1"/>
          <p:nvPr/>
        </p:nvSpPr>
        <p:spPr>
          <a:xfrm>
            <a:off x="8439912" y="2668574"/>
            <a:ext cx="2743200" cy="304699"/>
          </a:xfrm>
          <a:prstGeom prst="rect">
            <a:avLst/>
          </a:prstGeom>
          <a:noFill/>
        </p:spPr>
        <p:txBody>
          <a:bodyPr wrap="square" lIns="36576" tIns="36576" rIns="36576" bIns="36576" anchor="ctr">
            <a:spAutoFit/>
          </a:bodyPr>
          <a:lstStyle/>
          <a:p>
            <a:pPr algn="l">
              <a:lnSpc>
                <a:spcPct val="100000"/>
              </a:lnSpc>
              <a:defRPr sz="1300" b="1">
                <a:solidFill>
                  <a:srgbClr val="0F172A"/>
                </a:solidFill>
                <a:latin typeface="Inter"/>
              </a:defRPr>
            </a:pPr>
            <a:r>
              <a:rPr sz="1500"/>
              <a:t>16QAM at −4 dB</a:t>
            </a:r>
          </a:p>
        </p:txBody>
      </p:sp>
      <p:sp>
        <p:nvSpPr>
          <p:cNvPr id="42" name="Oval 41"/>
          <p:cNvSpPr/>
          <p:nvPr/>
        </p:nvSpPr>
        <p:spPr>
          <a:xfrm>
            <a:off x="7818120" y="3401568"/>
            <a:ext cx="411480" cy="411480"/>
          </a:xfrm>
          <a:prstGeom prst="ellipse">
            <a:avLst/>
          </a:prstGeom>
          <a:solidFill>
            <a:srgbClr val="0284C7"/>
          </a:solidFill>
          <a:ln>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7818120" y="3478042"/>
            <a:ext cx="411480" cy="258532"/>
          </a:xfrm>
          <a:prstGeom prst="rect">
            <a:avLst/>
          </a:prstGeom>
          <a:noFill/>
        </p:spPr>
        <p:txBody>
          <a:bodyPr wrap="square" lIns="36576" tIns="36576" rIns="36576" bIns="36576" anchor="ctr">
            <a:spAutoFit/>
          </a:bodyPr>
          <a:lstStyle/>
          <a:p>
            <a:pPr algn="ctr">
              <a:lnSpc>
                <a:spcPct val="100000"/>
              </a:lnSpc>
              <a:defRPr sz="1000" b="1">
                <a:solidFill>
                  <a:srgbClr val="FFFFFF"/>
                </a:solidFill>
                <a:latin typeface="Inter"/>
              </a:defRPr>
            </a:pPr>
            <a:r>
              <a:rPr sz="1200"/>
              <a:t>3</a:t>
            </a:r>
          </a:p>
        </p:txBody>
      </p:sp>
      <p:sp>
        <p:nvSpPr>
          <p:cNvPr id="44" name="TextBox 43"/>
          <p:cNvSpPr txBox="1"/>
          <p:nvPr/>
        </p:nvSpPr>
        <p:spPr>
          <a:xfrm>
            <a:off x="8439912" y="3454958"/>
            <a:ext cx="2743200" cy="304699"/>
          </a:xfrm>
          <a:prstGeom prst="rect">
            <a:avLst/>
          </a:prstGeom>
          <a:noFill/>
        </p:spPr>
        <p:txBody>
          <a:bodyPr wrap="square" lIns="36576" tIns="36576" rIns="36576" bIns="36576" anchor="ctr">
            <a:spAutoFit/>
          </a:bodyPr>
          <a:lstStyle/>
          <a:p>
            <a:pPr algn="l">
              <a:lnSpc>
                <a:spcPct val="100000"/>
              </a:lnSpc>
              <a:defRPr sz="1300" b="1">
                <a:solidFill>
                  <a:srgbClr val="0F172A"/>
                </a:solidFill>
                <a:latin typeface="Inter"/>
              </a:defRPr>
            </a:pPr>
            <a:r>
              <a:rPr sz="1500"/>
              <a:t>Rotate 0° → 90°</a:t>
            </a:r>
          </a:p>
        </p:txBody>
      </p:sp>
      <p:sp>
        <p:nvSpPr>
          <p:cNvPr id="45" name="Oval 44"/>
          <p:cNvSpPr/>
          <p:nvPr/>
        </p:nvSpPr>
        <p:spPr>
          <a:xfrm>
            <a:off x="7818120" y="4187952"/>
            <a:ext cx="411480" cy="411480"/>
          </a:xfrm>
          <a:prstGeom prst="ellipse">
            <a:avLst/>
          </a:prstGeom>
          <a:solidFill>
            <a:srgbClr val="0284C7"/>
          </a:solidFill>
          <a:ln>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7818120" y="4264426"/>
            <a:ext cx="411480" cy="258532"/>
          </a:xfrm>
          <a:prstGeom prst="rect">
            <a:avLst/>
          </a:prstGeom>
          <a:noFill/>
        </p:spPr>
        <p:txBody>
          <a:bodyPr wrap="square" lIns="36576" tIns="36576" rIns="36576" bIns="36576" anchor="ctr">
            <a:spAutoFit/>
          </a:bodyPr>
          <a:lstStyle/>
          <a:p>
            <a:pPr algn="ctr">
              <a:lnSpc>
                <a:spcPct val="100000"/>
              </a:lnSpc>
              <a:defRPr sz="1000" b="1">
                <a:solidFill>
                  <a:srgbClr val="FFFFFF"/>
                </a:solidFill>
                <a:latin typeface="Inter"/>
              </a:defRPr>
            </a:pPr>
            <a:r>
              <a:rPr sz="1200"/>
              <a:t>4</a:t>
            </a:r>
          </a:p>
        </p:txBody>
      </p:sp>
      <p:sp>
        <p:nvSpPr>
          <p:cNvPr id="47" name="TextBox 46"/>
          <p:cNvSpPr txBox="1"/>
          <p:nvPr/>
        </p:nvSpPr>
        <p:spPr>
          <a:xfrm>
            <a:off x="8439912" y="4241342"/>
            <a:ext cx="2743200" cy="304699"/>
          </a:xfrm>
          <a:prstGeom prst="rect">
            <a:avLst/>
          </a:prstGeom>
          <a:noFill/>
        </p:spPr>
        <p:txBody>
          <a:bodyPr wrap="square" lIns="36576" tIns="36576" rIns="36576" bIns="36576" anchor="ctr">
            <a:spAutoFit/>
          </a:bodyPr>
          <a:lstStyle/>
          <a:p>
            <a:pPr algn="l">
              <a:lnSpc>
                <a:spcPct val="100000"/>
              </a:lnSpc>
              <a:defRPr sz="1300" b="1">
                <a:solidFill>
                  <a:srgbClr val="0F172A"/>
                </a:solidFill>
                <a:latin typeface="Inter"/>
              </a:defRPr>
            </a:pPr>
            <a:r>
              <a:rPr sz="1500"/>
              <a:t>Compare predictions</a:t>
            </a:r>
          </a:p>
        </p:txBody>
      </p:sp>
      <p:sp>
        <p:nvSpPr>
          <p:cNvPr id="48" name="Rounded Rectangle 47"/>
          <p:cNvSpPr/>
          <p:nvPr/>
        </p:nvSpPr>
        <p:spPr>
          <a:xfrm>
            <a:off x="7818120" y="5138928"/>
            <a:ext cx="3337560" cy="658368"/>
          </a:xfrm>
          <a:prstGeom prst="roundRect">
            <a:avLst/>
          </a:prstGeom>
          <a:solidFill>
            <a:srgbClr val="FFF7ED"/>
          </a:solidFill>
          <a:ln w="12700">
            <a:solidFill>
              <a:srgbClr val="FED7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8028431" y="5311414"/>
            <a:ext cx="2926080" cy="258532"/>
          </a:xfrm>
          <a:prstGeom prst="rect">
            <a:avLst/>
          </a:prstGeom>
          <a:noFill/>
        </p:spPr>
        <p:txBody>
          <a:bodyPr wrap="square" lIns="36576" tIns="36576" rIns="36576" bIns="36576" anchor="ctr">
            <a:spAutoFit/>
          </a:bodyPr>
          <a:lstStyle/>
          <a:p>
            <a:pPr algn="ctr">
              <a:lnSpc>
                <a:spcPct val="100000"/>
              </a:lnSpc>
              <a:defRPr sz="950" b="1">
                <a:solidFill>
                  <a:srgbClr val="D97706"/>
                </a:solidFill>
                <a:latin typeface="Inter"/>
              </a:defRPr>
            </a:pPr>
            <a:r>
              <a:rPr sz="1200"/>
              <a:t>Fail-safe: switch to 30–45 s video after 10 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11480" y="190774"/>
            <a:ext cx="3840480" cy="258532"/>
          </a:xfrm>
          <a:prstGeom prst="rect">
            <a:avLst/>
          </a:prstGeom>
          <a:noFill/>
        </p:spPr>
        <p:txBody>
          <a:bodyPr wrap="square" lIns="36576" tIns="36576" rIns="36576" bIns="36576" anchor="ctr">
            <a:spAutoFit/>
          </a:bodyPr>
          <a:lstStyle/>
          <a:p>
            <a:pPr algn="l">
              <a:lnSpc>
                <a:spcPct val="100000"/>
              </a:lnSpc>
              <a:defRPr sz="1000" b="1">
                <a:solidFill>
                  <a:srgbClr val="0284C7"/>
                </a:solidFill>
                <a:latin typeface="Inter"/>
              </a:defRPr>
            </a:pPr>
            <a:r>
              <a:rPr sz="1200"/>
              <a:t>08 · CONCLUSION</a:t>
            </a:r>
          </a:p>
        </p:txBody>
      </p:sp>
      <p:sp>
        <p:nvSpPr>
          <p:cNvPr id="3" name="TextBox 2"/>
          <p:cNvSpPr txBox="1"/>
          <p:nvPr/>
        </p:nvSpPr>
        <p:spPr>
          <a:xfrm>
            <a:off x="411480" y="438912"/>
            <a:ext cx="10744200" cy="640080"/>
          </a:xfrm>
          <a:prstGeom prst="rect">
            <a:avLst/>
          </a:prstGeom>
          <a:noFill/>
        </p:spPr>
        <p:txBody>
          <a:bodyPr wrap="square" lIns="36576" tIns="36576" rIns="36576" bIns="36576" anchor="ctr">
            <a:spAutoFit/>
          </a:bodyPr>
          <a:lstStyle/>
          <a:p>
            <a:pPr algn="l">
              <a:lnSpc>
                <a:spcPct val="100000"/>
              </a:lnSpc>
              <a:defRPr sz="3000" b="1">
                <a:solidFill>
                  <a:srgbClr val="0F172A"/>
                </a:solidFill>
                <a:latin typeface="Manrope"/>
              </a:defRPr>
            </a:pPr>
            <a:r>
              <a:t>A precise claim — and clear limits</a:t>
            </a:r>
          </a:p>
        </p:txBody>
      </p:sp>
      <p:sp>
        <p:nvSpPr>
          <p:cNvPr id="4" name="TextBox 3"/>
          <p:cNvSpPr txBox="1"/>
          <p:nvPr/>
        </p:nvSpPr>
        <p:spPr>
          <a:xfrm>
            <a:off x="411480" y="1080641"/>
            <a:ext cx="10561320" cy="289310"/>
          </a:xfrm>
          <a:prstGeom prst="rect">
            <a:avLst/>
          </a:prstGeom>
          <a:noFill/>
        </p:spPr>
        <p:txBody>
          <a:bodyPr wrap="square" lIns="36576" tIns="36576" rIns="36576" bIns="36576" anchor="ctr">
            <a:spAutoFit/>
          </a:bodyPr>
          <a:lstStyle/>
          <a:p>
            <a:pPr algn="l">
              <a:lnSpc>
                <a:spcPct val="100000"/>
              </a:lnSpc>
              <a:defRPr sz="1200" b="0">
                <a:solidFill>
                  <a:srgbClr val="64748B"/>
                </a:solidFill>
                <a:latin typeface="Inter"/>
              </a:defRPr>
            </a:pPr>
            <a:r>
              <a:rPr sz="1400"/>
              <a:t>Validation-selected phase augmentation helps on this frozen synthetic benchmark</a:t>
            </a:r>
          </a:p>
        </p:txBody>
      </p:sp>
      <p:cxnSp>
        <p:nvCxnSpPr>
          <p:cNvPr id="5" name="Connector 4"/>
          <p:cNvCxnSpPr/>
          <p:nvPr/>
        </p:nvCxnSpPr>
        <p:spPr>
          <a:xfrm>
            <a:off x="411480" y="1435608"/>
            <a:ext cx="11365992" cy="0"/>
          </a:xfrm>
          <a:prstGeom prst="line">
            <a:avLst/>
          </a:prstGeom>
          <a:ln w="12700">
            <a:solidFill>
              <a:srgbClr val="E2E8F0"/>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11480" y="6515523"/>
            <a:ext cx="6126480" cy="227755"/>
          </a:xfrm>
          <a:prstGeom prst="rect">
            <a:avLst/>
          </a:prstGeom>
          <a:noFill/>
        </p:spPr>
        <p:txBody>
          <a:bodyPr wrap="square" lIns="36576" tIns="36576" rIns="36576" bIns="36576" anchor="ctr">
            <a:spAutoFit/>
          </a:bodyPr>
          <a:lstStyle/>
          <a:p>
            <a:pPr algn="l">
              <a:lnSpc>
                <a:spcPct val="100000"/>
              </a:lnSpc>
              <a:defRPr sz="900" b="0">
                <a:solidFill>
                  <a:srgbClr val="64748B"/>
                </a:solidFill>
                <a:latin typeface="Inter"/>
              </a:defRPr>
            </a:pPr>
            <a:r>
              <a:rPr sz="1000"/>
              <a:t>EE136: Machine Learning for Wireless Communications</a:t>
            </a:r>
          </a:p>
        </p:txBody>
      </p:sp>
      <p:sp>
        <p:nvSpPr>
          <p:cNvPr id="7" name="TextBox 6"/>
          <p:cNvSpPr txBox="1"/>
          <p:nvPr/>
        </p:nvSpPr>
        <p:spPr>
          <a:xfrm>
            <a:off x="10222992" y="6515523"/>
            <a:ext cx="1554480" cy="227755"/>
          </a:xfrm>
          <a:prstGeom prst="rect">
            <a:avLst/>
          </a:prstGeom>
          <a:noFill/>
        </p:spPr>
        <p:txBody>
          <a:bodyPr wrap="square" lIns="36576" tIns="36576" rIns="36576" bIns="36576" anchor="ctr">
            <a:spAutoFit/>
          </a:bodyPr>
          <a:lstStyle/>
          <a:p>
            <a:pPr algn="r">
              <a:lnSpc>
                <a:spcPct val="100000"/>
              </a:lnSpc>
              <a:defRPr sz="900" b="0">
                <a:solidFill>
                  <a:srgbClr val="64748B"/>
                </a:solidFill>
                <a:latin typeface="Inter"/>
              </a:defRPr>
            </a:pPr>
            <a:r>
              <a:rPr sz="1000"/>
              <a:t>Slide 12 of 12</a:t>
            </a:r>
          </a:p>
        </p:txBody>
      </p:sp>
      <p:sp>
        <p:nvSpPr>
          <p:cNvPr id="8" name="Rounded Rectangle 7"/>
          <p:cNvSpPr/>
          <p:nvPr/>
        </p:nvSpPr>
        <p:spPr>
          <a:xfrm>
            <a:off x="685800" y="1691640"/>
            <a:ext cx="5349240" cy="3337560"/>
          </a:xfrm>
          <a:prstGeom prst="roundRect">
            <a:avLst/>
          </a:prstGeom>
          <a:solidFill>
            <a:srgbClr val="ECFDF5"/>
          </a:solidFill>
          <a:ln w="12700">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60120" y="1973854"/>
            <a:ext cx="2743200" cy="258532"/>
          </a:xfrm>
          <a:prstGeom prst="rect">
            <a:avLst/>
          </a:prstGeom>
          <a:noFill/>
        </p:spPr>
        <p:txBody>
          <a:bodyPr wrap="square" lIns="36576" tIns="36576" rIns="36576" bIns="36576" anchor="ctr">
            <a:spAutoFit/>
          </a:bodyPr>
          <a:lstStyle/>
          <a:p>
            <a:pPr algn="l">
              <a:lnSpc>
                <a:spcPct val="100000"/>
              </a:lnSpc>
              <a:defRPr sz="1000" b="1">
                <a:solidFill>
                  <a:srgbClr val="059669"/>
                </a:solidFill>
                <a:latin typeface="Inter"/>
              </a:defRPr>
            </a:pPr>
            <a:r>
              <a:rPr sz="1200"/>
              <a:t>WHAT WE CAN CLAIM</a:t>
            </a:r>
          </a:p>
        </p:txBody>
      </p:sp>
      <p:sp>
        <p:nvSpPr>
          <p:cNvPr id="10" name="Oval 9"/>
          <p:cNvSpPr/>
          <p:nvPr/>
        </p:nvSpPr>
        <p:spPr>
          <a:xfrm>
            <a:off x="987552" y="2578608"/>
            <a:ext cx="182880" cy="182880"/>
          </a:xfrm>
          <a:prstGeom prst="ellipse">
            <a:avLst/>
          </a:prstGeom>
          <a:solidFill>
            <a:srgbClr val="059669"/>
          </a:solidFill>
          <a:ln>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353312" y="2516249"/>
            <a:ext cx="4160520" cy="289310"/>
          </a:xfrm>
          <a:prstGeom prst="rect">
            <a:avLst/>
          </a:prstGeom>
          <a:noFill/>
        </p:spPr>
        <p:txBody>
          <a:bodyPr wrap="square" lIns="36576" tIns="36576" rIns="36576" bIns="36576" anchor="ctr">
            <a:spAutoFit/>
          </a:bodyPr>
          <a:lstStyle/>
          <a:p>
            <a:pPr algn="l">
              <a:lnSpc>
                <a:spcPct val="100000"/>
              </a:lnSpc>
              <a:defRPr sz="1200" b="0">
                <a:solidFill>
                  <a:srgbClr val="0F172A"/>
                </a:solidFill>
                <a:latin typeface="Inter"/>
              </a:defRPr>
            </a:pPr>
            <a:r>
              <a:rPr sz="1400"/>
              <a:t>Leakage-free paired protocol</a:t>
            </a:r>
          </a:p>
        </p:txBody>
      </p:sp>
      <p:sp>
        <p:nvSpPr>
          <p:cNvPr id="12" name="Oval 11"/>
          <p:cNvSpPr/>
          <p:nvPr/>
        </p:nvSpPr>
        <p:spPr>
          <a:xfrm>
            <a:off x="987552" y="3108960"/>
            <a:ext cx="182880" cy="182880"/>
          </a:xfrm>
          <a:prstGeom prst="ellipse">
            <a:avLst/>
          </a:prstGeom>
          <a:solidFill>
            <a:srgbClr val="059669"/>
          </a:solidFill>
          <a:ln>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353312" y="3046601"/>
            <a:ext cx="4160520" cy="289310"/>
          </a:xfrm>
          <a:prstGeom prst="rect">
            <a:avLst/>
          </a:prstGeom>
          <a:noFill/>
        </p:spPr>
        <p:txBody>
          <a:bodyPr wrap="square" lIns="36576" tIns="36576" rIns="36576" bIns="36576" anchor="ctr">
            <a:spAutoFit/>
          </a:bodyPr>
          <a:lstStyle/>
          <a:p>
            <a:pPr algn="l">
              <a:lnSpc>
                <a:spcPct val="100000"/>
              </a:lnSpc>
              <a:defRPr sz="1200" b="0">
                <a:solidFill>
                  <a:srgbClr val="0F172A"/>
                </a:solidFill>
                <a:latin typeface="Inter"/>
              </a:defRPr>
            </a:pPr>
            <a:r>
              <a:rPr sz="1400"/>
              <a:t>Validation selected phase_only</a:t>
            </a:r>
          </a:p>
        </p:txBody>
      </p:sp>
      <p:sp>
        <p:nvSpPr>
          <p:cNvPr id="14" name="Oval 13"/>
          <p:cNvSpPr/>
          <p:nvPr/>
        </p:nvSpPr>
        <p:spPr>
          <a:xfrm>
            <a:off x="987552" y="3639311"/>
            <a:ext cx="182880" cy="182880"/>
          </a:xfrm>
          <a:prstGeom prst="ellipse">
            <a:avLst/>
          </a:prstGeom>
          <a:solidFill>
            <a:srgbClr val="059669"/>
          </a:solidFill>
          <a:ln>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353312" y="3576953"/>
            <a:ext cx="4160520" cy="289310"/>
          </a:xfrm>
          <a:prstGeom prst="rect">
            <a:avLst/>
          </a:prstGeom>
          <a:noFill/>
        </p:spPr>
        <p:txBody>
          <a:bodyPr wrap="square" lIns="36576" tIns="36576" rIns="36576" bIns="36576" anchor="ctr">
            <a:spAutoFit/>
          </a:bodyPr>
          <a:lstStyle/>
          <a:p>
            <a:pPr algn="l">
              <a:lnSpc>
                <a:spcPct val="100000"/>
              </a:lnSpc>
              <a:defRPr sz="1200" b="1">
                <a:solidFill>
                  <a:srgbClr val="0F172A"/>
                </a:solidFill>
                <a:latin typeface="Inter"/>
              </a:defRPr>
            </a:pPr>
            <a:r>
              <a:rPr sz="1400"/>
              <a:t>+4.72 pp low-SNR accuracy</a:t>
            </a:r>
          </a:p>
        </p:txBody>
      </p:sp>
      <p:sp>
        <p:nvSpPr>
          <p:cNvPr id="16" name="Oval 15"/>
          <p:cNvSpPr/>
          <p:nvPr/>
        </p:nvSpPr>
        <p:spPr>
          <a:xfrm>
            <a:off x="987552" y="4169663"/>
            <a:ext cx="182880" cy="182880"/>
          </a:xfrm>
          <a:prstGeom prst="ellipse">
            <a:avLst/>
          </a:prstGeom>
          <a:solidFill>
            <a:srgbClr val="059669"/>
          </a:solidFill>
          <a:ln>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1353312" y="4107304"/>
            <a:ext cx="4160520" cy="289310"/>
          </a:xfrm>
          <a:prstGeom prst="rect">
            <a:avLst/>
          </a:prstGeom>
          <a:noFill/>
        </p:spPr>
        <p:txBody>
          <a:bodyPr wrap="square" lIns="36576" tIns="36576" rIns="36576" bIns="36576" anchor="ctr">
            <a:spAutoFit/>
          </a:bodyPr>
          <a:lstStyle/>
          <a:p>
            <a:pPr algn="l">
              <a:lnSpc>
                <a:spcPct val="100000"/>
              </a:lnSpc>
              <a:defRPr sz="1200" b="0">
                <a:solidFill>
                  <a:srgbClr val="0F172A"/>
                </a:solidFill>
                <a:latin typeface="Inter"/>
              </a:defRPr>
            </a:pPr>
            <a:r>
              <a:rPr sz="1400"/>
              <a:t>Positive global gain in all 5 seeds</a:t>
            </a:r>
          </a:p>
        </p:txBody>
      </p:sp>
      <p:sp>
        <p:nvSpPr>
          <p:cNvPr id="18" name="Rounded Rectangle 17"/>
          <p:cNvSpPr/>
          <p:nvPr/>
        </p:nvSpPr>
        <p:spPr>
          <a:xfrm>
            <a:off x="6263640" y="1691640"/>
            <a:ext cx="5257800" cy="3337560"/>
          </a:xfrm>
          <a:prstGeom prst="roundRect">
            <a:avLst/>
          </a:prstGeom>
          <a:solidFill>
            <a:srgbClr val="FFF7ED"/>
          </a:solidFill>
          <a:ln w="12700">
            <a:solidFill>
              <a:srgbClr val="FED7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537960" y="1973854"/>
            <a:ext cx="2926080" cy="258532"/>
          </a:xfrm>
          <a:prstGeom prst="rect">
            <a:avLst/>
          </a:prstGeom>
          <a:noFill/>
        </p:spPr>
        <p:txBody>
          <a:bodyPr wrap="square" lIns="36576" tIns="36576" rIns="36576" bIns="36576" anchor="ctr">
            <a:spAutoFit/>
          </a:bodyPr>
          <a:lstStyle/>
          <a:p>
            <a:pPr algn="l">
              <a:lnSpc>
                <a:spcPct val="100000"/>
              </a:lnSpc>
              <a:defRPr sz="1000" b="1">
                <a:solidFill>
                  <a:srgbClr val="D97706"/>
                </a:solidFill>
                <a:latin typeface="Inter"/>
              </a:defRPr>
            </a:pPr>
            <a:r>
              <a:rPr sz="1200"/>
              <a:t>WHAT WE CANNOT CLAIM</a:t>
            </a:r>
          </a:p>
        </p:txBody>
      </p:sp>
      <p:sp>
        <p:nvSpPr>
          <p:cNvPr id="20" name="TextBox 19"/>
          <p:cNvSpPr txBox="1"/>
          <p:nvPr/>
        </p:nvSpPr>
        <p:spPr>
          <a:xfrm>
            <a:off x="6537960" y="2459736"/>
            <a:ext cx="256032" cy="365760"/>
          </a:xfrm>
          <a:prstGeom prst="rect">
            <a:avLst/>
          </a:prstGeom>
          <a:noFill/>
        </p:spPr>
        <p:txBody>
          <a:bodyPr wrap="square" lIns="36576" tIns="36576" rIns="36576" bIns="36576" anchor="ctr">
            <a:spAutoFit/>
          </a:bodyPr>
          <a:lstStyle/>
          <a:p>
            <a:pPr algn="ctr">
              <a:lnSpc>
                <a:spcPct val="100000"/>
              </a:lnSpc>
              <a:defRPr sz="1600" b="1">
                <a:solidFill>
                  <a:srgbClr val="DC2626"/>
                </a:solidFill>
                <a:latin typeface="Inter"/>
              </a:defRPr>
            </a:pPr>
            <a:r>
              <a:t>×</a:t>
            </a:r>
          </a:p>
        </p:txBody>
      </p:sp>
      <p:sp>
        <p:nvSpPr>
          <p:cNvPr id="21" name="TextBox 20"/>
          <p:cNvSpPr txBox="1"/>
          <p:nvPr/>
        </p:nvSpPr>
        <p:spPr>
          <a:xfrm>
            <a:off x="6931152" y="2516249"/>
            <a:ext cx="3977639" cy="289310"/>
          </a:xfrm>
          <a:prstGeom prst="rect">
            <a:avLst/>
          </a:prstGeom>
          <a:noFill/>
        </p:spPr>
        <p:txBody>
          <a:bodyPr wrap="square" lIns="36576" tIns="36576" rIns="36576" bIns="36576" anchor="ctr">
            <a:spAutoFit/>
          </a:bodyPr>
          <a:lstStyle/>
          <a:p>
            <a:pPr algn="l">
              <a:lnSpc>
                <a:spcPct val="100000"/>
              </a:lnSpc>
              <a:defRPr sz="1200" b="0">
                <a:solidFill>
                  <a:srgbClr val="0F172A"/>
                </a:solidFill>
                <a:latin typeface="Inter"/>
              </a:defRPr>
            </a:pPr>
            <a:r>
              <a:rPr sz="1400"/>
              <a:t>Resistance to CFO</a:t>
            </a:r>
          </a:p>
        </p:txBody>
      </p:sp>
      <p:sp>
        <p:nvSpPr>
          <p:cNvPr id="22" name="TextBox 21"/>
          <p:cNvSpPr txBox="1"/>
          <p:nvPr/>
        </p:nvSpPr>
        <p:spPr>
          <a:xfrm>
            <a:off x="6537960" y="2990088"/>
            <a:ext cx="256032" cy="365760"/>
          </a:xfrm>
          <a:prstGeom prst="rect">
            <a:avLst/>
          </a:prstGeom>
          <a:noFill/>
        </p:spPr>
        <p:txBody>
          <a:bodyPr wrap="square" lIns="36576" tIns="36576" rIns="36576" bIns="36576" anchor="ctr">
            <a:spAutoFit/>
          </a:bodyPr>
          <a:lstStyle/>
          <a:p>
            <a:pPr algn="ctr">
              <a:lnSpc>
                <a:spcPct val="100000"/>
              </a:lnSpc>
              <a:defRPr sz="1600" b="1">
                <a:solidFill>
                  <a:srgbClr val="DC2626"/>
                </a:solidFill>
                <a:latin typeface="Inter"/>
              </a:defRPr>
            </a:pPr>
            <a:r>
              <a:t>×</a:t>
            </a:r>
          </a:p>
        </p:txBody>
      </p:sp>
      <p:sp>
        <p:nvSpPr>
          <p:cNvPr id="23" name="TextBox 22"/>
          <p:cNvSpPr txBox="1"/>
          <p:nvPr/>
        </p:nvSpPr>
        <p:spPr>
          <a:xfrm>
            <a:off x="6931152" y="3046601"/>
            <a:ext cx="3977639" cy="289310"/>
          </a:xfrm>
          <a:prstGeom prst="rect">
            <a:avLst/>
          </a:prstGeom>
          <a:noFill/>
        </p:spPr>
        <p:txBody>
          <a:bodyPr wrap="square" lIns="36576" tIns="36576" rIns="36576" bIns="36576" anchor="ctr">
            <a:spAutoFit/>
          </a:bodyPr>
          <a:lstStyle/>
          <a:p>
            <a:pPr algn="l">
              <a:lnSpc>
                <a:spcPct val="100000"/>
              </a:lnSpc>
              <a:defRPr sz="1200" b="0">
                <a:solidFill>
                  <a:srgbClr val="0F172A"/>
                </a:solidFill>
                <a:latin typeface="Inter"/>
              </a:defRPr>
            </a:pPr>
            <a:r>
              <a:rPr sz="1400"/>
              <a:t>Robustness to fading / multipath</a:t>
            </a:r>
          </a:p>
        </p:txBody>
      </p:sp>
      <p:sp>
        <p:nvSpPr>
          <p:cNvPr id="24" name="TextBox 23"/>
          <p:cNvSpPr txBox="1"/>
          <p:nvPr/>
        </p:nvSpPr>
        <p:spPr>
          <a:xfrm>
            <a:off x="6537960" y="3520439"/>
            <a:ext cx="256032" cy="365760"/>
          </a:xfrm>
          <a:prstGeom prst="rect">
            <a:avLst/>
          </a:prstGeom>
          <a:noFill/>
        </p:spPr>
        <p:txBody>
          <a:bodyPr wrap="square" lIns="36576" tIns="36576" rIns="36576" bIns="36576" anchor="ctr">
            <a:spAutoFit/>
          </a:bodyPr>
          <a:lstStyle/>
          <a:p>
            <a:pPr algn="ctr">
              <a:lnSpc>
                <a:spcPct val="100000"/>
              </a:lnSpc>
              <a:defRPr sz="1600" b="1">
                <a:solidFill>
                  <a:srgbClr val="DC2626"/>
                </a:solidFill>
                <a:latin typeface="Inter"/>
              </a:defRPr>
            </a:pPr>
            <a:r>
              <a:t>×</a:t>
            </a:r>
          </a:p>
        </p:txBody>
      </p:sp>
      <p:sp>
        <p:nvSpPr>
          <p:cNvPr id="25" name="TextBox 24"/>
          <p:cNvSpPr txBox="1"/>
          <p:nvPr/>
        </p:nvSpPr>
        <p:spPr>
          <a:xfrm>
            <a:off x="6931152" y="3576953"/>
            <a:ext cx="3977639" cy="289310"/>
          </a:xfrm>
          <a:prstGeom prst="rect">
            <a:avLst/>
          </a:prstGeom>
          <a:noFill/>
        </p:spPr>
        <p:txBody>
          <a:bodyPr wrap="square" lIns="36576" tIns="36576" rIns="36576" bIns="36576" anchor="ctr">
            <a:spAutoFit/>
          </a:bodyPr>
          <a:lstStyle/>
          <a:p>
            <a:pPr algn="l">
              <a:lnSpc>
                <a:spcPct val="100000"/>
              </a:lnSpc>
              <a:defRPr sz="1200" b="0">
                <a:solidFill>
                  <a:srgbClr val="0F172A"/>
                </a:solidFill>
                <a:latin typeface="Inter"/>
              </a:defRPr>
            </a:pPr>
            <a:r>
              <a:rPr sz="1400"/>
              <a:t>Generalization to real RF hardware</a:t>
            </a:r>
          </a:p>
        </p:txBody>
      </p:sp>
      <p:sp>
        <p:nvSpPr>
          <p:cNvPr id="26" name="TextBox 25"/>
          <p:cNvSpPr txBox="1"/>
          <p:nvPr/>
        </p:nvSpPr>
        <p:spPr>
          <a:xfrm>
            <a:off x="6537960" y="4050791"/>
            <a:ext cx="256032" cy="365760"/>
          </a:xfrm>
          <a:prstGeom prst="rect">
            <a:avLst/>
          </a:prstGeom>
          <a:noFill/>
        </p:spPr>
        <p:txBody>
          <a:bodyPr wrap="square" lIns="36576" tIns="36576" rIns="36576" bIns="36576" anchor="ctr">
            <a:spAutoFit/>
          </a:bodyPr>
          <a:lstStyle/>
          <a:p>
            <a:pPr algn="ctr">
              <a:lnSpc>
                <a:spcPct val="100000"/>
              </a:lnSpc>
              <a:defRPr sz="1600" b="1">
                <a:solidFill>
                  <a:srgbClr val="DC2626"/>
                </a:solidFill>
                <a:latin typeface="Inter"/>
              </a:defRPr>
            </a:pPr>
            <a:r>
              <a:t>×</a:t>
            </a:r>
          </a:p>
        </p:txBody>
      </p:sp>
      <p:sp>
        <p:nvSpPr>
          <p:cNvPr id="27" name="TextBox 26"/>
          <p:cNvSpPr txBox="1"/>
          <p:nvPr/>
        </p:nvSpPr>
        <p:spPr>
          <a:xfrm>
            <a:off x="6931152" y="4107304"/>
            <a:ext cx="3977639" cy="289310"/>
          </a:xfrm>
          <a:prstGeom prst="rect">
            <a:avLst/>
          </a:prstGeom>
          <a:noFill/>
        </p:spPr>
        <p:txBody>
          <a:bodyPr wrap="square" lIns="36576" tIns="36576" rIns="36576" bIns="36576" anchor="ctr">
            <a:spAutoFit/>
          </a:bodyPr>
          <a:lstStyle/>
          <a:p>
            <a:pPr algn="l">
              <a:lnSpc>
                <a:spcPct val="100000"/>
              </a:lnSpc>
              <a:defRPr sz="1200" b="0">
                <a:solidFill>
                  <a:srgbClr val="0F172A"/>
                </a:solidFill>
                <a:latin typeface="Inter"/>
              </a:defRPr>
            </a:pPr>
            <a:r>
              <a:rPr sz="1400"/>
              <a:t>Stable SNR80 gain across seeds</a:t>
            </a:r>
          </a:p>
        </p:txBody>
      </p:sp>
      <p:sp>
        <p:nvSpPr>
          <p:cNvPr id="28" name="Rounded Rectangle 27"/>
          <p:cNvSpPr/>
          <p:nvPr/>
        </p:nvSpPr>
        <p:spPr>
          <a:xfrm>
            <a:off x="1143000" y="5376672"/>
            <a:ext cx="9921240" cy="594360"/>
          </a:xfrm>
          <a:prstGeom prst="roundRect">
            <a:avLst/>
          </a:prstGeom>
          <a:solidFill>
            <a:srgbClr val="0F172A"/>
          </a:solidFill>
          <a:ln w="1270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1389888" y="5510909"/>
            <a:ext cx="9418320" cy="289310"/>
          </a:xfrm>
          <a:prstGeom prst="rect">
            <a:avLst/>
          </a:prstGeom>
          <a:noFill/>
        </p:spPr>
        <p:txBody>
          <a:bodyPr wrap="square" lIns="36576" tIns="36576" rIns="36576" bIns="36576" anchor="ctr">
            <a:spAutoFit/>
          </a:bodyPr>
          <a:lstStyle/>
          <a:p>
            <a:pPr algn="ctr">
              <a:lnSpc>
                <a:spcPct val="100000"/>
              </a:lnSpc>
              <a:defRPr sz="1200" b="1">
                <a:solidFill>
                  <a:srgbClr val="FFFFFF"/>
                </a:solidFill>
                <a:latin typeface="Inter"/>
              </a:defRPr>
            </a:pPr>
            <a:r>
              <a:rPr sz="1400"/>
              <a:t>NEXT: richer channels · multiple dataset seeds · over-the-air RF data</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11480" y="190774"/>
            <a:ext cx="3840480" cy="258532"/>
          </a:xfrm>
          <a:prstGeom prst="rect">
            <a:avLst/>
          </a:prstGeom>
          <a:noFill/>
        </p:spPr>
        <p:txBody>
          <a:bodyPr wrap="square" lIns="36576" tIns="36576" rIns="36576" bIns="36576" anchor="ctr">
            <a:spAutoFit/>
          </a:bodyPr>
          <a:lstStyle/>
          <a:p>
            <a:pPr algn="l">
              <a:lnSpc>
                <a:spcPct val="100000"/>
              </a:lnSpc>
              <a:defRPr sz="1000" b="1">
                <a:solidFill>
                  <a:srgbClr val="0284C7"/>
                </a:solidFill>
                <a:latin typeface="Inter"/>
              </a:defRPr>
            </a:pPr>
            <a:r>
              <a:rPr sz="1200"/>
              <a:t>APPENDIX A</a:t>
            </a:r>
          </a:p>
        </p:txBody>
      </p:sp>
      <p:sp>
        <p:nvSpPr>
          <p:cNvPr id="3" name="TextBox 2"/>
          <p:cNvSpPr txBox="1"/>
          <p:nvPr/>
        </p:nvSpPr>
        <p:spPr>
          <a:xfrm>
            <a:off x="411480" y="438912"/>
            <a:ext cx="10744200" cy="640080"/>
          </a:xfrm>
          <a:prstGeom prst="rect">
            <a:avLst/>
          </a:prstGeom>
          <a:noFill/>
        </p:spPr>
        <p:txBody>
          <a:bodyPr wrap="square" lIns="36576" tIns="36576" rIns="36576" bIns="36576" anchor="ctr">
            <a:spAutoFit/>
          </a:bodyPr>
          <a:lstStyle/>
          <a:p>
            <a:pPr algn="l">
              <a:lnSpc>
                <a:spcPct val="100000"/>
              </a:lnSpc>
              <a:defRPr sz="3000" b="1">
                <a:solidFill>
                  <a:srgbClr val="0F172A"/>
                </a:solidFill>
                <a:latin typeface="Manrope"/>
              </a:defRPr>
            </a:pPr>
            <a:r>
              <a:t>What do seeds 42–46 mean?</a:t>
            </a:r>
          </a:p>
        </p:txBody>
      </p:sp>
      <p:sp>
        <p:nvSpPr>
          <p:cNvPr id="4" name="TextBox 3"/>
          <p:cNvSpPr txBox="1"/>
          <p:nvPr/>
        </p:nvSpPr>
        <p:spPr>
          <a:xfrm>
            <a:off x="411480" y="1080641"/>
            <a:ext cx="10561320" cy="289310"/>
          </a:xfrm>
          <a:prstGeom prst="rect">
            <a:avLst/>
          </a:prstGeom>
          <a:noFill/>
        </p:spPr>
        <p:txBody>
          <a:bodyPr wrap="square" lIns="36576" tIns="36576" rIns="36576" bIns="36576" anchor="ctr">
            <a:spAutoFit/>
          </a:bodyPr>
          <a:lstStyle/>
          <a:p>
            <a:pPr algn="l">
              <a:lnSpc>
                <a:spcPct val="100000"/>
              </a:lnSpc>
              <a:defRPr sz="1200" b="0">
                <a:solidFill>
                  <a:srgbClr val="64748B"/>
                </a:solidFill>
                <a:latin typeface="Inter"/>
              </a:defRPr>
            </a:pPr>
            <a:r>
              <a:rPr sz="1400"/>
              <a:t>Training variability, not five independent datasets</a:t>
            </a:r>
          </a:p>
        </p:txBody>
      </p:sp>
      <p:cxnSp>
        <p:nvCxnSpPr>
          <p:cNvPr id="5" name="Connector 4"/>
          <p:cNvCxnSpPr/>
          <p:nvPr/>
        </p:nvCxnSpPr>
        <p:spPr>
          <a:xfrm>
            <a:off x="411480" y="1435608"/>
            <a:ext cx="11365992" cy="0"/>
          </a:xfrm>
          <a:prstGeom prst="line">
            <a:avLst/>
          </a:prstGeom>
          <a:ln w="12700">
            <a:solidFill>
              <a:srgbClr val="E2E8F0"/>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11480" y="6515523"/>
            <a:ext cx="6126480" cy="227755"/>
          </a:xfrm>
          <a:prstGeom prst="rect">
            <a:avLst/>
          </a:prstGeom>
          <a:noFill/>
        </p:spPr>
        <p:txBody>
          <a:bodyPr wrap="square" lIns="36576" tIns="36576" rIns="36576" bIns="36576" anchor="ctr">
            <a:spAutoFit/>
          </a:bodyPr>
          <a:lstStyle/>
          <a:p>
            <a:pPr algn="l">
              <a:lnSpc>
                <a:spcPct val="100000"/>
              </a:lnSpc>
              <a:defRPr sz="900" b="0">
                <a:solidFill>
                  <a:srgbClr val="64748B"/>
                </a:solidFill>
                <a:latin typeface="Inter"/>
              </a:defRPr>
            </a:pPr>
            <a:r>
              <a:rPr sz="1000"/>
              <a:t>EE136: Machine Learning for Wireless Communications</a:t>
            </a:r>
          </a:p>
        </p:txBody>
      </p:sp>
      <p:sp>
        <p:nvSpPr>
          <p:cNvPr id="7" name="TextBox 6"/>
          <p:cNvSpPr txBox="1"/>
          <p:nvPr/>
        </p:nvSpPr>
        <p:spPr>
          <a:xfrm>
            <a:off x="10222992" y="6515523"/>
            <a:ext cx="1554480" cy="227755"/>
          </a:xfrm>
          <a:prstGeom prst="rect">
            <a:avLst/>
          </a:prstGeom>
          <a:noFill/>
        </p:spPr>
        <p:txBody>
          <a:bodyPr wrap="square" lIns="36576" tIns="36576" rIns="36576" bIns="36576" anchor="ctr">
            <a:spAutoFit/>
          </a:bodyPr>
          <a:lstStyle/>
          <a:p>
            <a:pPr algn="r">
              <a:lnSpc>
                <a:spcPct val="100000"/>
              </a:lnSpc>
              <a:defRPr sz="900" b="0">
                <a:solidFill>
                  <a:srgbClr val="64748B"/>
                </a:solidFill>
                <a:latin typeface="Inter"/>
              </a:defRPr>
            </a:pPr>
            <a:r>
              <a:rPr sz="1000"/>
              <a:t>Appendix A</a:t>
            </a:r>
          </a:p>
        </p:txBody>
      </p:sp>
      <p:sp>
        <p:nvSpPr>
          <p:cNvPr id="8" name="Rounded Rectangle 7"/>
          <p:cNvSpPr/>
          <p:nvPr/>
        </p:nvSpPr>
        <p:spPr>
          <a:xfrm>
            <a:off x="713232" y="1783080"/>
            <a:ext cx="5138928" cy="123444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41832" y="1973854"/>
            <a:ext cx="1965960" cy="258532"/>
          </a:xfrm>
          <a:prstGeom prst="rect">
            <a:avLst/>
          </a:prstGeom>
          <a:noFill/>
        </p:spPr>
        <p:txBody>
          <a:bodyPr wrap="square" lIns="36576" tIns="36576" rIns="36576" bIns="36576" anchor="ctr">
            <a:spAutoFit/>
          </a:bodyPr>
          <a:lstStyle/>
          <a:p>
            <a:pPr algn="l">
              <a:lnSpc>
                <a:spcPct val="100000"/>
              </a:lnSpc>
              <a:defRPr sz="1000" b="1">
                <a:solidFill>
                  <a:srgbClr val="0284C7"/>
                </a:solidFill>
                <a:latin typeface="Inter"/>
              </a:defRPr>
            </a:pPr>
            <a:r>
              <a:rPr sz="1200"/>
              <a:t>INITIALIZATION</a:t>
            </a:r>
          </a:p>
        </p:txBody>
      </p:sp>
      <p:sp>
        <p:nvSpPr>
          <p:cNvPr id="10" name="TextBox 9"/>
          <p:cNvSpPr txBox="1"/>
          <p:nvPr/>
        </p:nvSpPr>
        <p:spPr>
          <a:xfrm>
            <a:off x="941832" y="2383661"/>
            <a:ext cx="4617720" cy="289310"/>
          </a:xfrm>
          <a:prstGeom prst="rect">
            <a:avLst/>
          </a:prstGeom>
          <a:noFill/>
        </p:spPr>
        <p:txBody>
          <a:bodyPr wrap="square" lIns="36576" tIns="36576" rIns="36576" bIns="36576" anchor="ctr">
            <a:spAutoFit/>
          </a:bodyPr>
          <a:lstStyle/>
          <a:p>
            <a:pPr algn="l">
              <a:lnSpc>
                <a:spcPct val="100000"/>
              </a:lnSpc>
              <a:defRPr sz="1200" b="0">
                <a:solidFill>
                  <a:srgbClr val="0F172A"/>
                </a:solidFill>
                <a:latin typeface="Inter"/>
              </a:defRPr>
            </a:pPr>
            <a:r>
              <a:rPr sz="1400"/>
              <a:t>Controls model weight initialization.</a:t>
            </a:r>
          </a:p>
        </p:txBody>
      </p:sp>
      <p:sp>
        <p:nvSpPr>
          <p:cNvPr id="11" name="Rounded Rectangle 10"/>
          <p:cNvSpPr/>
          <p:nvPr/>
        </p:nvSpPr>
        <p:spPr>
          <a:xfrm>
            <a:off x="6291072" y="1783080"/>
            <a:ext cx="5138928" cy="123444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519672" y="1973854"/>
            <a:ext cx="1965960" cy="258532"/>
          </a:xfrm>
          <a:prstGeom prst="rect">
            <a:avLst/>
          </a:prstGeom>
          <a:noFill/>
        </p:spPr>
        <p:txBody>
          <a:bodyPr wrap="square" lIns="36576" tIns="36576" rIns="36576" bIns="36576" anchor="ctr">
            <a:spAutoFit/>
          </a:bodyPr>
          <a:lstStyle/>
          <a:p>
            <a:pPr algn="l">
              <a:lnSpc>
                <a:spcPct val="100000"/>
              </a:lnSpc>
              <a:defRPr sz="1000" b="1">
                <a:solidFill>
                  <a:srgbClr val="0284C7"/>
                </a:solidFill>
                <a:latin typeface="Inter"/>
              </a:defRPr>
            </a:pPr>
            <a:r>
              <a:rPr sz="1200"/>
              <a:t>DROPOUT</a:t>
            </a:r>
          </a:p>
        </p:txBody>
      </p:sp>
      <p:sp>
        <p:nvSpPr>
          <p:cNvPr id="13" name="TextBox 12"/>
          <p:cNvSpPr txBox="1"/>
          <p:nvPr/>
        </p:nvSpPr>
        <p:spPr>
          <a:xfrm>
            <a:off x="6519672" y="2383661"/>
            <a:ext cx="4617720" cy="289310"/>
          </a:xfrm>
          <a:prstGeom prst="rect">
            <a:avLst/>
          </a:prstGeom>
          <a:noFill/>
        </p:spPr>
        <p:txBody>
          <a:bodyPr wrap="square" lIns="36576" tIns="36576" rIns="36576" bIns="36576" anchor="ctr">
            <a:spAutoFit/>
          </a:bodyPr>
          <a:lstStyle/>
          <a:p>
            <a:pPr algn="l">
              <a:lnSpc>
                <a:spcPct val="100000"/>
              </a:lnSpc>
              <a:defRPr sz="1200" b="0">
                <a:solidFill>
                  <a:srgbClr val="0F172A"/>
                </a:solidFill>
                <a:latin typeface="Inter"/>
              </a:defRPr>
            </a:pPr>
            <a:r>
              <a:rPr sz="1400"/>
              <a:t>Controls stochastic masking during training.</a:t>
            </a:r>
          </a:p>
        </p:txBody>
      </p:sp>
      <p:sp>
        <p:nvSpPr>
          <p:cNvPr id="14" name="Rounded Rectangle 13"/>
          <p:cNvSpPr/>
          <p:nvPr/>
        </p:nvSpPr>
        <p:spPr>
          <a:xfrm>
            <a:off x="713232" y="3383280"/>
            <a:ext cx="5138928" cy="123444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941832" y="3574054"/>
            <a:ext cx="1965960" cy="258532"/>
          </a:xfrm>
          <a:prstGeom prst="rect">
            <a:avLst/>
          </a:prstGeom>
          <a:noFill/>
        </p:spPr>
        <p:txBody>
          <a:bodyPr wrap="square" lIns="36576" tIns="36576" rIns="36576" bIns="36576" anchor="ctr">
            <a:spAutoFit/>
          </a:bodyPr>
          <a:lstStyle/>
          <a:p>
            <a:pPr algn="l">
              <a:lnSpc>
                <a:spcPct val="100000"/>
              </a:lnSpc>
              <a:defRPr sz="1000" b="1">
                <a:solidFill>
                  <a:srgbClr val="0284C7"/>
                </a:solidFill>
                <a:latin typeface="Inter"/>
              </a:defRPr>
            </a:pPr>
            <a:r>
              <a:rPr sz="1200"/>
              <a:t>SHUFFLE</a:t>
            </a:r>
          </a:p>
        </p:txBody>
      </p:sp>
      <p:sp>
        <p:nvSpPr>
          <p:cNvPr id="16" name="TextBox 15"/>
          <p:cNvSpPr txBox="1"/>
          <p:nvPr/>
        </p:nvSpPr>
        <p:spPr>
          <a:xfrm>
            <a:off x="941832" y="3983861"/>
            <a:ext cx="4617720" cy="289310"/>
          </a:xfrm>
          <a:prstGeom prst="rect">
            <a:avLst/>
          </a:prstGeom>
          <a:noFill/>
        </p:spPr>
        <p:txBody>
          <a:bodyPr wrap="square" lIns="36576" tIns="36576" rIns="36576" bIns="36576" anchor="ctr">
            <a:spAutoFit/>
          </a:bodyPr>
          <a:lstStyle/>
          <a:p>
            <a:pPr algn="l">
              <a:lnSpc>
                <a:spcPct val="100000"/>
              </a:lnSpc>
              <a:defRPr sz="1200" b="0">
                <a:solidFill>
                  <a:srgbClr val="0F172A"/>
                </a:solidFill>
                <a:latin typeface="Inter"/>
              </a:defRPr>
            </a:pPr>
            <a:r>
              <a:rPr sz="1400"/>
              <a:t>Controls mini-batch order.</a:t>
            </a:r>
          </a:p>
        </p:txBody>
      </p:sp>
      <p:sp>
        <p:nvSpPr>
          <p:cNvPr id="17" name="Rounded Rectangle 16"/>
          <p:cNvSpPr/>
          <p:nvPr/>
        </p:nvSpPr>
        <p:spPr>
          <a:xfrm>
            <a:off x="6291072" y="3383280"/>
            <a:ext cx="5138928" cy="123444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519672" y="3574054"/>
            <a:ext cx="1965960" cy="258532"/>
          </a:xfrm>
          <a:prstGeom prst="rect">
            <a:avLst/>
          </a:prstGeom>
          <a:noFill/>
        </p:spPr>
        <p:txBody>
          <a:bodyPr wrap="square" lIns="36576" tIns="36576" rIns="36576" bIns="36576" anchor="ctr">
            <a:spAutoFit/>
          </a:bodyPr>
          <a:lstStyle/>
          <a:p>
            <a:pPr algn="l">
              <a:lnSpc>
                <a:spcPct val="100000"/>
              </a:lnSpc>
              <a:defRPr sz="1000" b="1">
                <a:solidFill>
                  <a:srgbClr val="0284C7"/>
                </a:solidFill>
                <a:latin typeface="Inter"/>
              </a:defRPr>
            </a:pPr>
            <a:r>
              <a:rPr sz="1200"/>
              <a:t>PAIRING</a:t>
            </a:r>
          </a:p>
        </p:txBody>
      </p:sp>
      <p:sp>
        <p:nvSpPr>
          <p:cNvPr id="19" name="TextBox 18"/>
          <p:cNvSpPr txBox="1"/>
          <p:nvPr/>
        </p:nvSpPr>
        <p:spPr>
          <a:xfrm>
            <a:off x="6519672" y="3983861"/>
            <a:ext cx="4617720" cy="289310"/>
          </a:xfrm>
          <a:prstGeom prst="rect">
            <a:avLst/>
          </a:prstGeom>
          <a:noFill/>
        </p:spPr>
        <p:txBody>
          <a:bodyPr wrap="square" lIns="36576" tIns="36576" rIns="36576" bIns="36576" anchor="ctr">
            <a:spAutoFit/>
          </a:bodyPr>
          <a:lstStyle/>
          <a:p>
            <a:pPr algn="l">
              <a:lnSpc>
                <a:spcPct val="100000"/>
              </a:lnSpc>
              <a:defRPr sz="1200" b="0">
                <a:solidFill>
                  <a:srgbClr val="0F172A"/>
                </a:solidFill>
                <a:latin typeface="Inter"/>
              </a:defRPr>
            </a:pPr>
            <a:r>
              <a:rPr sz="1400"/>
              <a:t>Baseline and augmentation share the same seed conditions.</a:t>
            </a:r>
          </a:p>
        </p:txBody>
      </p:sp>
      <p:sp>
        <p:nvSpPr>
          <p:cNvPr id="20" name="TextBox 19"/>
          <p:cNvSpPr txBox="1"/>
          <p:nvPr/>
        </p:nvSpPr>
        <p:spPr>
          <a:xfrm>
            <a:off x="1097280" y="5353788"/>
            <a:ext cx="9966960" cy="320088"/>
          </a:xfrm>
          <a:prstGeom prst="rect">
            <a:avLst/>
          </a:prstGeom>
          <a:noFill/>
        </p:spPr>
        <p:txBody>
          <a:bodyPr wrap="square" lIns="36576" tIns="36576" rIns="36576" bIns="36576" anchor="ctr">
            <a:spAutoFit/>
          </a:bodyPr>
          <a:lstStyle/>
          <a:p>
            <a:pPr algn="ctr">
              <a:lnSpc>
                <a:spcPct val="100000"/>
              </a:lnSpc>
              <a:defRPr sz="1400" b="1">
                <a:solidFill>
                  <a:srgbClr val="0F172A"/>
                </a:solidFill>
                <a:latin typeface="Inter"/>
              </a:defRPr>
            </a:pPr>
            <a:r>
              <a:rPr sz="1600"/>
              <a:t>Mean ± SD across seeds estimates training randomness on one frozen dataset.</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11480" y="190774"/>
            <a:ext cx="3840480" cy="258532"/>
          </a:xfrm>
          <a:prstGeom prst="rect">
            <a:avLst/>
          </a:prstGeom>
          <a:noFill/>
        </p:spPr>
        <p:txBody>
          <a:bodyPr wrap="square" lIns="36576" tIns="36576" rIns="36576" bIns="36576" anchor="ctr">
            <a:spAutoFit/>
          </a:bodyPr>
          <a:lstStyle/>
          <a:p>
            <a:pPr algn="l">
              <a:lnSpc>
                <a:spcPct val="100000"/>
              </a:lnSpc>
              <a:defRPr sz="1000" b="1">
                <a:solidFill>
                  <a:srgbClr val="0284C7"/>
                </a:solidFill>
                <a:latin typeface="Inter"/>
              </a:defRPr>
            </a:pPr>
            <a:r>
              <a:rPr sz="1200"/>
              <a:t>APPENDIX B</a:t>
            </a:r>
          </a:p>
        </p:txBody>
      </p:sp>
      <p:sp>
        <p:nvSpPr>
          <p:cNvPr id="3" name="TextBox 2"/>
          <p:cNvSpPr txBox="1"/>
          <p:nvPr/>
        </p:nvSpPr>
        <p:spPr>
          <a:xfrm>
            <a:off x="411480" y="438912"/>
            <a:ext cx="10744200" cy="640080"/>
          </a:xfrm>
          <a:prstGeom prst="rect">
            <a:avLst/>
          </a:prstGeom>
          <a:noFill/>
        </p:spPr>
        <p:txBody>
          <a:bodyPr wrap="square" lIns="36576" tIns="36576" rIns="36576" bIns="36576" anchor="ctr">
            <a:spAutoFit/>
          </a:bodyPr>
          <a:lstStyle/>
          <a:p>
            <a:pPr algn="l">
              <a:lnSpc>
                <a:spcPct val="100000"/>
              </a:lnSpc>
              <a:defRPr sz="3000" b="1">
                <a:solidFill>
                  <a:srgbClr val="0F172A"/>
                </a:solidFill>
                <a:latin typeface="Manrope"/>
              </a:defRPr>
            </a:pPr>
            <a:r>
              <a:t>Constant phase offset is not CFO</a:t>
            </a:r>
          </a:p>
        </p:txBody>
      </p:sp>
      <p:sp>
        <p:nvSpPr>
          <p:cNvPr id="4" name="TextBox 3"/>
          <p:cNvSpPr txBox="1"/>
          <p:nvPr/>
        </p:nvSpPr>
        <p:spPr>
          <a:xfrm>
            <a:off x="411480" y="1080641"/>
            <a:ext cx="10561320" cy="289310"/>
          </a:xfrm>
          <a:prstGeom prst="rect">
            <a:avLst/>
          </a:prstGeom>
          <a:noFill/>
        </p:spPr>
        <p:txBody>
          <a:bodyPr wrap="square" lIns="36576" tIns="36576" rIns="36576" bIns="36576" anchor="ctr">
            <a:spAutoFit/>
          </a:bodyPr>
          <a:lstStyle/>
          <a:p>
            <a:pPr algn="l">
              <a:lnSpc>
                <a:spcPct val="100000"/>
              </a:lnSpc>
              <a:defRPr sz="1200" b="0">
                <a:solidFill>
                  <a:srgbClr val="64748B"/>
                </a:solidFill>
                <a:latin typeface="Inter"/>
              </a:defRPr>
            </a:pPr>
            <a:r>
              <a:rPr sz="1400"/>
              <a:t>The project ablates only a burst-wide constant rotation</a:t>
            </a:r>
          </a:p>
        </p:txBody>
      </p:sp>
      <p:cxnSp>
        <p:nvCxnSpPr>
          <p:cNvPr id="5" name="Connector 4"/>
          <p:cNvCxnSpPr/>
          <p:nvPr/>
        </p:nvCxnSpPr>
        <p:spPr>
          <a:xfrm>
            <a:off x="411480" y="1435608"/>
            <a:ext cx="11365992" cy="0"/>
          </a:xfrm>
          <a:prstGeom prst="line">
            <a:avLst/>
          </a:prstGeom>
          <a:ln w="12700">
            <a:solidFill>
              <a:srgbClr val="E2E8F0"/>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11480" y="6515523"/>
            <a:ext cx="6126480" cy="227755"/>
          </a:xfrm>
          <a:prstGeom prst="rect">
            <a:avLst/>
          </a:prstGeom>
          <a:noFill/>
        </p:spPr>
        <p:txBody>
          <a:bodyPr wrap="square" lIns="36576" tIns="36576" rIns="36576" bIns="36576" anchor="ctr">
            <a:spAutoFit/>
          </a:bodyPr>
          <a:lstStyle/>
          <a:p>
            <a:pPr algn="l">
              <a:lnSpc>
                <a:spcPct val="100000"/>
              </a:lnSpc>
              <a:defRPr sz="900" b="0">
                <a:solidFill>
                  <a:srgbClr val="64748B"/>
                </a:solidFill>
                <a:latin typeface="Inter"/>
              </a:defRPr>
            </a:pPr>
            <a:r>
              <a:rPr sz="1000"/>
              <a:t>EE136: Machine Learning for Wireless Communications</a:t>
            </a:r>
          </a:p>
        </p:txBody>
      </p:sp>
      <p:sp>
        <p:nvSpPr>
          <p:cNvPr id="7" name="TextBox 6"/>
          <p:cNvSpPr txBox="1"/>
          <p:nvPr/>
        </p:nvSpPr>
        <p:spPr>
          <a:xfrm>
            <a:off x="10222992" y="6515523"/>
            <a:ext cx="1554480" cy="227755"/>
          </a:xfrm>
          <a:prstGeom prst="rect">
            <a:avLst/>
          </a:prstGeom>
          <a:noFill/>
        </p:spPr>
        <p:txBody>
          <a:bodyPr wrap="square" lIns="36576" tIns="36576" rIns="36576" bIns="36576" anchor="ctr">
            <a:spAutoFit/>
          </a:bodyPr>
          <a:lstStyle/>
          <a:p>
            <a:pPr algn="r">
              <a:lnSpc>
                <a:spcPct val="100000"/>
              </a:lnSpc>
              <a:defRPr sz="900" b="0">
                <a:solidFill>
                  <a:srgbClr val="64748B"/>
                </a:solidFill>
                <a:latin typeface="Inter"/>
              </a:defRPr>
            </a:pPr>
            <a:r>
              <a:rPr sz="1000"/>
              <a:t>Appendix B</a:t>
            </a:r>
          </a:p>
        </p:txBody>
      </p:sp>
      <p:sp>
        <p:nvSpPr>
          <p:cNvPr id="8" name="Rounded Rectangle 7"/>
          <p:cNvSpPr/>
          <p:nvPr/>
        </p:nvSpPr>
        <p:spPr>
          <a:xfrm>
            <a:off x="822960" y="1828800"/>
            <a:ext cx="4983480" cy="2468880"/>
          </a:xfrm>
          <a:prstGeom prst="roundRect">
            <a:avLst/>
          </a:prstGeom>
          <a:solidFill>
            <a:srgbClr val="F0F9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143000" y="2121408"/>
            <a:ext cx="3474720" cy="274320"/>
          </a:xfrm>
          <a:prstGeom prst="rect">
            <a:avLst/>
          </a:prstGeom>
          <a:noFill/>
        </p:spPr>
        <p:txBody>
          <a:bodyPr wrap="square" lIns="36576" tIns="36576" rIns="36576" bIns="36576" anchor="ctr">
            <a:spAutoFit/>
          </a:bodyPr>
          <a:lstStyle/>
          <a:p>
            <a:pPr algn="l">
              <a:lnSpc>
                <a:spcPct val="100000"/>
              </a:lnSpc>
              <a:defRPr sz="1100" b="1">
                <a:solidFill>
                  <a:srgbClr val="0284C7"/>
                </a:solidFill>
                <a:latin typeface="Inter"/>
              </a:defRPr>
            </a:pPr>
            <a:r>
              <a:rPr sz="1300"/>
              <a:t>CONSTANT PHASE OFFSET</a:t>
            </a:r>
          </a:p>
        </p:txBody>
      </p:sp>
      <p:sp>
        <p:nvSpPr>
          <p:cNvPr id="10" name="TextBox 9"/>
          <p:cNvSpPr txBox="1"/>
          <p:nvPr/>
        </p:nvSpPr>
        <p:spPr>
          <a:xfrm>
            <a:off x="1143000" y="2743200"/>
            <a:ext cx="4297680" cy="502920"/>
          </a:xfrm>
          <a:prstGeom prst="rect">
            <a:avLst/>
          </a:prstGeom>
          <a:noFill/>
        </p:spPr>
        <p:txBody>
          <a:bodyPr wrap="square" lIns="36576" tIns="36576" rIns="36576" bIns="36576" anchor="ctr">
            <a:spAutoFit/>
          </a:bodyPr>
          <a:lstStyle/>
          <a:p>
            <a:pPr algn="ctr">
              <a:lnSpc>
                <a:spcPct val="100000"/>
              </a:lnSpc>
              <a:defRPr sz="2400" b="1">
                <a:solidFill>
                  <a:srgbClr val="0F172A"/>
                </a:solidFill>
                <a:latin typeface="Consolas"/>
              </a:defRPr>
            </a:pPr>
            <a:r>
              <a:t>s′[n] = s[n]eʲᶿ</a:t>
            </a:r>
          </a:p>
        </p:txBody>
      </p:sp>
      <p:sp>
        <p:nvSpPr>
          <p:cNvPr id="11" name="TextBox 10"/>
          <p:cNvSpPr txBox="1"/>
          <p:nvPr/>
        </p:nvSpPr>
        <p:spPr>
          <a:xfrm>
            <a:off x="1143000" y="3599813"/>
            <a:ext cx="4297680" cy="289310"/>
          </a:xfrm>
          <a:prstGeom prst="rect">
            <a:avLst/>
          </a:prstGeom>
          <a:noFill/>
        </p:spPr>
        <p:txBody>
          <a:bodyPr wrap="square" lIns="36576" tIns="36576" rIns="36576" bIns="36576" anchor="ctr">
            <a:spAutoFit/>
          </a:bodyPr>
          <a:lstStyle/>
          <a:p>
            <a:pPr algn="ctr">
              <a:lnSpc>
                <a:spcPct val="100000"/>
              </a:lnSpc>
              <a:defRPr sz="1200" b="0">
                <a:solidFill>
                  <a:srgbClr val="475569"/>
                </a:solidFill>
                <a:latin typeface="Inter"/>
              </a:defRPr>
            </a:pPr>
            <a:r>
              <a:rPr sz="1400"/>
              <a:t>Same angle θ for the entire burst</a:t>
            </a:r>
          </a:p>
        </p:txBody>
      </p:sp>
      <p:sp>
        <p:nvSpPr>
          <p:cNvPr id="12" name="Rounded Rectangle 11"/>
          <p:cNvSpPr/>
          <p:nvPr/>
        </p:nvSpPr>
        <p:spPr>
          <a:xfrm>
            <a:off x="6355080" y="1828800"/>
            <a:ext cx="4983480" cy="2468880"/>
          </a:xfrm>
          <a:prstGeom prst="roundRect">
            <a:avLst/>
          </a:prstGeom>
          <a:solidFill>
            <a:srgbClr val="FFF7ED"/>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675120" y="2121408"/>
            <a:ext cx="3840480" cy="274320"/>
          </a:xfrm>
          <a:prstGeom prst="rect">
            <a:avLst/>
          </a:prstGeom>
          <a:noFill/>
        </p:spPr>
        <p:txBody>
          <a:bodyPr wrap="square" lIns="36576" tIns="36576" rIns="36576" bIns="36576" anchor="ctr">
            <a:spAutoFit/>
          </a:bodyPr>
          <a:lstStyle/>
          <a:p>
            <a:pPr algn="l">
              <a:lnSpc>
                <a:spcPct val="100000"/>
              </a:lnSpc>
              <a:defRPr sz="1100" b="1">
                <a:solidFill>
                  <a:srgbClr val="D97706"/>
                </a:solidFill>
                <a:latin typeface="Inter"/>
              </a:defRPr>
            </a:pPr>
            <a:r>
              <a:rPr sz="1300"/>
              <a:t>CARRIER FREQUENCY OFFSET</a:t>
            </a:r>
          </a:p>
        </p:txBody>
      </p:sp>
      <p:sp>
        <p:nvSpPr>
          <p:cNvPr id="14" name="TextBox 13"/>
          <p:cNvSpPr txBox="1"/>
          <p:nvPr/>
        </p:nvSpPr>
        <p:spPr>
          <a:xfrm>
            <a:off x="6675120" y="2743200"/>
            <a:ext cx="4297680" cy="502920"/>
          </a:xfrm>
          <a:prstGeom prst="rect">
            <a:avLst/>
          </a:prstGeom>
          <a:noFill/>
        </p:spPr>
        <p:txBody>
          <a:bodyPr wrap="square" lIns="36576" tIns="36576" rIns="36576" bIns="36576" anchor="ctr">
            <a:spAutoFit/>
          </a:bodyPr>
          <a:lstStyle/>
          <a:p>
            <a:pPr algn="ctr">
              <a:lnSpc>
                <a:spcPct val="100000"/>
              </a:lnSpc>
              <a:defRPr sz="1900" b="1">
                <a:solidFill>
                  <a:srgbClr val="0F172A"/>
                </a:solidFill>
                <a:latin typeface="Consolas"/>
              </a:defRPr>
            </a:pPr>
            <a:r>
              <a:rPr dirty="0"/>
              <a:t>s′[n] = s[n]eʲ⁽²π</a:t>
            </a:r>
            <a:r>
              <a:rPr dirty="0" err="1"/>
              <a:t>ΔfnTs+θ</a:t>
            </a:r>
            <a:r>
              <a:rPr dirty="0"/>
              <a:t>₀⁾</a:t>
            </a:r>
          </a:p>
        </p:txBody>
      </p:sp>
      <p:sp>
        <p:nvSpPr>
          <p:cNvPr id="15" name="TextBox 14"/>
          <p:cNvSpPr txBox="1"/>
          <p:nvPr/>
        </p:nvSpPr>
        <p:spPr>
          <a:xfrm>
            <a:off x="6675120" y="3599813"/>
            <a:ext cx="4297680" cy="289310"/>
          </a:xfrm>
          <a:prstGeom prst="rect">
            <a:avLst/>
          </a:prstGeom>
          <a:noFill/>
        </p:spPr>
        <p:txBody>
          <a:bodyPr wrap="square" lIns="36576" tIns="36576" rIns="36576" bIns="36576" anchor="ctr">
            <a:spAutoFit/>
          </a:bodyPr>
          <a:lstStyle/>
          <a:p>
            <a:pPr algn="ctr">
              <a:lnSpc>
                <a:spcPct val="100000"/>
              </a:lnSpc>
              <a:defRPr sz="1200" b="0">
                <a:solidFill>
                  <a:srgbClr val="475569"/>
                </a:solidFill>
                <a:latin typeface="Inter"/>
              </a:defRPr>
            </a:pPr>
            <a:r>
              <a:rPr sz="1400"/>
              <a:t>Angle changes with n → phase ramp</a:t>
            </a:r>
          </a:p>
        </p:txBody>
      </p:sp>
      <p:sp>
        <p:nvSpPr>
          <p:cNvPr id="16" name="TextBox 15"/>
          <p:cNvSpPr txBox="1"/>
          <p:nvPr/>
        </p:nvSpPr>
        <p:spPr>
          <a:xfrm>
            <a:off x="2194560" y="5065776"/>
            <a:ext cx="7863840" cy="420624"/>
          </a:xfrm>
          <a:prstGeom prst="rect">
            <a:avLst/>
          </a:prstGeom>
          <a:noFill/>
        </p:spPr>
        <p:txBody>
          <a:bodyPr wrap="square" lIns="36576" tIns="36576" rIns="36576" bIns="36576" anchor="ctr">
            <a:spAutoFit/>
          </a:bodyPr>
          <a:lstStyle/>
          <a:p>
            <a:pPr algn="ctr">
              <a:lnSpc>
                <a:spcPct val="100000"/>
              </a:lnSpc>
              <a:defRPr sz="1800" b="1">
                <a:solidFill>
                  <a:srgbClr val="DC2626"/>
                </a:solidFill>
                <a:latin typeface="Inter"/>
              </a:defRPr>
            </a:pPr>
            <a:r>
              <a:t>Therefore: no claim of CFO robustness.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11480" y="190774"/>
            <a:ext cx="3840480" cy="258532"/>
          </a:xfrm>
          <a:prstGeom prst="rect">
            <a:avLst/>
          </a:prstGeom>
          <a:noFill/>
        </p:spPr>
        <p:txBody>
          <a:bodyPr wrap="square" lIns="36576" tIns="36576" rIns="36576" bIns="36576" anchor="ctr">
            <a:spAutoFit/>
          </a:bodyPr>
          <a:lstStyle/>
          <a:p>
            <a:pPr algn="l">
              <a:lnSpc>
                <a:spcPct val="100000"/>
              </a:lnSpc>
              <a:defRPr sz="1000" b="1">
                <a:solidFill>
                  <a:srgbClr val="0284C7"/>
                </a:solidFill>
                <a:latin typeface="Inter"/>
              </a:defRPr>
            </a:pPr>
            <a:r>
              <a:rPr sz="1200"/>
              <a:t>APPENDIX C</a:t>
            </a:r>
          </a:p>
        </p:txBody>
      </p:sp>
      <p:sp>
        <p:nvSpPr>
          <p:cNvPr id="3" name="TextBox 2"/>
          <p:cNvSpPr txBox="1"/>
          <p:nvPr/>
        </p:nvSpPr>
        <p:spPr>
          <a:xfrm>
            <a:off x="411480" y="438912"/>
            <a:ext cx="10744200" cy="640080"/>
          </a:xfrm>
          <a:prstGeom prst="rect">
            <a:avLst/>
          </a:prstGeom>
          <a:noFill/>
        </p:spPr>
        <p:txBody>
          <a:bodyPr wrap="square" lIns="36576" tIns="36576" rIns="36576" bIns="36576" anchor="ctr">
            <a:spAutoFit/>
          </a:bodyPr>
          <a:lstStyle/>
          <a:p>
            <a:pPr algn="l">
              <a:lnSpc>
                <a:spcPct val="100000"/>
              </a:lnSpc>
              <a:defRPr sz="3000" b="1">
                <a:solidFill>
                  <a:srgbClr val="0F172A"/>
                </a:solidFill>
                <a:latin typeface="Manrope"/>
              </a:defRPr>
            </a:pPr>
            <a:r>
              <a:t>SNR80 is a secondary, unstable metric</a:t>
            </a:r>
          </a:p>
        </p:txBody>
      </p:sp>
      <p:sp>
        <p:nvSpPr>
          <p:cNvPr id="4" name="TextBox 3"/>
          <p:cNvSpPr txBox="1"/>
          <p:nvPr/>
        </p:nvSpPr>
        <p:spPr>
          <a:xfrm>
            <a:off x="411480" y="1080641"/>
            <a:ext cx="10561320" cy="289310"/>
          </a:xfrm>
          <a:prstGeom prst="rect">
            <a:avLst/>
          </a:prstGeom>
          <a:noFill/>
        </p:spPr>
        <p:txBody>
          <a:bodyPr wrap="square" lIns="36576" tIns="36576" rIns="36576" bIns="36576" anchor="ctr">
            <a:spAutoFit/>
          </a:bodyPr>
          <a:lstStyle/>
          <a:p>
            <a:pPr algn="l">
              <a:lnSpc>
                <a:spcPct val="100000"/>
              </a:lnSpc>
              <a:defRPr sz="1200" b="0">
                <a:solidFill>
                  <a:srgbClr val="64748B"/>
                </a:solidFill>
                <a:latin typeface="Inter"/>
              </a:defRPr>
            </a:pPr>
            <a:r>
              <a:rPr sz="1400"/>
              <a:t>First upward 80% crossing with linear interpolation</a:t>
            </a:r>
          </a:p>
        </p:txBody>
      </p:sp>
      <p:cxnSp>
        <p:nvCxnSpPr>
          <p:cNvPr id="5" name="Connector 4"/>
          <p:cNvCxnSpPr/>
          <p:nvPr/>
        </p:nvCxnSpPr>
        <p:spPr>
          <a:xfrm>
            <a:off x="411480" y="1435608"/>
            <a:ext cx="11365992" cy="0"/>
          </a:xfrm>
          <a:prstGeom prst="line">
            <a:avLst/>
          </a:prstGeom>
          <a:ln w="12700">
            <a:solidFill>
              <a:srgbClr val="E2E8F0"/>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11480" y="6515523"/>
            <a:ext cx="6126480" cy="227755"/>
          </a:xfrm>
          <a:prstGeom prst="rect">
            <a:avLst/>
          </a:prstGeom>
          <a:noFill/>
        </p:spPr>
        <p:txBody>
          <a:bodyPr wrap="square" lIns="36576" tIns="36576" rIns="36576" bIns="36576" anchor="ctr">
            <a:spAutoFit/>
          </a:bodyPr>
          <a:lstStyle/>
          <a:p>
            <a:pPr algn="l">
              <a:lnSpc>
                <a:spcPct val="100000"/>
              </a:lnSpc>
              <a:defRPr sz="900" b="0">
                <a:solidFill>
                  <a:srgbClr val="64748B"/>
                </a:solidFill>
                <a:latin typeface="Inter"/>
              </a:defRPr>
            </a:pPr>
            <a:r>
              <a:rPr sz="1000"/>
              <a:t>EE136: Machine Learning for Wireless Communications</a:t>
            </a:r>
          </a:p>
        </p:txBody>
      </p:sp>
      <p:sp>
        <p:nvSpPr>
          <p:cNvPr id="7" name="TextBox 6"/>
          <p:cNvSpPr txBox="1"/>
          <p:nvPr/>
        </p:nvSpPr>
        <p:spPr>
          <a:xfrm>
            <a:off x="10222992" y="6515523"/>
            <a:ext cx="1554480" cy="227755"/>
          </a:xfrm>
          <a:prstGeom prst="rect">
            <a:avLst/>
          </a:prstGeom>
          <a:noFill/>
        </p:spPr>
        <p:txBody>
          <a:bodyPr wrap="square" lIns="36576" tIns="36576" rIns="36576" bIns="36576" anchor="ctr">
            <a:spAutoFit/>
          </a:bodyPr>
          <a:lstStyle/>
          <a:p>
            <a:pPr algn="r">
              <a:lnSpc>
                <a:spcPct val="100000"/>
              </a:lnSpc>
              <a:defRPr sz="900" b="0">
                <a:solidFill>
                  <a:srgbClr val="64748B"/>
                </a:solidFill>
                <a:latin typeface="Inter"/>
              </a:defRPr>
            </a:pPr>
            <a:r>
              <a:rPr sz="1000"/>
              <a:t>Appendix C</a:t>
            </a:r>
          </a:p>
        </p:txBody>
      </p:sp>
      <p:sp>
        <p:nvSpPr>
          <p:cNvPr id="8" name="Rounded Rectangle 7"/>
          <p:cNvSpPr/>
          <p:nvPr/>
        </p:nvSpPr>
        <p:spPr>
          <a:xfrm>
            <a:off x="822960" y="1828800"/>
            <a:ext cx="3246120" cy="146304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822960" y="1828800"/>
            <a:ext cx="73152" cy="1463040"/>
          </a:xfrm>
          <a:prstGeom prst="rect">
            <a:avLst/>
          </a:prstGeom>
          <a:solidFill>
            <a:srgbClr val="0284C7"/>
          </a:solidFill>
          <a:ln w="1270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051560" y="1982998"/>
            <a:ext cx="2880360" cy="258532"/>
          </a:xfrm>
          <a:prstGeom prst="rect">
            <a:avLst/>
          </a:prstGeom>
          <a:noFill/>
        </p:spPr>
        <p:txBody>
          <a:bodyPr wrap="square" lIns="36576" tIns="36576" rIns="36576" bIns="36576" anchor="ctr">
            <a:spAutoFit/>
          </a:bodyPr>
          <a:lstStyle/>
          <a:p>
            <a:pPr algn="l">
              <a:lnSpc>
                <a:spcPct val="100000"/>
              </a:lnSpc>
              <a:defRPr sz="1000" b="1">
                <a:solidFill>
                  <a:srgbClr val="64748B"/>
                </a:solidFill>
                <a:latin typeface="Inter"/>
              </a:defRPr>
            </a:pPr>
            <a:r>
              <a:rPr sz="1200"/>
              <a:t>MEAN GAIN</a:t>
            </a:r>
          </a:p>
        </p:txBody>
      </p:sp>
      <p:sp>
        <p:nvSpPr>
          <p:cNvPr id="11" name="TextBox 10"/>
          <p:cNvSpPr txBox="1"/>
          <p:nvPr/>
        </p:nvSpPr>
        <p:spPr>
          <a:xfrm>
            <a:off x="1051560" y="2267712"/>
            <a:ext cx="2880360" cy="512064"/>
          </a:xfrm>
          <a:prstGeom prst="rect">
            <a:avLst/>
          </a:prstGeom>
          <a:noFill/>
        </p:spPr>
        <p:txBody>
          <a:bodyPr wrap="square" lIns="36576" tIns="36576" rIns="36576" bIns="36576" anchor="ctr">
            <a:spAutoFit/>
          </a:bodyPr>
          <a:lstStyle/>
          <a:p>
            <a:pPr algn="l">
              <a:lnSpc>
                <a:spcPct val="100000"/>
              </a:lnSpc>
              <a:defRPr sz="2500" b="1">
                <a:solidFill>
                  <a:srgbClr val="0F172A"/>
                </a:solidFill>
                <a:latin typeface="Manrope"/>
              </a:defRPr>
            </a:pPr>
            <a:r>
              <a:t>+1.37 dB</a:t>
            </a:r>
          </a:p>
        </p:txBody>
      </p:sp>
      <p:sp>
        <p:nvSpPr>
          <p:cNvPr id="12" name="TextBox 11"/>
          <p:cNvSpPr txBox="1"/>
          <p:nvPr/>
        </p:nvSpPr>
        <p:spPr>
          <a:xfrm>
            <a:off x="1051560" y="2871216"/>
            <a:ext cx="2880360" cy="256032"/>
          </a:xfrm>
          <a:prstGeom prst="rect">
            <a:avLst/>
          </a:prstGeom>
          <a:noFill/>
        </p:spPr>
        <p:txBody>
          <a:bodyPr wrap="square" lIns="36576" tIns="36576" rIns="36576" bIns="36576" anchor="ctr">
            <a:spAutoFit/>
          </a:bodyPr>
          <a:lstStyle/>
          <a:p>
            <a:pPr algn="l">
              <a:lnSpc>
                <a:spcPct val="100000"/>
              </a:lnSpc>
              <a:defRPr sz="1000" b="0">
                <a:solidFill>
                  <a:srgbClr val="475569"/>
                </a:solidFill>
                <a:latin typeface="Inter"/>
              </a:defRPr>
            </a:pPr>
            <a:r>
              <a:rPr sz="1200"/>
              <a:t>phase-only vs baseline</a:t>
            </a:r>
          </a:p>
        </p:txBody>
      </p:sp>
      <p:sp>
        <p:nvSpPr>
          <p:cNvPr id="13" name="Rounded Rectangle 12"/>
          <p:cNvSpPr/>
          <p:nvPr/>
        </p:nvSpPr>
        <p:spPr>
          <a:xfrm>
            <a:off x="4480560" y="1828800"/>
            <a:ext cx="3246120" cy="146304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4480560" y="1828800"/>
            <a:ext cx="73152" cy="1463040"/>
          </a:xfrm>
          <a:prstGeom prst="rect">
            <a:avLst/>
          </a:prstGeom>
          <a:solidFill>
            <a:srgbClr val="D97706"/>
          </a:solidFill>
          <a:ln w="1270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709160" y="1982998"/>
            <a:ext cx="2880360" cy="258532"/>
          </a:xfrm>
          <a:prstGeom prst="rect">
            <a:avLst/>
          </a:prstGeom>
          <a:noFill/>
        </p:spPr>
        <p:txBody>
          <a:bodyPr wrap="square" lIns="36576" tIns="36576" rIns="36576" bIns="36576" anchor="ctr">
            <a:spAutoFit/>
          </a:bodyPr>
          <a:lstStyle/>
          <a:p>
            <a:pPr algn="l">
              <a:lnSpc>
                <a:spcPct val="100000"/>
              </a:lnSpc>
              <a:defRPr sz="1000" b="1">
                <a:solidFill>
                  <a:srgbClr val="64748B"/>
                </a:solidFill>
                <a:latin typeface="Inter"/>
              </a:defRPr>
            </a:pPr>
            <a:r>
              <a:rPr sz="1200"/>
              <a:t>ACROSS-SEED SD</a:t>
            </a:r>
          </a:p>
        </p:txBody>
      </p:sp>
      <p:sp>
        <p:nvSpPr>
          <p:cNvPr id="16" name="TextBox 15"/>
          <p:cNvSpPr txBox="1"/>
          <p:nvPr/>
        </p:nvSpPr>
        <p:spPr>
          <a:xfrm>
            <a:off x="4709160" y="2267712"/>
            <a:ext cx="2880360" cy="512064"/>
          </a:xfrm>
          <a:prstGeom prst="rect">
            <a:avLst/>
          </a:prstGeom>
          <a:noFill/>
        </p:spPr>
        <p:txBody>
          <a:bodyPr wrap="square" lIns="36576" tIns="36576" rIns="36576" bIns="36576" anchor="ctr">
            <a:spAutoFit/>
          </a:bodyPr>
          <a:lstStyle/>
          <a:p>
            <a:pPr algn="l">
              <a:lnSpc>
                <a:spcPct val="100000"/>
              </a:lnSpc>
              <a:defRPr sz="2500" b="1">
                <a:solidFill>
                  <a:srgbClr val="0F172A"/>
                </a:solidFill>
                <a:latin typeface="Manrope"/>
              </a:defRPr>
            </a:pPr>
            <a:r>
              <a:t>2.18 dB</a:t>
            </a:r>
          </a:p>
        </p:txBody>
      </p:sp>
      <p:sp>
        <p:nvSpPr>
          <p:cNvPr id="17" name="TextBox 16"/>
          <p:cNvSpPr txBox="1"/>
          <p:nvPr/>
        </p:nvSpPr>
        <p:spPr>
          <a:xfrm>
            <a:off x="4709160" y="2871216"/>
            <a:ext cx="2880360" cy="256032"/>
          </a:xfrm>
          <a:prstGeom prst="rect">
            <a:avLst/>
          </a:prstGeom>
          <a:noFill/>
        </p:spPr>
        <p:txBody>
          <a:bodyPr wrap="square" lIns="36576" tIns="36576" rIns="36576" bIns="36576" anchor="ctr">
            <a:spAutoFit/>
          </a:bodyPr>
          <a:lstStyle/>
          <a:p>
            <a:pPr algn="l">
              <a:lnSpc>
                <a:spcPct val="100000"/>
              </a:lnSpc>
              <a:defRPr sz="1000" b="0">
                <a:solidFill>
                  <a:srgbClr val="475569"/>
                </a:solidFill>
                <a:latin typeface="Inter"/>
              </a:defRPr>
            </a:pPr>
            <a:r>
              <a:rPr sz="1200"/>
              <a:t>large relative dispersion</a:t>
            </a:r>
          </a:p>
        </p:txBody>
      </p:sp>
      <p:sp>
        <p:nvSpPr>
          <p:cNvPr id="18" name="Rounded Rectangle 17"/>
          <p:cNvSpPr/>
          <p:nvPr/>
        </p:nvSpPr>
        <p:spPr>
          <a:xfrm>
            <a:off x="8138160" y="1828800"/>
            <a:ext cx="3246120" cy="146304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8138160" y="1828800"/>
            <a:ext cx="73152" cy="1463040"/>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366760" y="1982998"/>
            <a:ext cx="2880360" cy="258532"/>
          </a:xfrm>
          <a:prstGeom prst="rect">
            <a:avLst/>
          </a:prstGeom>
          <a:noFill/>
        </p:spPr>
        <p:txBody>
          <a:bodyPr wrap="square" lIns="36576" tIns="36576" rIns="36576" bIns="36576" anchor="ctr">
            <a:spAutoFit/>
          </a:bodyPr>
          <a:lstStyle/>
          <a:p>
            <a:pPr algn="l">
              <a:lnSpc>
                <a:spcPct val="100000"/>
              </a:lnSpc>
              <a:defRPr sz="1000" b="1">
                <a:solidFill>
                  <a:srgbClr val="64748B"/>
                </a:solidFill>
                <a:latin typeface="Inter"/>
              </a:defRPr>
            </a:pPr>
            <a:r>
              <a:rPr sz="1200"/>
              <a:t>WORST SEED</a:t>
            </a:r>
          </a:p>
        </p:txBody>
      </p:sp>
      <p:sp>
        <p:nvSpPr>
          <p:cNvPr id="21" name="TextBox 20"/>
          <p:cNvSpPr txBox="1"/>
          <p:nvPr/>
        </p:nvSpPr>
        <p:spPr>
          <a:xfrm>
            <a:off x="8366760" y="2267712"/>
            <a:ext cx="2880360" cy="512064"/>
          </a:xfrm>
          <a:prstGeom prst="rect">
            <a:avLst/>
          </a:prstGeom>
          <a:noFill/>
        </p:spPr>
        <p:txBody>
          <a:bodyPr wrap="square" lIns="36576" tIns="36576" rIns="36576" bIns="36576" anchor="ctr">
            <a:spAutoFit/>
          </a:bodyPr>
          <a:lstStyle/>
          <a:p>
            <a:pPr algn="l">
              <a:lnSpc>
                <a:spcPct val="100000"/>
              </a:lnSpc>
              <a:defRPr sz="2500" b="1">
                <a:solidFill>
                  <a:srgbClr val="0F172A"/>
                </a:solidFill>
                <a:latin typeface="Manrope"/>
              </a:defRPr>
            </a:pPr>
            <a:r>
              <a:t>−1.60 dB</a:t>
            </a:r>
          </a:p>
        </p:txBody>
      </p:sp>
      <p:sp>
        <p:nvSpPr>
          <p:cNvPr id="22" name="TextBox 21"/>
          <p:cNvSpPr txBox="1"/>
          <p:nvPr/>
        </p:nvSpPr>
        <p:spPr>
          <a:xfrm>
            <a:off x="8366760" y="2871216"/>
            <a:ext cx="2880360" cy="256032"/>
          </a:xfrm>
          <a:prstGeom prst="rect">
            <a:avLst/>
          </a:prstGeom>
          <a:noFill/>
        </p:spPr>
        <p:txBody>
          <a:bodyPr wrap="square" lIns="36576" tIns="36576" rIns="36576" bIns="36576" anchor="ctr">
            <a:spAutoFit/>
          </a:bodyPr>
          <a:lstStyle/>
          <a:p>
            <a:pPr algn="l">
              <a:lnSpc>
                <a:spcPct val="100000"/>
              </a:lnSpc>
              <a:defRPr sz="1000" b="0">
                <a:solidFill>
                  <a:srgbClr val="475569"/>
                </a:solidFill>
                <a:latin typeface="Inter"/>
              </a:defRPr>
            </a:pPr>
            <a:r>
              <a:rPr sz="1200"/>
              <a:t>one negative result</a:t>
            </a:r>
          </a:p>
        </p:txBody>
      </p:sp>
      <p:sp>
        <p:nvSpPr>
          <p:cNvPr id="23" name="Rounded Rectangle 22"/>
          <p:cNvSpPr/>
          <p:nvPr/>
        </p:nvSpPr>
        <p:spPr>
          <a:xfrm>
            <a:off x="1005840" y="4069080"/>
            <a:ext cx="2331720" cy="658368"/>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1115568" y="4261303"/>
            <a:ext cx="2112264" cy="273921"/>
          </a:xfrm>
          <a:prstGeom prst="rect">
            <a:avLst/>
          </a:prstGeom>
          <a:noFill/>
        </p:spPr>
        <p:txBody>
          <a:bodyPr wrap="square" lIns="36576" tIns="36576" rIns="36576" bIns="36576" anchor="ctr">
            <a:spAutoFit/>
          </a:bodyPr>
          <a:lstStyle/>
          <a:p>
            <a:pPr algn="ctr">
              <a:lnSpc>
                <a:spcPct val="100000"/>
              </a:lnSpc>
              <a:defRPr sz="1050" b="1">
                <a:solidFill>
                  <a:srgbClr val="0F172A"/>
                </a:solidFill>
                <a:latin typeface="Inter"/>
              </a:defRPr>
            </a:pPr>
            <a:r>
              <a:rPr sz="1300"/>
              <a:t>No smoothing</a:t>
            </a:r>
          </a:p>
        </p:txBody>
      </p:sp>
      <p:sp>
        <p:nvSpPr>
          <p:cNvPr id="25" name="Rounded Rectangle 24"/>
          <p:cNvSpPr/>
          <p:nvPr/>
        </p:nvSpPr>
        <p:spPr>
          <a:xfrm>
            <a:off x="3794760" y="4069080"/>
            <a:ext cx="2331720" cy="658368"/>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3904488" y="4261303"/>
            <a:ext cx="2112264" cy="273921"/>
          </a:xfrm>
          <a:prstGeom prst="rect">
            <a:avLst/>
          </a:prstGeom>
          <a:noFill/>
        </p:spPr>
        <p:txBody>
          <a:bodyPr wrap="square" lIns="36576" tIns="36576" rIns="36576" bIns="36576" anchor="ctr">
            <a:spAutoFit/>
          </a:bodyPr>
          <a:lstStyle/>
          <a:p>
            <a:pPr algn="ctr">
              <a:lnSpc>
                <a:spcPct val="100000"/>
              </a:lnSpc>
              <a:defRPr sz="1050" b="1">
                <a:solidFill>
                  <a:srgbClr val="0F172A"/>
                </a:solidFill>
                <a:latin typeface="Inter"/>
              </a:defRPr>
            </a:pPr>
            <a:r>
              <a:rPr sz="1300"/>
              <a:t>No extrapolation</a:t>
            </a:r>
          </a:p>
        </p:txBody>
      </p:sp>
      <p:sp>
        <p:nvSpPr>
          <p:cNvPr id="27" name="Rounded Rectangle 26"/>
          <p:cNvSpPr/>
          <p:nvPr/>
        </p:nvSpPr>
        <p:spPr>
          <a:xfrm>
            <a:off x="6583679" y="4069080"/>
            <a:ext cx="2331720" cy="658368"/>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6693407" y="4261303"/>
            <a:ext cx="2112264" cy="273921"/>
          </a:xfrm>
          <a:prstGeom prst="rect">
            <a:avLst/>
          </a:prstGeom>
          <a:noFill/>
        </p:spPr>
        <p:txBody>
          <a:bodyPr wrap="square" lIns="36576" tIns="36576" rIns="36576" bIns="36576" anchor="ctr">
            <a:spAutoFit/>
          </a:bodyPr>
          <a:lstStyle/>
          <a:p>
            <a:pPr algn="ctr">
              <a:lnSpc>
                <a:spcPct val="100000"/>
              </a:lnSpc>
              <a:defRPr sz="1050" b="1">
                <a:solidFill>
                  <a:srgbClr val="0F172A"/>
                </a:solidFill>
                <a:latin typeface="Inter"/>
              </a:defRPr>
            </a:pPr>
            <a:r>
              <a:rPr sz="1300"/>
              <a:t>First upward crossing</a:t>
            </a:r>
          </a:p>
        </p:txBody>
      </p:sp>
      <p:sp>
        <p:nvSpPr>
          <p:cNvPr id="29" name="Rounded Rectangle 28"/>
          <p:cNvSpPr/>
          <p:nvPr/>
        </p:nvSpPr>
        <p:spPr>
          <a:xfrm>
            <a:off x="9372599" y="4069080"/>
            <a:ext cx="2331720" cy="658368"/>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9482327" y="4161276"/>
            <a:ext cx="2112264" cy="473976"/>
          </a:xfrm>
          <a:prstGeom prst="rect">
            <a:avLst/>
          </a:prstGeom>
          <a:noFill/>
        </p:spPr>
        <p:txBody>
          <a:bodyPr wrap="square" lIns="36576" tIns="36576" rIns="36576" bIns="36576" anchor="ctr">
            <a:spAutoFit/>
          </a:bodyPr>
          <a:lstStyle/>
          <a:p>
            <a:pPr algn="ctr">
              <a:lnSpc>
                <a:spcPct val="100000"/>
              </a:lnSpc>
              <a:defRPr sz="1050" b="1">
                <a:solidFill>
                  <a:srgbClr val="0F172A"/>
                </a:solidFill>
                <a:latin typeface="Inter"/>
              </a:defRPr>
            </a:pPr>
            <a:r>
              <a:rPr sz="1300"/>
              <a:t>Curves may be non-monotonic</a:t>
            </a:r>
          </a:p>
        </p:txBody>
      </p:sp>
      <p:sp>
        <p:nvSpPr>
          <p:cNvPr id="31" name="TextBox 30"/>
          <p:cNvSpPr txBox="1"/>
          <p:nvPr/>
        </p:nvSpPr>
        <p:spPr>
          <a:xfrm>
            <a:off x="1508760" y="5326356"/>
            <a:ext cx="9144000" cy="320088"/>
          </a:xfrm>
          <a:prstGeom prst="rect">
            <a:avLst/>
          </a:prstGeom>
          <a:noFill/>
        </p:spPr>
        <p:txBody>
          <a:bodyPr wrap="square" lIns="36576" tIns="36576" rIns="36576" bIns="36576" anchor="ctr">
            <a:spAutoFit/>
          </a:bodyPr>
          <a:lstStyle/>
          <a:p>
            <a:pPr algn="ctr">
              <a:lnSpc>
                <a:spcPct val="100000"/>
              </a:lnSpc>
              <a:defRPr sz="1400" b="1">
                <a:solidFill>
                  <a:srgbClr val="0F172A"/>
                </a:solidFill>
                <a:latin typeface="Inter"/>
              </a:defRPr>
            </a:pPr>
            <a:r>
              <a:rPr sz="1600"/>
              <a:t>Primary conclusion relies on accuracy and Macro-F1, not SNR80 alone.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11480" y="190774"/>
            <a:ext cx="3840480" cy="258532"/>
          </a:xfrm>
          <a:prstGeom prst="rect">
            <a:avLst/>
          </a:prstGeom>
          <a:noFill/>
        </p:spPr>
        <p:txBody>
          <a:bodyPr wrap="square" lIns="36576" tIns="36576" rIns="36576" bIns="36576" anchor="ctr">
            <a:spAutoFit/>
          </a:bodyPr>
          <a:lstStyle/>
          <a:p>
            <a:pPr algn="l">
              <a:lnSpc>
                <a:spcPct val="100000"/>
              </a:lnSpc>
              <a:defRPr sz="1000" b="1">
                <a:solidFill>
                  <a:srgbClr val="0284C7"/>
                </a:solidFill>
                <a:latin typeface="Inter"/>
              </a:defRPr>
            </a:pPr>
            <a:r>
              <a:rPr sz="1200"/>
              <a:t>APPENDIX D</a:t>
            </a:r>
          </a:p>
        </p:txBody>
      </p:sp>
      <p:sp>
        <p:nvSpPr>
          <p:cNvPr id="3" name="TextBox 2"/>
          <p:cNvSpPr txBox="1"/>
          <p:nvPr/>
        </p:nvSpPr>
        <p:spPr>
          <a:xfrm>
            <a:off x="411480" y="438912"/>
            <a:ext cx="10744200" cy="640080"/>
          </a:xfrm>
          <a:prstGeom prst="rect">
            <a:avLst/>
          </a:prstGeom>
          <a:noFill/>
        </p:spPr>
        <p:txBody>
          <a:bodyPr wrap="square" lIns="36576" tIns="36576" rIns="36576" bIns="36576" anchor="ctr">
            <a:spAutoFit/>
          </a:bodyPr>
          <a:lstStyle/>
          <a:p>
            <a:pPr algn="l">
              <a:lnSpc>
                <a:spcPct val="100000"/>
              </a:lnSpc>
              <a:defRPr sz="3000" b="1">
                <a:solidFill>
                  <a:srgbClr val="0F172A"/>
                </a:solidFill>
                <a:latin typeface="Manrope"/>
              </a:defRPr>
            </a:pPr>
            <a:r>
              <a:t>Reproducibility artifacts</a:t>
            </a:r>
          </a:p>
        </p:txBody>
      </p:sp>
      <p:sp>
        <p:nvSpPr>
          <p:cNvPr id="4" name="TextBox 3"/>
          <p:cNvSpPr txBox="1"/>
          <p:nvPr/>
        </p:nvSpPr>
        <p:spPr>
          <a:xfrm>
            <a:off x="411480" y="1080641"/>
            <a:ext cx="10561320" cy="289310"/>
          </a:xfrm>
          <a:prstGeom prst="rect">
            <a:avLst/>
          </a:prstGeom>
          <a:noFill/>
        </p:spPr>
        <p:txBody>
          <a:bodyPr wrap="square" lIns="36576" tIns="36576" rIns="36576" bIns="36576" anchor="ctr">
            <a:spAutoFit/>
          </a:bodyPr>
          <a:lstStyle/>
          <a:p>
            <a:pPr algn="l">
              <a:lnSpc>
                <a:spcPct val="100000"/>
              </a:lnSpc>
              <a:defRPr sz="1200" b="0">
                <a:solidFill>
                  <a:srgbClr val="64748B"/>
                </a:solidFill>
                <a:latin typeface="Inter"/>
              </a:defRPr>
            </a:pPr>
            <a:r>
              <a:rPr sz="1400"/>
              <a:t>Every reported result maps to a stored artifact</a:t>
            </a:r>
          </a:p>
        </p:txBody>
      </p:sp>
      <p:cxnSp>
        <p:nvCxnSpPr>
          <p:cNvPr id="5" name="Connector 4"/>
          <p:cNvCxnSpPr/>
          <p:nvPr/>
        </p:nvCxnSpPr>
        <p:spPr>
          <a:xfrm>
            <a:off x="411480" y="1435608"/>
            <a:ext cx="11365992" cy="0"/>
          </a:xfrm>
          <a:prstGeom prst="line">
            <a:avLst/>
          </a:prstGeom>
          <a:ln w="12700">
            <a:solidFill>
              <a:srgbClr val="E2E8F0"/>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11480" y="6515523"/>
            <a:ext cx="6126480" cy="227755"/>
          </a:xfrm>
          <a:prstGeom prst="rect">
            <a:avLst/>
          </a:prstGeom>
          <a:noFill/>
        </p:spPr>
        <p:txBody>
          <a:bodyPr wrap="square" lIns="36576" tIns="36576" rIns="36576" bIns="36576" anchor="ctr">
            <a:spAutoFit/>
          </a:bodyPr>
          <a:lstStyle/>
          <a:p>
            <a:pPr algn="l">
              <a:lnSpc>
                <a:spcPct val="100000"/>
              </a:lnSpc>
              <a:defRPr sz="900" b="0">
                <a:solidFill>
                  <a:srgbClr val="64748B"/>
                </a:solidFill>
                <a:latin typeface="Inter"/>
              </a:defRPr>
            </a:pPr>
            <a:r>
              <a:rPr sz="1000"/>
              <a:t>EE136: Machine Learning for Wireless Communications</a:t>
            </a:r>
          </a:p>
        </p:txBody>
      </p:sp>
      <p:sp>
        <p:nvSpPr>
          <p:cNvPr id="7" name="TextBox 6"/>
          <p:cNvSpPr txBox="1"/>
          <p:nvPr/>
        </p:nvSpPr>
        <p:spPr>
          <a:xfrm>
            <a:off x="10222992" y="6515523"/>
            <a:ext cx="1554480" cy="227755"/>
          </a:xfrm>
          <a:prstGeom prst="rect">
            <a:avLst/>
          </a:prstGeom>
          <a:noFill/>
        </p:spPr>
        <p:txBody>
          <a:bodyPr wrap="square" lIns="36576" tIns="36576" rIns="36576" bIns="36576" anchor="ctr">
            <a:spAutoFit/>
          </a:bodyPr>
          <a:lstStyle/>
          <a:p>
            <a:pPr algn="r">
              <a:lnSpc>
                <a:spcPct val="100000"/>
              </a:lnSpc>
              <a:defRPr sz="900" b="0">
                <a:solidFill>
                  <a:srgbClr val="64748B"/>
                </a:solidFill>
                <a:latin typeface="Inter"/>
              </a:defRPr>
            </a:pPr>
            <a:r>
              <a:rPr sz="1000"/>
              <a:t>Appendix D</a:t>
            </a:r>
          </a:p>
        </p:txBody>
      </p:sp>
      <p:sp>
        <p:nvSpPr>
          <p:cNvPr id="8" name="Rounded Rectangle 7"/>
          <p:cNvSpPr/>
          <p:nvPr/>
        </p:nvSpPr>
        <p:spPr>
          <a:xfrm>
            <a:off x="749808" y="1719072"/>
            <a:ext cx="5074920" cy="86868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50976" y="1871820"/>
            <a:ext cx="1143000" cy="243143"/>
          </a:xfrm>
          <a:prstGeom prst="rect">
            <a:avLst/>
          </a:prstGeom>
          <a:noFill/>
        </p:spPr>
        <p:txBody>
          <a:bodyPr wrap="square" lIns="36576" tIns="36576" rIns="36576" bIns="36576" anchor="ctr">
            <a:spAutoFit/>
          </a:bodyPr>
          <a:lstStyle/>
          <a:p>
            <a:pPr algn="l">
              <a:lnSpc>
                <a:spcPct val="100000"/>
              </a:lnSpc>
              <a:defRPr sz="900" b="1">
                <a:solidFill>
                  <a:srgbClr val="0284C7"/>
                </a:solidFill>
                <a:latin typeface="Inter"/>
              </a:defRPr>
            </a:pPr>
            <a:r>
              <a:rPr sz="1100"/>
              <a:t>DATASET</a:t>
            </a:r>
          </a:p>
        </p:txBody>
      </p:sp>
      <p:sp>
        <p:nvSpPr>
          <p:cNvPr id="10" name="TextBox 9"/>
          <p:cNvSpPr txBox="1"/>
          <p:nvPr/>
        </p:nvSpPr>
        <p:spPr>
          <a:xfrm>
            <a:off x="2048255" y="1883863"/>
            <a:ext cx="3493008" cy="273921"/>
          </a:xfrm>
          <a:prstGeom prst="rect">
            <a:avLst/>
          </a:prstGeom>
          <a:noFill/>
        </p:spPr>
        <p:txBody>
          <a:bodyPr wrap="square" lIns="36576" tIns="36576" rIns="36576" bIns="36576" anchor="ctr">
            <a:spAutoFit/>
          </a:bodyPr>
          <a:lstStyle/>
          <a:p>
            <a:pPr algn="l">
              <a:lnSpc>
                <a:spcPct val="100000"/>
              </a:lnSpc>
              <a:defRPr sz="1050" b="1">
                <a:solidFill>
                  <a:srgbClr val="0F172A"/>
                </a:solidFill>
                <a:latin typeface="Consolas"/>
              </a:defRPr>
            </a:pPr>
            <a:r>
              <a:rPr sz="1300"/>
              <a:t>data/frozen_v2/manifest.json</a:t>
            </a:r>
          </a:p>
        </p:txBody>
      </p:sp>
      <p:sp>
        <p:nvSpPr>
          <p:cNvPr id="11" name="Rounded Rectangle 10"/>
          <p:cNvSpPr/>
          <p:nvPr/>
        </p:nvSpPr>
        <p:spPr>
          <a:xfrm>
            <a:off x="6309360" y="1719072"/>
            <a:ext cx="5074920" cy="86868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510528" y="1871820"/>
            <a:ext cx="1143000" cy="243143"/>
          </a:xfrm>
          <a:prstGeom prst="rect">
            <a:avLst/>
          </a:prstGeom>
          <a:noFill/>
        </p:spPr>
        <p:txBody>
          <a:bodyPr wrap="square" lIns="36576" tIns="36576" rIns="36576" bIns="36576" anchor="ctr">
            <a:spAutoFit/>
          </a:bodyPr>
          <a:lstStyle/>
          <a:p>
            <a:pPr algn="l">
              <a:lnSpc>
                <a:spcPct val="100000"/>
              </a:lnSpc>
              <a:defRPr sz="900" b="1">
                <a:solidFill>
                  <a:srgbClr val="0284C7"/>
                </a:solidFill>
                <a:latin typeface="Inter"/>
              </a:defRPr>
            </a:pPr>
            <a:r>
              <a:rPr sz="1100"/>
              <a:t>TRAINING</a:t>
            </a:r>
          </a:p>
        </p:txBody>
      </p:sp>
      <p:sp>
        <p:nvSpPr>
          <p:cNvPr id="13" name="TextBox 12"/>
          <p:cNvSpPr txBox="1"/>
          <p:nvPr/>
        </p:nvSpPr>
        <p:spPr>
          <a:xfrm>
            <a:off x="7607808" y="1883863"/>
            <a:ext cx="3493008" cy="273921"/>
          </a:xfrm>
          <a:prstGeom prst="rect">
            <a:avLst/>
          </a:prstGeom>
          <a:noFill/>
        </p:spPr>
        <p:txBody>
          <a:bodyPr wrap="square" lIns="36576" tIns="36576" rIns="36576" bIns="36576" anchor="ctr">
            <a:spAutoFit/>
          </a:bodyPr>
          <a:lstStyle/>
          <a:p>
            <a:pPr algn="l">
              <a:lnSpc>
                <a:spcPct val="100000"/>
              </a:lnSpc>
              <a:defRPr sz="1050" b="1">
                <a:solidFill>
                  <a:srgbClr val="0F172A"/>
                </a:solidFill>
                <a:latin typeface="Consolas"/>
              </a:defRPr>
            </a:pPr>
            <a:r>
              <a:rPr sz="1300"/>
              <a:t>runs/ablation/seed_*/</a:t>
            </a:r>
          </a:p>
        </p:txBody>
      </p:sp>
      <p:sp>
        <p:nvSpPr>
          <p:cNvPr id="14" name="Rounded Rectangle 13"/>
          <p:cNvSpPr/>
          <p:nvPr/>
        </p:nvSpPr>
        <p:spPr>
          <a:xfrm>
            <a:off x="749808" y="2953512"/>
            <a:ext cx="5074920" cy="86868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950976" y="3106260"/>
            <a:ext cx="1143000" cy="243143"/>
          </a:xfrm>
          <a:prstGeom prst="rect">
            <a:avLst/>
          </a:prstGeom>
          <a:noFill/>
        </p:spPr>
        <p:txBody>
          <a:bodyPr wrap="square" lIns="36576" tIns="36576" rIns="36576" bIns="36576" anchor="ctr">
            <a:spAutoFit/>
          </a:bodyPr>
          <a:lstStyle/>
          <a:p>
            <a:pPr algn="l">
              <a:lnSpc>
                <a:spcPct val="100000"/>
              </a:lnSpc>
              <a:defRPr sz="900" b="1">
                <a:solidFill>
                  <a:srgbClr val="0284C7"/>
                </a:solidFill>
                <a:latin typeface="Inter"/>
              </a:defRPr>
            </a:pPr>
            <a:r>
              <a:rPr sz="1100"/>
              <a:t>METRICS</a:t>
            </a:r>
          </a:p>
        </p:txBody>
      </p:sp>
      <p:sp>
        <p:nvSpPr>
          <p:cNvPr id="16" name="TextBox 15"/>
          <p:cNvSpPr txBox="1"/>
          <p:nvPr/>
        </p:nvSpPr>
        <p:spPr>
          <a:xfrm>
            <a:off x="2048255" y="3018276"/>
            <a:ext cx="3493008" cy="473976"/>
          </a:xfrm>
          <a:prstGeom prst="rect">
            <a:avLst/>
          </a:prstGeom>
          <a:noFill/>
        </p:spPr>
        <p:txBody>
          <a:bodyPr wrap="square" lIns="36576" tIns="36576" rIns="36576" bIns="36576" anchor="ctr">
            <a:spAutoFit/>
          </a:bodyPr>
          <a:lstStyle/>
          <a:p>
            <a:pPr algn="l">
              <a:lnSpc>
                <a:spcPct val="100000"/>
              </a:lnSpc>
              <a:defRPr sz="1050" b="1">
                <a:solidFill>
                  <a:srgbClr val="0F172A"/>
                </a:solidFill>
                <a:latin typeface="Consolas"/>
              </a:defRPr>
            </a:pPr>
            <a:r>
              <a:rPr sz="1300"/>
              <a:t>results/final_phase/benchmark_results.json</a:t>
            </a:r>
          </a:p>
        </p:txBody>
      </p:sp>
      <p:sp>
        <p:nvSpPr>
          <p:cNvPr id="17" name="Rounded Rectangle 16"/>
          <p:cNvSpPr/>
          <p:nvPr/>
        </p:nvSpPr>
        <p:spPr>
          <a:xfrm>
            <a:off x="6309360" y="2953512"/>
            <a:ext cx="5074920" cy="86868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510528" y="3106260"/>
            <a:ext cx="1143000" cy="243143"/>
          </a:xfrm>
          <a:prstGeom prst="rect">
            <a:avLst/>
          </a:prstGeom>
          <a:noFill/>
        </p:spPr>
        <p:txBody>
          <a:bodyPr wrap="square" lIns="36576" tIns="36576" rIns="36576" bIns="36576" anchor="ctr">
            <a:spAutoFit/>
          </a:bodyPr>
          <a:lstStyle/>
          <a:p>
            <a:pPr algn="l">
              <a:lnSpc>
                <a:spcPct val="100000"/>
              </a:lnSpc>
              <a:defRPr sz="900" b="1">
                <a:solidFill>
                  <a:srgbClr val="0284C7"/>
                </a:solidFill>
                <a:latin typeface="Inter"/>
              </a:defRPr>
            </a:pPr>
            <a:r>
              <a:rPr sz="1100"/>
              <a:t>PREDICTIONS</a:t>
            </a:r>
          </a:p>
        </p:txBody>
      </p:sp>
      <p:sp>
        <p:nvSpPr>
          <p:cNvPr id="19" name="TextBox 18"/>
          <p:cNvSpPr txBox="1"/>
          <p:nvPr/>
        </p:nvSpPr>
        <p:spPr>
          <a:xfrm>
            <a:off x="7607808" y="3118303"/>
            <a:ext cx="3493008" cy="273921"/>
          </a:xfrm>
          <a:prstGeom prst="rect">
            <a:avLst/>
          </a:prstGeom>
          <a:noFill/>
        </p:spPr>
        <p:txBody>
          <a:bodyPr wrap="square" lIns="36576" tIns="36576" rIns="36576" bIns="36576" anchor="ctr">
            <a:spAutoFit/>
          </a:bodyPr>
          <a:lstStyle/>
          <a:p>
            <a:pPr algn="l">
              <a:lnSpc>
                <a:spcPct val="100000"/>
              </a:lnSpc>
              <a:defRPr sz="1050" b="1">
                <a:solidFill>
                  <a:srgbClr val="0F172A"/>
                </a:solidFill>
                <a:latin typeface="Consolas"/>
              </a:defRPr>
            </a:pPr>
            <a:r>
              <a:rPr sz="1300"/>
              <a:t>results/final_phase/predictions.npz</a:t>
            </a:r>
          </a:p>
        </p:txBody>
      </p:sp>
      <p:sp>
        <p:nvSpPr>
          <p:cNvPr id="20" name="Rounded Rectangle 19"/>
          <p:cNvSpPr/>
          <p:nvPr/>
        </p:nvSpPr>
        <p:spPr>
          <a:xfrm>
            <a:off x="749808" y="4187952"/>
            <a:ext cx="5074920" cy="86868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950976" y="4340700"/>
            <a:ext cx="1143000" cy="243143"/>
          </a:xfrm>
          <a:prstGeom prst="rect">
            <a:avLst/>
          </a:prstGeom>
          <a:noFill/>
        </p:spPr>
        <p:txBody>
          <a:bodyPr wrap="square" lIns="36576" tIns="36576" rIns="36576" bIns="36576" anchor="ctr">
            <a:spAutoFit/>
          </a:bodyPr>
          <a:lstStyle/>
          <a:p>
            <a:pPr algn="l">
              <a:lnSpc>
                <a:spcPct val="100000"/>
              </a:lnSpc>
              <a:defRPr sz="900" b="1">
                <a:solidFill>
                  <a:srgbClr val="0284C7"/>
                </a:solidFill>
                <a:latin typeface="Inter"/>
              </a:defRPr>
            </a:pPr>
            <a:r>
              <a:rPr sz="1100"/>
              <a:t>PLOTS</a:t>
            </a:r>
          </a:p>
        </p:txBody>
      </p:sp>
      <p:sp>
        <p:nvSpPr>
          <p:cNvPr id="22" name="TextBox 21"/>
          <p:cNvSpPr txBox="1"/>
          <p:nvPr/>
        </p:nvSpPr>
        <p:spPr>
          <a:xfrm>
            <a:off x="2048255" y="4352743"/>
            <a:ext cx="3493008" cy="273921"/>
          </a:xfrm>
          <a:prstGeom prst="rect">
            <a:avLst/>
          </a:prstGeom>
          <a:noFill/>
        </p:spPr>
        <p:txBody>
          <a:bodyPr wrap="square" lIns="36576" tIns="36576" rIns="36576" bIns="36576" anchor="ctr">
            <a:spAutoFit/>
          </a:bodyPr>
          <a:lstStyle/>
          <a:p>
            <a:pPr algn="l">
              <a:lnSpc>
                <a:spcPct val="100000"/>
              </a:lnSpc>
              <a:defRPr sz="1050" b="1">
                <a:solidFill>
                  <a:srgbClr val="0F172A"/>
                </a:solidFill>
                <a:latin typeface="Consolas"/>
              </a:defRPr>
            </a:pPr>
            <a:r>
              <a:rPr sz="1300"/>
              <a:t>results/final_phase/plots/</a:t>
            </a:r>
          </a:p>
        </p:txBody>
      </p:sp>
      <p:sp>
        <p:nvSpPr>
          <p:cNvPr id="23" name="Rounded Rectangle 22"/>
          <p:cNvSpPr/>
          <p:nvPr/>
        </p:nvSpPr>
        <p:spPr>
          <a:xfrm>
            <a:off x="6309360" y="4187952"/>
            <a:ext cx="5074920" cy="86868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6510528" y="4340700"/>
            <a:ext cx="1143000" cy="243143"/>
          </a:xfrm>
          <a:prstGeom prst="rect">
            <a:avLst/>
          </a:prstGeom>
          <a:noFill/>
        </p:spPr>
        <p:txBody>
          <a:bodyPr wrap="square" lIns="36576" tIns="36576" rIns="36576" bIns="36576" anchor="ctr">
            <a:spAutoFit/>
          </a:bodyPr>
          <a:lstStyle/>
          <a:p>
            <a:pPr algn="l">
              <a:lnSpc>
                <a:spcPct val="100000"/>
              </a:lnSpc>
              <a:defRPr sz="900" b="1">
                <a:solidFill>
                  <a:srgbClr val="0284C7"/>
                </a:solidFill>
                <a:latin typeface="Inter"/>
              </a:defRPr>
            </a:pPr>
            <a:r>
              <a:rPr sz="1100"/>
              <a:t>TESTS</a:t>
            </a:r>
          </a:p>
        </p:txBody>
      </p:sp>
      <p:sp>
        <p:nvSpPr>
          <p:cNvPr id="25" name="TextBox 24"/>
          <p:cNvSpPr txBox="1"/>
          <p:nvPr/>
        </p:nvSpPr>
        <p:spPr>
          <a:xfrm>
            <a:off x="7607808" y="4352743"/>
            <a:ext cx="3493008" cy="273921"/>
          </a:xfrm>
          <a:prstGeom prst="rect">
            <a:avLst/>
          </a:prstGeom>
          <a:noFill/>
        </p:spPr>
        <p:txBody>
          <a:bodyPr wrap="square" lIns="36576" tIns="36576" rIns="36576" bIns="36576" anchor="ctr">
            <a:spAutoFit/>
          </a:bodyPr>
          <a:lstStyle/>
          <a:p>
            <a:pPr algn="l">
              <a:lnSpc>
                <a:spcPct val="100000"/>
              </a:lnSpc>
              <a:defRPr sz="1050" b="1">
                <a:solidFill>
                  <a:srgbClr val="0F172A"/>
                </a:solidFill>
                <a:latin typeface="Consolas"/>
              </a:defRPr>
            </a:pPr>
            <a:r>
              <a:rPr sz="1300"/>
              <a:t>tests/test_pipeline.py</a:t>
            </a:r>
          </a:p>
        </p:txBody>
      </p:sp>
      <p:sp>
        <p:nvSpPr>
          <p:cNvPr id="26" name="Rounded Rectangle 25"/>
          <p:cNvSpPr/>
          <p:nvPr/>
        </p:nvSpPr>
        <p:spPr>
          <a:xfrm>
            <a:off x="2103120" y="5486400"/>
            <a:ext cx="7955279" cy="475488"/>
          </a:xfrm>
          <a:prstGeom prst="roundRect">
            <a:avLst/>
          </a:prstGeom>
          <a:solidFill>
            <a:srgbClr val="F0F9FF"/>
          </a:solidFill>
          <a:ln w="12700">
            <a:solidFill>
              <a:srgbClr val="F0F9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2286000" y="5559751"/>
            <a:ext cx="7589520" cy="273921"/>
          </a:xfrm>
          <a:prstGeom prst="rect">
            <a:avLst/>
          </a:prstGeom>
          <a:noFill/>
        </p:spPr>
        <p:txBody>
          <a:bodyPr wrap="square" lIns="36576" tIns="36576" rIns="36576" bIns="36576" anchor="ctr">
            <a:spAutoFit/>
          </a:bodyPr>
          <a:lstStyle/>
          <a:p>
            <a:pPr algn="ctr">
              <a:lnSpc>
                <a:spcPct val="100000"/>
              </a:lnSpc>
              <a:defRPr sz="1100" b="1">
                <a:solidFill>
                  <a:srgbClr val="0284C7"/>
                </a:solidFill>
                <a:latin typeface="Inter"/>
              </a:defRPr>
            </a:pPr>
            <a:r>
              <a:rPr sz="1300"/>
              <a:t>Frozen data + stored checkpoints + deterministic evaluation</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62E9FE1-6BDC-C8AB-1FFA-1C10E9C24AB5}"/>
              </a:ext>
            </a:extLst>
          </p:cNvPr>
          <p:cNvSpPr txBox="1"/>
          <p:nvPr/>
        </p:nvSpPr>
        <p:spPr>
          <a:xfrm>
            <a:off x="411480" y="182880"/>
            <a:ext cx="3840480" cy="258532"/>
          </a:xfrm>
          <a:prstGeom prst="rect">
            <a:avLst/>
          </a:prstGeom>
          <a:noFill/>
        </p:spPr>
        <p:txBody>
          <a:bodyPr vert="horz" wrap="square" lIns="36576" tIns="36576" rIns="36576" bIns="36576" rtlCol="0">
            <a:spAutoFit/>
          </a:bodyPr>
          <a:lstStyle/>
          <a:p>
            <a:r>
              <a:rPr lang="en-US" sz="1200" b="1">
                <a:solidFill>
                  <a:srgbClr val="0284C7"/>
                </a:solidFill>
                <a:latin typeface="Inter"/>
              </a:rPr>
              <a:t>09 · DEMO VIDEO</a:t>
            </a:r>
          </a:p>
        </p:txBody>
      </p:sp>
      <p:sp>
        <p:nvSpPr>
          <p:cNvPr id="3" name="TextBox 2">
            <a:extLst>
              <a:ext uri="{FF2B5EF4-FFF2-40B4-BE49-F238E27FC236}">
                <a16:creationId xmlns:a16="http://schemas.microsoft.com/office/drawing/2014/main" id="{A96C28D2-E2F4-574F-9775-F15967C8B19D}"/>
              </a:ext>
            </a:extLst>
          </p:cNvPr>
          <p:cNvSpPr txBox="1"/>
          <p:nvPr/>
        </p:nvSpPr>
        <p:spPr>
          <a:xfrm>
            <a:off x="411480" y="438912"/>
            <a:ext cx="10744200" cy="535531"/>
          </a:xfrm>
          <a:prstGeom prst="rect">
            <a:avLst/>
          </a:prstGeom>
          <a:noFill/>
        </p:spPr>
        <p:txBody>
          <a:bodyPr vert="horz" wrap="square" lIns="36576" tIns="36576" rIns="36576" bIns="36576" rtlCol="0">
            <a:spAutoFit/>
          </a:bodyPr>
          <a:lstStyle/>
          <a:p>
            <a:r>
              <a:rPr lang="en-US" sz="3000" b="1">
                <a:solidFill>
                  <a:srgbClr val="0F172A"/>
                </a:solidFill>
                <a:latin typeface="Manrope"/>
              </a:rPr>
              <a:t>Recorded demo — fail-safe playback</a:t>
            </a:r>
          </a:p>
        </p:txBody>
      </p:sp>
      <p:sp>
        <p:nvSpPr>
          <p:cNvPr id="4" name="TextBox 3">
            <a:extLst>
              <a:ext uri="{FF2B5EF4-FFF2-40B4-BE49-F238E27FC236}">
                <a16:creationId xmlns:a16="http://schemas.microsoft.com/office/drawing/2014/main" id="{290C9F54-42FE-5CEC-E26A-ECF59A884B2F}"/>
              </a:ext>
            </a:extLst>
          </p:cNvPr>
          <p:cNvSpPr txBox="1"/>
          <p:nvPr/>
        </p:nvSpPr>
        <p:spPr>
          <a:xfrm>
            <a:off x="411480" y="1069848"/>
            <a:ext cx="10561320" cy="289310"/>
          </a:xfrm>
          <a:prstGeom prst="rect">
            <a:avLst/>
          </a:prstGeom>
          <a:noFill/>
        </p:spPr>
        <p:txBody>
          <a:bodyPr vert="horz" wrap="square" lIns="36576" tIns="36576" rIns="36576" bIns="36576" rtlCol="0">
            <a:spAutoFit/>
          </a:bodyPr>
          <a:lstStyle/>
          <a:p>
            <a:r>
              <a:rPr lang="en-US" sz="1400">
                <a:solidFill>
                  <a:srgbClr val="64748B"/>
                </a:solidFill>
                <a:latin typeface="Inter"/>
              </a:rPr>
              <a:t>Embedded MP4 · click the video to play</a:t>
            </a:r>
          </a:p>
        </p:txBody>
      </p:sp>
      <p:cxnSp>
        <p:nvCxnSpPr>
          <p:cNvPr id="5" name="Straight Connector 4">
            <a:extLst>
              <a:ext uri="{FF2B5EF4-FFF2-40B4-BE49-F238E27FC236}">
                <a16:creationId xmlns:a16="http://schemas.microsoft.com/office/drawing/2014/main" id="{B4ECE67D-A6DC-771B-FB12-BEA1A874E37A}"/>
              </a:ext>
            </a:extLst>
          </p:cNvPr>
          <p:cNvCxnSpPr/>
          <p:nvPr/>
        </p:nvCxnSpPr>
        <p:spPr>
          <a:xfrm>
            <a:off x="411480" y="1435608"/>
            <a:ext cx="11365992" cy="0"/>
          </a:xfrm>
          <a:prstGeom prst="line">
            <a:avLst/>
          </a:prstGeom>
          <a:ln>
            <a:solidFill>
              <a:srgbClr val="E2E8F0"/>
            </a:solidFill>
          </a:ln>
        </p:spPr>
        <p:style>
          <a:lnRef idx="1">
            <a:schemeClr val="accent1"/>
          </a:lnRef>
          <a:fillRef idx="0">
            <a:schemeClr val="accent1"/>
          </a:fillRef>
          <a:effectRef idx="0">
            <a:schemeClr val="accent1"/>
          </a:effectRef>
          <a:fontRef idx="minor">
            <a:schemeClr val="tx1"/>
          </a:fontRef>
        </p:style>
      </p:cxnSp>
      <p:sp>
        <p:nvSpPr>
          <p:cNvPr id="6" name="Rectangle: Rounded Corners 5">
            <a:extLst>
              <a:ext uri="{FF2B5EF4-FFF2-40B4-BE49-F238E27FC236}">
                <a16:creationId xmlns:a16="http://schemas.microsoft.com/office/drawing/2014/main" id="{361AE5A2-136F-014C-B5A3-32889AFB2D59}"/>
              </a:ext>
            </a:extLst>
          </p:cNvPr>
          <p:cNvSpPr/>
          <p:nvPr/>
        </p:nvSpPr>
        <p:spPr>
          <a:xfrm>
            <a:off x="1801175" y="1485369"/>
            <a:ext cx="7971086" cy="4883958"/>
          </a:xfrm>
          <a:prstGeom prst="roundRect">
            <a:avLst>
              <a:gd name="adj" fmla="val 6700"/>
            </a:avLst>
          </a:prstGeom>
          <a:solidFill>
            <a:srgbClr val="0F172A"/>
          </a:solidFill>
          <a:ln>
            <a:solidFill>
              <a:srgbClr val="0F17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Embedded Demo Video">
            <a:hlinkClick r:id="" action="ppaction://media"/>
            <a:extLst>
              <a:ext uri="{FF2B5EF4-FFF2-40B4-BE49-F238E27FC236}">
                <a16:creationId xmlns:a16="http://schemas.microsoft.com/office/drawing/2014/main" id="{39A2537E-5255-70CD-9851-20495E5B65EA}"/>
              </a:ext>
            </a:extLst>
          </p:cNvPr>
          <p:cNvPicPr>
            <a:picLocks noChangeAspect="1"/>
          </p:cNvPicPr>
          <p:nvPr>
            <a:videoFile r:link="rId2"/>
            <p:extLst>
              <p:ext uri="{DAA4B4D4-6D71-4841-9C94-3DE7FCFB9230}">
                <p14:media xmlns:p14="http://schemas.microsoft.com/office/powerpoint/2010/main" r:embed="rId1"/>
              </p:ext>
            </p:extLst>
          </p:nvPr>
        </p:nvPicPr>
        <p:blipFill>
          <a:blip r:embed="rId4"/>
          <a:stretch>
            <a:fillRect/>
          </a:stretch>
        </p:blipFill>
        <p:spPr>
          <a:xfrm>
            <a:off x="2128760" y="1764792"/>
            <a:ext cx="7309639" cy="4325112"/>
          </a:xfrm>
          <a:prstGeom prst="rect">
            <a:avLst/>
          </a:prstGeom>
        </p:spPr>
      </p:pic>
      <p:sp>
        <p:nvSpPr>
          <p:cNvPr id="8" name="TextBox 7">
            <a:extLst>
              <a:ext uri="{FF2B5EF4-FFF2-40B4-BE49-F238E27FC236}">
                <a16:creationId xmlns:a16="http://schemas.microsoft.com/office/drawing/2014/main" id="{F5C671AA-4324-5883-7678-2BA2A1417A92}"/>
              </a:ext>
            </a:extLst>
          </p:cNvPr>
          <p:cNvSpPr txBox="1"/>
          <p:nvPr/>
        </p:nvSpPr>
        <p:spPr>
          <a:xfrm>
            <a:off x="411480" y="6519672"/>
            <a:ext cx="6126480" cy="227755"/>
          </a:xfrm>
          <a:prstGeom prst="rect">
            <a:avLst/>
          </a:prstGeom>
          <a:noFill/>
        </p:spPr>
        <p:txBody>
          <a:bodyPr vert="horz" wrap="square" lIns="36576" tIns="36576" rIns="36576" bIns="36576" rtlCol="0">
            <a:spAutoFit/>
          </a:bodyPr>
          <a:lstStyle/>
          <a:p>
            <a:r>
              <a:rPr lang="en-US" sz="1000">
                <a:solidFill>
                  <a:srgbClr val="64748B"/>
                </a:solidFill>
                <a:latin typeface="Inter"/>
              </a:rPr>
              <a:t>EE136: Machine Learning for Wireless Communications</a:t>
            </a:r>
          </a:p>
        </p:txBody>
      </p:sp>
      <p:sp>
        <p:nvSpPr>
          <p:cNvPr id="9" name="TextBox 8">
            <a:extLst>
              <a:ext uri="{FF2B5EF4-FFF2-40B4-BE49-F238E27FC236}">
                <a16:creationId xmlns:a16="http://schemas.microsoft.com/office/drawing/2014/main" id="{3A98829D-AB70-7A66-042F-773839A7AB53}"/>
              </a:ext>
            </a:extLst>
          </p:cNvPr>
          <p:cNvSpPr txBox="1"/>
          <p:nvPr/>
        </p:nvSpPr>
        <p:spPr>
          <a:xfrm>
            <a:off x="10222992" y="6519672"/>
            <a:ext cx="1554480" cy="227755"/>
          </a:xfrm>
          <a:prstGeom prst="rect">
            <a:avLst/>
          </a:prstGeom>
          <a:noFill/>
        </p:spPr>
        <p:txBody>
          <a:bodyPr vert="horz" wrap="square" lIns="36576" tIns="36576" rIns="36576" bIns="36576" rtlCol="0">
            <a:spAutoFit/>
          </a:bodyPr>
          <a:lstStyle/>
          <a:p>
            <a:pPr algn="r"/>
            <a:r>
              <a:rPr lang="en-US" sz="1000">
                <a:solidFill>
                  <a:srgbClr val="64748B"/>
                </a:solidFill>
                <a:latin typeface="Inter"/>
              </a:rPr>
              <a:t>Slide 17 of 18</a:t>
            </a:r>
          </a:p>
        </p:txBody>
      </p:sp>
    </p:spTree>
    <p:extLst>
      <p:ext uri="{BB962C8B-B14F-4D97-AF65-F5344CB8AC3E}">
        <p14:creationId xmlns:p14="http://schemas.microsoft.com/office/powerpoint/2010/main" val="3406507799"/>
      </p:ext>
    </p:extLst>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7"/>
                    </p:tgtEl>
                  </p:cond>
                </p:stCondLst>
                <p:endSync evt="end" delay="0">
                  <p:rtn val="all"/>
                </p:endSync>
                <p:childTnLst>
                  <p:par>
                    <p:cTn id="3" fill="hold">
                      <p:stCondLst>
                        <p:cond delay="0"/>
                      </p:stCondLst>
                      <p:childTnLst>
                        <p:par>
                          <p:cTn id="4" fill="hold">
                            <p:stCondLst>
                              <p:cond delay="0"/>
                            </p:stCondLst>
                            <p:childTnLst>
                              <p:par>
                                <p:cTn id="5" presetID="2" presetClass="mediacall" presetSubtype="0" fill="hold" nodeType="clickEffect">
                                  <p:stCondLst>
                                    <p:cond delay="0"/>
                                  </p:stCondLst>
                                  <p:childTnLst>
                                    <p:cmd type="call" cmd="togglePause">
                                      <p:cBhvr>
                                        <p:cTn id="6" dur="1" fill="hold"/>
                                        <p:tgtEl>
                                          <p:spTgt spid="7"/>
                                        </p:tgtEl>
                                      </p:cBhvr>
                                    </p:cmd>
                                  </p:childTnLst>
                                </p:cTn>
                              </p:par>
                            </p:childTnLst>
                          </p:cTn>
                        </p:par>
                      </p:childTnLst>
                    </p:cTn>
                  </p:par>
                </p:childTnLst>
              </p:cTn>
              <p:nextCondLst>
                <p:cond evt="onClick" delay="0">
                  <p:tgtEl>
                    <p:spTgt spid="7"/>
                  </p:tgtEl>
                </p:cond>
              </p:nextCondLst>
            </p:seq>
            <p:video>
              <p:cMediaNode vol="80000">
                <p:cTn id="7" fill="hold" display="0">
                  <p:stCondLst>
                    <p:cond delay="indefinite"/>
                  </p:stCondLst>
                </p:cTn>
                <p:tgtEl>
                  <p:spTgt spid="7"/>
                </p:tgtEl>
              </p:cMediaNode>
            </p:video>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771B50B-8042-CDE3-34AB-4C2A72213140}"/>
              </a:ext>
            </a:extLst>
          </p:cNvPr>
          <p:cNvSpPr/>
          <p:nvPr/>
        </p:nvSpPr>
        <p:spPr>
          <a:xfrm>
            <a:off x="8001000" y="0"/>
            <a:ext cx="4190695" cy="6858000"/>
          </a:xfrm>
          <a:prstGeom prst="rect">
            <a:avLst/>
          </a:prstGeom>
          <a:solidFill>
            <a:srgbClr val="0F172A"/>
          </a:solidFill>
          <a:ln>
            <a:solidFill>
              <a:srgbClr val="0F17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E32FEE81-0184-0623-3990-9297539D8F19}"/>
              </a:ext>
            </a:extLst>
          </p:cNvPr>
          <p:cNvSpPr txBox="1"/>
          <p:nvPr/>
        </p:nvSpPr>
        <p:spPr>
          <a:xfrm>
            <a:off x="685800" y="658368"/>
            <a:ext cx="6217920" cy="258532"/>
          </a:xfrm>
          <a:prstGeom prst="rect">
            <a:avLst/>
          </a:prstGeom>
          <a:noFill/>
        </p:spPr>
        <p:txBody>
          <a:bodyPr vert="horz" wrap="square" lIns="36576" tIns="36576" rIns="36576" bIns="36576" rtlCol="0">
            <a:spAutoFit/>
          </a:bodyPr>
          <a:lstStyle/>
          <a:p>
            <a:r>
              <a:rPr lang="en-US" sz="1200" b="1">
                <a:solidFill>
                  <a:srgbClr val="0284C7"/>
                </a:solidFill>
                <a:latin typeface="Inter"/>
              </a:rPr>
              <a:t>EE136IU · CAPSTONE MINI-PROJECT</a:t>
            </a:r>
          </a:p>
        </p:txBody>
      </p:sp>
      <p:sp>
        <p:nvSpPr>
          <p:cNvPr id="4" name="TextBox 3">
            <a:extLst>
              <a:ext uri="{FF2B5EF4-FFF2-40B4-BE49-F238E27FC236}">
                <a16:creationId xmlns:a16="http://schemas.microsoft.com/office/drawing/2014/main" id="{21D4BC29-A6C7-544D-509A-A6685A297421}"/>
              </a:ext>
            </a:extLst>
          </p:cNvPr>
          <p:cNvSpPr txBox="1"/>
          <p:nvPr/>
        </p:nvSpPr>
        <p:spPr>
          <a:xfrm>
            <a:off x="658368" y="2439297"/>
            <a:ext cx="6629400" cy="658642"/>
          </a:xfrm>
          <a:prstGeom prst="rect">
            <a:avLst/>
          </a:prstGeom>
          <a:noFill/>
        </p:spPr>
        <p:txBody>
          <a:bodyPr vert="horz" wrap="square" lIns="36576" tIns="36576" rIns="36576" bIns="36576" rtlCol="0">
            <a:spAutoFit/>
          </a:bodyPr>
          <a:lstStyle/>
          <a:p>
            <a:r>
              <a:rPr lang="en-US" sz="3800" b="1">
                <a:solidFill>
                  <a:srgbClr val="0F172A"/>
                </a:solidFill>
                <a:latin typeface="Manrope"/>
              </a:rPr>
              <a:t>Thank You</a:t>
            </a:r>
          </a:p>
        </p:txBody>
      </p:sp>
      <p:sp>
        <p:nvSpPr>
          <p:cNvPr id="5" name="TextBox 4">
            <a:extLst>
              <a:ext uri="{FF2B5EF4-FFF2-40B4-BE49-F238E27FC236}">
                <a16:creationId xmlns:a16="http://schemas.microsoft.com/office/drawing/2014/main" id="{4CCDA017-74C3-53F5-B848-6B6BE6AFABEE}"/>
              </a:ext>
            </a:extLst>
          </p:cNvPr>
          <p:cNvSpPr txBox="1"/>
          <p:nvPr/>
        </p:nvSpPr>
        <p:spPr>
          <a:xfrm>
            <a:off x="685800" y="3289689"/>
            <a:ext cx="6217920" cy="366254"/>
          </a:xfrm>
          <a:prstGeom prst="rect">
            <a:avLst/>
          </a:prstGeom>
          <a:noFill/>
        </p:spPr>
        <p:txBody>
          <a:bodyPr vert="horz" wrap="square" lIns="36576" tIns="36576" rIns="36576" bIns="36576" rtlCol="0">
            <a:spAutoFit/>
          </a:bodyPr>
          <a:lstStyle/>
          <a:p>
            <a:r>
              <a:rPr lang="en-US" sz="1900">
                <a:solidFill>
                  <a:srgbClr val="475569"/>
                </a:solidFill>
                <a:latin typeface="Inter"/>
              </a:rPr>
              <a:t>Questions &amp; Discussion</a:t>
            </a:r>
          </a:p>
        </p:txBody>
      </p:sp>
      <p:sp>
        <p:nvSpPr>
          <p:cNvPr id="6" name="Rectangle: Rounded Corners 5">
            <a:extLst>
              <a:ext uri="{FF2B5EF4-FFF2-40B4-BE49-F238E27FC236}">
                <a16:creationId xmlns:a16="http://schemas.microsoft.com/office/drawing/2014/main" id="{43614546-A568-AC03-677B-F77B9B4B4E32}"/>
              </a:ext>
            </a:extLst>
          </p:cNvPr>
          <p:cNvSpPr/>
          <p:nvPr/>
        </p:nvSpPr>
        <p:spPr>
          <a:xfrm>
            <a:off x="685800" y="4204089"/>
            <a:ext cx="6355080" cy="713232"/>
          </a:xfrm>
          <a:prstGeom prst="roundRect">
            <a:avLst/>
          </a:prstGeom>
          <a:solidFill>
            <a:srgbClr val="F0F9FF"/>
          </a:solidFill>
          <a:ln>
            <a:solidFill>
              <a:srgbClr val="F0F9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8E857D8E-AE7D-A96D-3B5A-8E5B87777141}"/>
              </a:ext>
            </a:extLst>
          </p:cNvPr>
          <p:cNvSpPr txBox="1"/>
          <p:nvPr/>
        </p:nvSpPr>
        <p:spPr>
          <a:xfrm>
            <a:off x="932688" y="4350393"/>
            <a:ext cx="5897880" cy="304699"/>
          </a:xfrm>
          <a:prstGeom prst="rect">
            <a:avLst/>
          </a:prstGeom>
          <a:noFill/>
        </p:spPr>
        <p:txBody>
          <a:bodyPr vert="horz" wrap="square" lIns="36576" tIns="36576" rIns="36576" bIns="36576" rtlCol="0">
            <a:spAutoFit/>
          </a:bodyPr>
          <a:lstStyle/>
          <a:p>
            <a:r>
              <a:rPr lang="en-US" sz="1500" b="1">
                <a:solidFill>
                  <a:srgbClr val="0284C7"/>
                </a:solidFill>
                <a:latin typeface="Inter"/>
              </a:rPr>
              <a:t>Data Augmentation &amp; Noise Resilience for Low-SNR AMC</a:t>
            </a:r>
          </a:p>
        </p:txBody>
      </p:sp>
      <p:sp>
        <p:nvSpPr>
          <p:cNvPr id="9" name="TextBox 8">
            <a:extLst>
              <a:ext uri="{FF2B5EF4-FFF2-40B4-BE49-F238E27FC236}">
                <a16:creationId xmlns:a16="http://schemas.microsoft.com/office/drawing/2014/main" id="{719FE22B-F142-7626-D079-4A565A4557EA}"/>
              </a:ext>
            </a:extLst>
          </p:cNvPr>
          <p:cNvSpPr txBox="1"/>
          <p:nvPr/>
        </p:nvSpPr>
        <p:spPr>
          <a:xfrm>
            <a:off x="8485632" y="1938528"/>
            <a:ext cx="3017520" cy="627864"/>
          </a:xfrm>
          <a:prstGeom prst="rect">
            <a:avLst/>
          </a:prstGeom>
          <a:noFill/>
        </p:spPr>
        <p:txBody>
          <a:bodyPr vert="horz" wrap="square" lIns="36576" tIns="36576" rIns="36576" bIns="36576" rtlCol="0">
            <a:spAutoFit/>
          </a:bodyPr>
          <a:lstStyle/>
          <a:p>
            <a:pPr algn="ctr"/>
            <a:r>
              <a:rPr lang="en-US" sz="3600" b="1">
                <a:solidFill>
                  <a:srgbClr val="FFFFFF"/>
                </a:solidFill>
                <a:latin typeface="Manrope"/>
              </a:rPr>
              <a:t>Q&amp;A</a:t>
            </a:r>
          </a:p>
        </p:txBody>
      </p:sp>
      <p:sp>
        <p:nvSpPr>
          <p:cNvPr id="10" name="TextBox 9">
            <a:extLst>
              <a:ext uri="{FF2B5EF4-FFF2-40B4-BE49-F238E27FC236}">
                <a16:creationId xmlns:a16="http://schemas.microsoft.com/office/drawing/2014/main" id="{769D0A4E-4CC2-81D5-A635-910CA691EF43}"/>
              </a:ext>
            </a:extLst>
          </p:cNvPr>
          <p:cNvSpPr txBox="1"/>
          <p:nvPr/>
        </p:nvSpPr>
        <p:spPr>
          <a:xfrm>
            <a:off x="8485632" y="2852928"/>
            <a:ext cx="3017520" cy="289310"/>
          </a:xfrm>
          <a:prstGeom prst="rect">
            <a:avLst/>
          </a:prstGeom>
          <a:noFill/>
        </p:spPr>
        <p:txBody>
          <a:bodyPr vert="horz" wrap="square" lIns="36576" tIns="36576" rIns="36576" bIns="36576" rtlCol="0">
            <a:spAutoFit/>
          </a:bodyPr>
          <a:lstStyle/>
          <a:p>
            <a:pPr algn="ctr"/>
            <a:r>
              <a:rPr lang="en-US" sz="1400">
                <a:solidFill>
                  <a:srgbClr val="CBD5E1"/>
                </a:solidFill>
                <a:latin typeface="Inter"/>
              </a:rPr>
              <a:t>Thank you for listening.</a:t>
            </a:r>
          </a:p>
        </p:txBody>
      </p:sp>
      <p:sp>
        <p:nvSpPr>
          <p:cNvPr id="11" name="TextBox 10">
            <a:extLst>
              <a:ext uri="{FF2B5EF4-FFF2-40B4-BE49-F238E27FC236}">
                <a16:creationId xmlns:a16="http://schemas.microsoft.com/office/drawing/2014/main" id="{E64E7CB4-7363-4793-FC24-74CB98C7EF0B}"/>
              </a:ext>
            </a:extLst>
          </p:cNvPr>
          <p:cNvSpPr txBox="1"/>
          <p:nvPr/>
        </p:nvSpPr>
        <p:spPr>
          <a:xfrm>
            <a:off x="411480" y="6519672"/>
            <a:ext cx="6126480" cy="227755"/>
          </a:xfrm>
          <a:prstGeom prst="rect">
            <a:avLst/>
          </a:prstGeom>
          <a:noFill/>
        </p:spPr>
        <p:txBody>
          <a:bodyPr vert="horz" wrap="square" lIns="36576" tIns="36576" rIns="36576" bIns="36576" rtlCol="0">
            <a:spAutoFit/>
          </a:bodyPr>
          <a:lstStyle/>
          <a:p>
            <a:r>
              <a:rPr lang="en-US" sz="1000">
                <a:solidFill>
                  <a:srgbClr val="64748B"/>
                </a:solidFill>
                <a:latin typeface="Inter"/>
              </a:rPr>
              <a:t>EE136: Machine Learning for Wireless Communications</a:t>
            </a:r>
          </a:p>
        </p:txBody>
      </p:sp>
      <p:sp>
        <p:nvSpPr>
          <p:cNvPr id="12" name="TextBox 11">
            <a:extLst>
              <a:ext uri="{FF2B5EF4-FFF2-40B4-BE49-F238E27FC236}">
                <a16:creationId xmlns:a16="http://schemas.microsoft.com/office/drawing/2014/main" id="{D86D865F-7397-227D-C3E6-5AF36356D9C6}"/>
              </a:ext>
            </a:extLst>
          </p:cNvPr>
          <p:cNvSpPr txBox="1"/>
          <p:nvPr/>
        </p:nvSpPr>
        <p:spPr>
          <a:xfrm>
            <a:off x="10222992" y="6519672"/>
            <a:ext cx="1554480" cy="227755"/>
          </a:xfrm>
          <a:prstGeom prst="rect">
            <a:avLst/>
          </a:prstGeom>
          <a:noFill/>
        </p:spPr>
        <p:txBody>
          <a:bodyPr vert="horz" wrap="square" lIns="36576" tIns="36576" rIns="36576" bIns="36576" rtlCol="0">
            <a:spAutoFit/>
          </a:bodyPr>
          <a:lstStyle/>
          <a:p>
            <a:pPr algn="r"/>
            <a:r>
              <a:rPr lang="en-US" sz="1000">
                <a:solidFill>
                  <a:srgbClr val="CBD5E1"/>
                </a:solidFill>
                <a:latin typeface="Inter"/>
              </a:rPr>
              <a:t>Slide 18 of 18</a:t>
            </a:r>
          </a:p>
        </p:txBody>
      </p:sp>
    </p:spTree>
    <p:extLst>
      <p:ext uri="{BB962C8B-B14F-4D97-AF65-F5344CB8AC3E}">
        <p14:creationId xmlns:p14="http://schemas.microsoft.com/office/powerpoint/2010/main" val="210699720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11</TotalTime>
  <Words>2148</Words>
  <Application>Microsoft Office PowerPoint</Application>
  <DocSecurity>0</DocSecurity>
  <PresentationFormat>Widescreen</PresentationFormat>
  <Paragraphs>342</Paragraphs>
  <Slides>18</Slides>
  <Notes>12</Notes>
  <HiddenSlides>0</HiddenSlides>
  <MMClips>1</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18</vt:i4>
      </vt:variant>
    </vt:vector>
  </HeadingPairs>
  <TitlesOfParts>
    <vt:vector size="23" baseType="lpstr">
      <vt:lpstr>Inter</vt:lpstr>
      <vt:lpstr>Manrope</vt: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Augmentation &amp; Noise Resilience for Low-SNR AMC</dc:title>
  <dc:subject>12-minute EE136IU capstone defense</dc:subject>
  <dc:creator>EE136IU Topic 4 Team</dc:creator>
  <dc:description>Generated from PRESENTATION_12MIN.md</dc:description>
  <cp:lastModifiedBy>ES DEV 074</cp:lastModifiedBy>
  <cp:revision>6</cp:revision>
  <dcterms:created xsi:type="dcterms:W3CDTF">2026-10-20T19:02:09Z</dcterms:created>
  <dcterms:modified xsi:type="dcterms:W3CDTF">2026-10-22T14:47:49Z</dcterms:modified>
</cp:coreProperties>
</file>