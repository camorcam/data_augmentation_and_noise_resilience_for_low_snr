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a8cc589032264ae0" Type="http://schemas.openxmlformats.org/officeDocument/2006/relationships/officeDocument" Target="ppt/presentation.xml"/><Relationship Id="Rab7c603a889e4a77" Type="http://schemas.openxmlformats.org/package/2006/relationships/metadata/core-properties" Target="docProps/core.xml"/><Relationship Id="Rc33f0fbb34ff46c8"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18047bbff53a4917"/>
  </p:sldMasterIdLst>
  <p:notesMasterIdLst>
    <p:notesMasterId xmlns:r="http://schemas.openxmlformats.org/officeDocument/2006/relationships" r:id="R0df94775701b4e1d"/>
  </p:notesMasterIdLst>
  <p:sldIdLst>
    <p:sldId xmlns:ns0="http://schemas.openxmlformats.org/officeDocument/2006/relationships" id="256" ns0:id="rId7"/>
    <p:sldId xmlns:ns0="http://schemas.openxmlformats.org/officeDocument/2006/relationships" id="257" ns0:id="rId8"/>
    <p:sldId xmlns:ns0="http://schemas.openxmlformats.org/officeDocument/2006/relationships" id="258" ns0:id="rId9"/>
    <p:sldId xmlns:ns0="http://schemas.openxmlformats.org/officeDocument/2006/relationships" id="259" ns0:id="rId10"/>
    <p:sldId xmlns:ns0="http://schemas.openxmlformats.org/officeDocument/2006/relationships" id="260" ns0:id="rId11"/>
    <p:sldId xmlns:ns0="http://schemas.openxmlformats.org/officeDocument/2006/relationships" id="261" ns0:id="rId12"/>
    <p:sldId xmlns:ns0="http://schemas.openxmlformats.org/officeDocument/2006/relationships" id="262" ns0:id="rId13"/>
    <p:sldId xmlns:ns0="http://schemas.openxmlformats.org/officeDocument/2006/relationships" id="263" ns0:id="rId14"/>
    <p:sldId xmlns:ns0="http://schemas.openxmlformats.org/officeDocument/2006/relationships" id="264" ns0:id="rId15"/>
    <p:sldId xmlns:ns0="http://schemas.openxmlformats.org/officeDocument/2006/relationships" id="265" ns0:id="rId16"/>
    <p:sldId xmlns:ns0="http://schemas.openxmlformats.org/officeDocument/2006/relationships" id="266" ns0:id="rId17"/>
    <p:sldId xmlns:ns0="http://schemas.openxmlformats.org/officeDocument/2006/relationships" id="267" ns0:id="rId18"/>
    <p:sldId xmlns:ns0="http://schemas.openxmlformats.org/officeDocument/2006/relationships" id="268" ns0:id="rId19"/>
    <p:sldId xmlns:ns0="http://schemas.openxmlformats.org/officeDocument/2006/relationships" id="269" ns0:id="rId20"/>
    <p:sldId xmlns:ns0="http://schemas.openxmlformats.org/officeDocument/2006/relationships" id="270" ns0:id="rId21"/>
    <p:sldId xmlns:ns0="http://schemas.openxmlformats.org/officeDocument/2006/relationships" id="271" ns0:id="rId22"/>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df94775701b4e1d" Type="http://schemas.openxmlformats.org/officeDocument/2006/relationships/notesMaster" Target="notesMasters/notesMaster1.xml"/><Relationship Id="R18047bbff53a4917" Type="http://schemas.openxmlformats.org/officeDocument/2006/relationships/slideMaster" Target="slideMasters/slideMaster1.xml"/><Relationship Id="R40d4ac1e44a04505" Type="http://schemas.openxmlformats.org/officeDocument/2006/relationships/tableStyles" Target="tableStyles.xml"/><Relationship Id="Rd5bf3e2f1605479a" Type="http://schemas.openxmlformats.org/officeDocument/2006/relationships/presProps" Target="presProps.xml"/><Relationship Id="Recc3524a0e164af2" Type="http://schemas.openxmlformats.org/officeDocument/2006/relationships/viewProps" Target="viewProps.xml"/><Relationship Id="Rf338382d482e4f21" Type="http://schemas.openxmlformats.org/officeDocument/2006/relationships/theme" Target="theme/theme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c06a9976ef99459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Nhóm em nghiên cứu data augmentation cho nhận dạng điều chế ở SNR thấp. Trọng tâm là một phép so sánh có kiểm soát để xác định augmentation có thực sự giúp hay không.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AMC nhận một burst I/Q kích thước 2 nhân 128 và dự đoán một trong tám loại điều chế. Ở SNR thấp, noise làm các lớp chồng lấn mạnh. Vì vậy nhóm hỏi liệu các biến đổi có ý nghĩa vật lý khi train có cải thiện vùng −10 đến +2 dB hay không.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Ba câu hỏi là: augmentation có giúp low-SNR không, transform nào tốt nhất, và kết quả có ổn định qua nhiều seed không. Cấu hình chỉ được chọn trên validation; test set chỉ được dùng sau khi lựa chọn đã khóa.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 Dataset gồm 21,480 burst, tám lớp và 15 mức SNR, được chia cố định thành train, validation và test. Không có exact duplicate giữa các mẫu. Pipeline sinh tín hiệu thêm random initial phase và AWGN, sau đó chuẩn hóa RMS theo từng burst. Tuy nhiên đây vẫn là dữ liệu synthetic, chưa đại diện đầy đủ cho kênh RF thực.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 Với mỗi seed từ 42 đến 46, baseline và augmented model dùng cùng initial weights, shuffle, kiến trúc và hyperparameters. Validation chọn checkpoint; test không tham gia model selection. Thiết kế paired này giúp phần chênh lệch phản ánh augmentation thay vì khác biệt ngẫu nhiên giữa hai lần train.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 Nhóm khảo sát phase rotation, thêm AWGN, circular shift và amplitude scaling, cả riêng lẻ lẫn kết hợp. Lưu ý phase rotation dùng một góc hằng cho toàn burst; nó không phải CFO, vì CFO tạo phase ramp theo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Mọi cấu hình dùng cùng CNN 1D gồm 175,432 tham số, Adam và 25 epoch; chỉ dữ liệu đầu vào lúc train thay đổi. Checkpoint được chọn theo mean validation accuracy trong vùng −10 đến +2 dB, đúng với mục tiêu của đề tài.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Trên validation, phase-only cao nhất với 50.73%, nên được khóa trước khi mở test. Tuy nhiên nó chỉ hơn noise-only 0.16 điểm phần trăm; vì vậy chưa thể kết luận phase rotation về bản chất tốt hơn noise augmentation.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 Ba cặp thanh cho thấy phase-only đều tăng global accuracy, Macro-F1 và low-SNR accuracy; mức tăng lớn nhất là 4.72 điểm trong đúng vùng mục tiêu. Đường accuracy theo SNR cho thấy gain tập trung ở vùng thấp: khoảng 5.4 điểm tại −8 dB và 5.1 điểm tại −4 dB, rồi thu hẹp còn 2.25 điểm ở +4 dB. Global-accuracy gain vẫn dương ở cả năm seed.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 Confusion matrix giúp thấy augmentation không cải thiện đồng đều. Ở −4 dB, CPFSK tăng từ 46 lên 70%, GFSK từ 56 lên 76% và PAM4 cũng tốt hơn. Ở +4 dB, các lớp BPSK, PAM4 và FSK gần như bão hòa. Tuy nhiên lỗi được phân phối lại: QPSK tăng từ 58 lên 72%, trong khi 8PSK giảm 44 xuống 34% và 64QAM giảm 52 xuống 42%. Vì vậy kết luận đúng là hiệu năng tổng thể tăng, không phải mọi class đều tăng.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Training seed chọn checkpoint; burst seed chỉ tái tạo mẫu demo. Phase offset xoay toàn bộ constellation bằng một góc hằng, không mô phỏng CFO. Demo này chỉ minh họa hành vi model; kết luận vẫn dựa trên 6,000 test burst và năm seed.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Kết luận có thể bảo vệ là phase-only, sau khi được chọn bằng validation, cải thiện low-SNR accuracy 4.72 điểm trên frozen synthetic benchmark. Kết quả chưa chứng minh khả năng chống CFO hay tổng quát hóa sang RF thực. Bước tiếp theo là thêm channel impairment, nhiều dataset seed và dữ liệu thu từ phần cứng.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b82ec36dd37467b"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0b965d808bf417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a8413e8448ba409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78c73c8a792b40ec"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7cb719ccc59a45ec"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09e0a37a1cfb410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db6f9454a6e14895"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711423097c434c0c"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9bcc49d0d38c45ec"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df53b06d90a74076"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2cff7972c70d4101"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365E1D1-5860-441E-9A56-1F0D872209D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7E68A67-7C97-4022-8F11-CF11832FA4F6}"/>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886C588-23B5-47DF-940F-C10FB9500C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8D2ECF6-0192-4258-93FE-56D09CF31F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EFF55C0-8625-4518-8E03-383D5C5057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6C5EE3-9E2B-443F-82B5-C9DB31C680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D382E94-969E-4BEC-929B-80E4B64184F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914F9E-9D54-43E5-8D63-DC4DAC26CB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CE8893B-A124-4847-9747-F677C2545A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DC334D1-BA1E-4E13-A056-67CE1B45BB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257275-CD3B-447B-98EE-7FEB2DD8649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40DE658-C8E4-48AD-B28A-6B0CB7CA759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D141678-54AB-4313-96D5-E397A21D11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8F5CA73-6B0C-4E7E-8E07-371D1F420F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BC31B01-2F91-420D-83A2-753FE4836A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21CEB3-5793-4B4A-8F19-7B6C6AF3600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CFFC553-3864-480E-AB8F-E4FD6405960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7697B3B-403E-4912-8329-BA32EB86CDB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ACCE357-2ED8-4436-B313-C459761E2E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7A61E5F-04E2-40B2-BE86-1A130D91DC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A9753A0-E9FA-4652-90C4-4FEA45B810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837AF5-A3DD-4681-8E65-A216D20F829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DBDFB8F-122C-477D-9867-AF8149538D5D}"/>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69CD1CA-38C8-4C51-BC8F-87607F41A3A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0DC4A422-F465-4442-8539-61C417D4C9B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A46AAC5-0F1D-410D-BFEB-E77AE6CCBF5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DB799C1-EEFE-43E5-B4FE-1816DB0B6F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4254E280-E858-4190-AE4B-FD2780B62A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934C45E-A72A-482E-AF9F-0D91F9D9FB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D351E4-7DF0-4753-AAD2-70BCF86CB8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225683D-2C1A-4612-9052-E6BB3B7698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10445207-4A35-446D-9032-26E5320594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1A813C0-FE5D-4B54-8E7C-315D9BF9DB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8CE47C8-68C3-4A66-8B62-1AB3DB130A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D24DCDEB-8938-4A30-8BDD-A3A9B6345C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055A021-4659-4B92-A6FE-2A8187DB10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074E59-CFEE-42A1-B528-47C90D10B0D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2B95F47-9E2B-42E9-B581-7714169320A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9E29B18-CABE-471C-B97C-FCEA4B1DC0B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75D032C-671B-4C4E-8FC0-7B9590D2D9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A6CF54C5-6D58-4AF5-8785-B470A55717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ACBA742-5024-469A-A106-DED3C2B9F3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171DEF-1BB0-4A5A-9BEB-A1E4E0E66A9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D5F3972D-BD37-436A-8BF3-86DDA791A9DF}"/>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298490A-D4F7-46A1-A8F8-6CDDCD36E52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D1A897F-8935-46A9-8CD7-564D7FC9A4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3DFBE54C-E418-4FFC-A484-F1F657DA90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490FB43-F15C-4AD5-B8F5-CBFBA9DBA3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CA0806-BB49-4AF8-A2EB-57A39B9855F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632B75A-1C26-4AC2-A939-068A93AA8E9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278E1CA-D200-44BE-9B51-CA0E9CAC8D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61344BA-8B7C-458C-B01D-427335C150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03A9F78-8DE5-4DC8-BE4F-94847A050D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E920767-393D-4403-B250-0217B7948A2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ABDBD43-46F8-48CC-808A-ED6C745C25D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D751862-866B-4CB0-9A64-3B45E9FE7A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754B418-98B8-44C1-AAF5-4F516AC101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B61F8D5-D4AB-467A-895F-1FB92CF90B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0c54530981af4094" Type="http://schemas.openxmlformats.org/officeDocument/2006/relationships/theme" Target="theme/theme2.xml"/><Relationship Id="R0f5f2ac25352448d" Type="http://schemas.openxmlformats.org/officeDocument/2006/relationships/slideLayout" Target="../slideLayouts/slideLayout1.xml"/><Relationship Id="R18448040e4ed490e" Type="http://schemas.openxmlformats.org/officeDocument/2006/relationships/slideLayout" Target="../slideLayouts/slideLayout11.xml"/><Relationship Id="R32ab36a8d5074475" Type="http://schemas.openxmlformats.org/officeDocument/2006/relationships/slideLayout" Target="../slideLayouts/slideLayout9.xml"/><Relationship Id="R473b439f9f10413b" Type="http://schemas.openxmlformats.org/officeDocument/2006/relationships/slideLayout" Target="../slideLayouts/slideLayout10.xml"/><Relationship Id="R48aa58a08ca340fb" Type="http://schemas.openxmlformats.org/officeDocument/2006/relationships/slideLayout" Target="../slideLayouts/slideLayout7.xml"/><Relationship Id="R56d0890bbc764d35" Type="http://schemas.openxmlformats.org/officeDocument/2006/relationships/slideLayout" Target="../slideLayouts/slideLayout4.xml"/><Relationship Id="R6a87362172da4e19" Type="http://schemas.openxmlformats.org/officeDocument/2006/relationships/slideLayout" Target="../slideLayouts/slideLayout3.xml"/><Relationship Id="R79c02f7383f14dfb" Type="http://schemas.openxmlformats.org/officeDocument/2006/relationships/slideLayout" Target="../slideLayouts/slideLayout6.xml"/><Relationship Id="R916629c31af04a99" Type="http://schemas.openxmlformats.org/officeDocument/2006/relationships/slideLayout" Target="../slideLayouts/slideLayout2.xml"/><Relationship Id="Rdb117007de244140" Type="http://schemas.openxmlformats.org/officeDocument/2006/relationships/slideLayout" Target="../slideLayouts/slideLayout8.xml"/><Relationship Id="Rfb21d503c75d4416" Type="http://schemas.openxmlformats.org/officeDocument/2006/relationships/slideLayout" Target="../slideLayouts/slideLayout5.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82EFC76-8F37-4FA1-BB3D-C0E83DC3CCB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AA947B0-0446-4517-A5C5-789DB0696EC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12E24C1-EEFB-4135-A560-B3B24CC7A98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FAD00FB-5A06-4C3F-A93B-83CC5568F17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C1D65CC-5A65-4CEA-B8B0-E6DFBAA01C7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5f2ac25352448d"/>
    <p:sldLayoutId xmlns:r="http://schemas.openxmlformats.org/officeDocument/2006/relationships" id="2147483650" r:id="R916629c31af04a99"/>
    <p:sldLayoutId xmlns:r="http://schemas.openxmlformats.org/officeDocument/2006/relationships" id="2147483651" r:id="R6a87362172da4e19"/>
    <p:sldLayoutId xmlns:r="http://schemas.openxmlformats.org/officeDocument/2006/relationships" id="2147483652" r:id="R56d0890bbc764d35"/>
    <p:sldLayoutId xmlns:r="http://schemas.openxmlformats.org/officeDocument/2006/relationships" id="2147483653" r:id="Rfb21d503c75d4416"/>
    <p:sldLayoutId xmlns:r="http://schemas.openxmlformats.org/officeDocument/2006/relationships" id="2147483654" r:id="R79c02f7383f14dfb"/>
    <p:sldLayoutId xmlns:r="http://schemas.openxmlformats.org/officeDocument/2006/relationships" id="2147483655" r:id="R48aa58a08ca340fb"/>
    <p:sldLayoutId xmlns:r="http://schemas.openxmlformats.org/officeDocument/2006/relationships" id="2147483656" r:id="Rdb117007de244140"/>
    <p:sldLayoutId xmlns:r="http://schemas.openxmlformats.org/officeDocument/2006/relationships" id="2147483657" r:id="R32ab36a8d5074475"/>
    <p:sldLayoutId xmlns:r="http://schemas.openxmlformats.org/officeDocument/2006/relationships" id="2147483658" r:id="R473b439f9f10413b"/>
    <p:sldLayoutId xmlns:r="http://schemas.openxmlformats.org/officeDocument/2006/relationships" id="2147483659" r:id="R18448040e4ed490e"/>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001000" y="0"/>
            <a:ext cx="4190695" cy="6858000"/>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530352"/>
            <a:ext cx="621792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EE136IU • CAPSTONE MINI-PROJECT</a:t>
            </a:r>
          </a:p>
        </p:txBody>
      </p:sp>
      <p:sp>
        <p:nvSpPr>
          <p:cNvPr id="5" name="TextBox 4"/>
          <p:cNvSpPr txBox="1"/>
          <p:nvPr/>
        </p:nvSpPr>
        <p:spPr>
          <a:xfrm>
            <a:off x="658368" y="1143000"/>
            <a:ext cx="6858000" cy="1417320"/>
          </a:xfrm>
          <a:prstGeom prst="rect">
            <a:avLst/>
          </a:prstGeom>
          <a:noFill/>
        </p:spPr>
        <p:txBody>
          <a:bodyPr wrap="square" lIns="36576" rIns="36576" tIns="36576" bIns="36576" anchor="ctr">
            <a:spAutoFit/>
          </a:bodyPr>
          <a:lstStyle/>
          <a:p>
            <a:pPr algn="l">
              <a:lnSpc>
                <a:spcPct val="100000"/>
              </a:lnSpc>
              <a:defRPr sz="3400" b="1">
                <a:solidFill>
                  <a:srgbClr val="0F172A"/>
                </a:solidFill>
                <a:latin typeface="Manrope"/>
              </a:defRPr>
            </a:pPr>
            <a:r>
              <a:t>Data Augmentation &amp;</a:t>
            </a:r>
            <a:br/>
            <a:r>
              <a:t>Noise Resilience</a:t>
            </a:r>
          </a:p>
        </p:txBody>
      </p:sp>
      <p:sp>
        <p:nvSpPr>
          <p:cNvPr id="6" name="TextBox 5"/>
          <p:cNvSpPr txBox="1"/>
          <p:nvPr/>
        </p:nvSpPr>
        <p:spPr>
          <a:xfrm>
            <a:off x="685800" y="2633472"/>
            <a:ext cx="6629400" cy="502920"/>
          </a:xfrm>
          <a:prstGeom prst="rect">
            <a:avLst/>
          </a:prstGeom>
          <a:noFill/>
        </p:spPr>
        <p:txBody>
          <a:bodyPr wrap="square" lIns="36576" rIns="36576" tIns="36576" bIns="36576" anchor="ctr">
            <a:spAutoFit/>
          </a:bodyPr>
          <a:lstStyle/>
          <a:p>
            <a:pPr algn="l">
              <a:lnSpc>
                <a:spcPct val="100000"/>
              </a:lnSpc>
              <a:defRPr sz="1800" b="0">
                <a:solidFill>
                  <a:srgbClr val="475569"/>
                </a:solidFill>
                <a:latin typeface="Inter"/>
              </a:defRPr>
            </a:pPr>
            <a:r>
              <a:t>for Low-SNR Automatic Modulation Classification</a:t>
            </a:r>
          </a:p>
        </p:txBody>
      </p:sp>
      <p:sp>
        <p:nvSpPr>
          <p:cNvPr id="7" name="Rounded Rectangle 6"/>
          <p:cNvSpPr/>
          <p:nvPr/>
        </p:nvSpPr>
        <p:spPr>
          <a:xfrm>
            <a:off x="685800" y="3401568"/>
            <a:ext cx="6355080" cy="640080"/>
          </a:xfrm>
          <a:prstGeom prst="roundRect">
            <a:avLst/>
          </a:prstGeom>
          <a:solidFill>
            <a:srgbClr val="F0F9FF"/>
          </a:solidFill>
          <a:ln w="12700">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3520440"/>
            <a:ext cx="5943600" cy="384048"/>
          </a:xfrm>
          <a:prstGeom prst="rect">
            <a:avLst/>
          </a:prstGeom>
          <a:noFill/>
        </p:spPr>
        <p:txBody>
          <a:bodyPr wrap="square" lIns="36576" rIns="36576" tIns="36576" bIns="36576" anchor="ctr">
            <a:spAutoFit/>
          </a:bodyPr>
          <a:lstStyle/>
          <a:p>
            <a:pPr algn="l">
              <a:lnSpc>
                <a:spcPct val="100000"/>
              </a:lnSpc>
              <a:defRPr sz="1400" b="1">
                <a:solidFill>
                  <a:srgbClr val="2563EB"/>
                </a:solidFill>
                <a:latin typeface="Inter"/>
              </a:defRPr>
            </a:pPr>
            <a:r>
              <a:t>A controlled, paired evaluation across five training seeds</a:t>
            </a:r>
          </a:p>
        </p:txBody>
      </p:sp>
      <p:sp>
        <p:nvSpPr>
          <p:cNvPr id="9" name="TextBox 8"/>
          <p:cNvSpPr txBox="1"/>
          <p:nvPr/>
        </p:nvSpPr>
        <p:spPr>
          <a:xfrm>
            <a:off x="685800" y="5687568"/>
            <a:ext cx="5943600" cy="274320"/>
          </a:xfrm>
          <a:prstGeom prst="rect">
            <a:avLst/>
          </a:prstGeom>
          <a:noFill/>
        </p:spPr>
        <p:txBody>
          <a:bodyPr wrap="square" lIns="36576" rIns="36576" tIns="36576" bIns="36576" anchor="ctr">
            <a:spAutoFit/>
          </a:bodyPr>
          <a:lstStyle/>
          <a:p>
            <a:pPr algn="l">
              <a:lnSpc>
                <a:spcPct val="100000"/>
              </a:lnSpc>
              <a:defRPr sz="1100" b="0">
                <a:solidFill>
                  <a:srgbClr val="475569"/>
                </a:solidFill>
                <a:latin typeface="Inter"/>
              </a:defRPr>
            </a:pPr>
            <a:r>
              <a:t>Team: [Tên A] · [Tên B] · [Tên C]</a:t>
            </a:r>
          </a:p>
        </p:txBody>
      </p:sp>
      <p:sp>
        <p:nvSpPr>
          <p:cNvPr id="10" name="TextBox 9"/>
          <p:cNvSpPr txBox="1"/>
          <p:nvPr/>
        </p:nvSpPr>
        <p:spPr>
          <a:xfrm>
            <a:off x="685800" y="6053328"/>
            <a:ext cx="2834640" cy="256032"/>
          </a:xfrm>
          <a:prstGeom prst="rect">
            <a:avLst/>
          </a:prstGeom>
          <a:noFill/>
        </p:spPr>
        <p:txBody>
          <a:bodyPr wrap="square" lIns="36576" rIns="36576" tIns="36576" bIns="36576" anchor="ctr">
            <a:spAutoFit/>
          </a:bodyPr>
          <a:lstStyle/>
          <a:p>
            <a:pPr algn="l">
              <a:lnSpc>
                <a:spcPct val="100000"/>
              </a:lnSpc>
              <a:defRPr sz="1000" b="0">
                <a:solidFill>
                  <a:srgbClr val="64748B"/>
                </a:solidFill>
                <a:latin typeface="Inter"/>
              </a:defRPr>
            </a:pPr>
            <a:r>
              <a:t>12-minute defense</a:t>
            </a:r>
          </a:p>
        </p:txBody>
      </p:sp>
      <p:sp>
        <p:nvSpPr>
          <p:cNvPr id="11" name="TextBox 10"/>
          <p:cNvSpPr txBox="1"/>
          <p:nvPr/>
        </p:nvSpPr>
        <p:spPr>
          <a:xfrm>
            <a:off x="8485632" y="594360"/>
            <a:ext cx="3017520" cy="320040"/>
          </a:xfrm>
          <a:prstGeom prst="rect">
            <a:avLst/>
          </a:prstGeom>
          <a:noFill/>
        </p:spPr>
        <p:txBody>
          <a:bodyPr wrap="square" lIns="36576" rIns="36576" tIns="36576" bIns="36576" anchor="ctr">
            <a:spAutoFit/>
          </a:bodyPr>
          <a:lstStyle/>
          <a:p>
            <a:pPr algn="l">
              <a:lnSpc>
                <a:spcPct val="100000"/>
              </a:lnSpc>
              <a:defRPr sz="1000" b="1">
                <a:solidFill>
                  <a:srgbClr val="7DD3FC"/>
                </a:solidFill>
                <a:latin typeface="Inter"/>
              </a:defRPr>
            </a:pPr>
            <a:r>
              <a:t>8 MODULATIONS</a:t>
            </a:r>
          </a:p>
        </p:txBody>
      </p:sp>
      <p:sp>
        <p:nvSpPr>
          <p:cNvPr id="12" name="Oval 11"/>
          <p:cNvSpPr/>
          <p:nvPr/>
        </p:nvSpPr>
        <p:spPr>
          <a:xfrm>
            <a:off x="8732520" y="1325880"/>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32520" y="2039112"/>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32520" y="2752344"/>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32520" y="3465576"/>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445752" y="1325880"/>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45752" y="2039112"/>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445752" y="2752344"/>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45752" y="3465576"/>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158984" y="1325880"/>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58984" y="2039112"/>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58984" y="2752344"/>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158984" y="3465576"/>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872216" y="1325880"/>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872216" y="2039112"/>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872216" y="2752344"/>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72216" y="3465576"/>
            <a:ext cx="118872" cy="118872"/>
          </a:xfrm>
          <a:prstGeom prst="ellipse">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8485632" y="2459736"/>
            <a:ext cx="2962656"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021824" y="1124712"/>
            <a:ext cx="0" cy="297180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85632" y="4663440"/>
            <a:ext cx="2468880" cy="502920"/>
          </a:xfrm>
          <a:prstGeom prst="rect">
            <a:avLst/>
          </a:prstGeom>
          <a:noFill/>
        </p:spPr>
        <p:txBody>
          <a:bodyPr wrap="square" lIns="36576" rIns="36576" tIns="36576" bIns="36576" anchor="ctr">
            <a:spAutoFit/>
          </a:bodyPr>
          <a:lstStyle/>
          <a:p>
            <a:pPr algn="l">
              <a:lnSpc>
                <a:spcPct val="100000"/>
              </a:lnSpc>
              <a:defRPr sz="2700" b="1">
                <a:solidFill>
                  <a:srgbClr val="FFFFFF"/>
                </a:solidFill>
                <a:latin typeface="Manrope"/>
              </a:defRPr>
            </a:pPr>
            <a:r>
              <a:t>21,480</a:t>
            </a:r>
          </a:p>
        </p:txBody>
      </p:sp>
      <p:sp>
        <p:nvSpPr>
          <p:cNvPr id="31" name="TextBox 30"/>
          <p:cNvSpPr txBox="1"/>
          <p:nvPr/>
        </p:nvSpPr>
        <p:spPr>
          <a:xfrm>
            <a:off x="8503920" y="5166360"/>
            <a:ext cx="2468880" cy="274320"/>
          </a:xfrm>
          <a:prstGeom prst="rect">
            <a:avLst/>
          </a:prstGeom>
          <a:noFill/>
        </p:spPr>
        <p:txBody>
          <a:bodyPr wrap="square" lIns="36576" rIns="36576" tIns="36576" bIns="36576" anchor="ctr">
            <a:spAutoFit/>
          </a:bodyPr>
          <a:lstStyle/>
          <a:p>
            <a:pPr algn="l">
              <a:lnSpc>
                <a:spcPct val="100000"/>
              </a:lnSpc>
              <a:defRPr sz="1100" b="0">
                <a:solidFill>
                  <a:srgbClr val="CBD5E1"/>
                </a:solidFill>
                <a:latin typeface="Inter"/>
              </a:defRPr>
            </a:pPr>
            <a:r>
              <a:t>unique I/Q bursts</a:t>
            </a:r>
          </a:p>
        </p:txBody>
      </p:sp>
      <p:sp>
        <p:nvSpPr>
          <p:cNvPr id="32" name="TextBox 31"/>
          <p:cNvSpPr txBox="1"/>
          <p:nvPr/>
        </p:nvSpPr>
        <p:spPr>
          <a:xfrm>
            <a:off x="8503920" y="5779008"/>
            <a:ext cx="2926080" cy="274320"/>
          </a:xfrm>
          <a:prstGeom prst="rect">
            <a:avLst/>
          </a:prstGeom>
          <a:noFill/>
        </p:spPr>
        <p:txBody>
          <a:bodyPr wrap="square" lIns="36576" rIns="36576" tIns="36576" bIns="36576" anchor="ctr">
            <a:spAutoFit/>
          </a:bodyPr>
          <a:lstStyle/>
          <a:p>
            <a:pPr algn="l">
              <a:lnSpc>
                <a:spcPct val="100000"/>
              </a:lnSpc>
              <a:defRPr sz="1000" b="1">
                <a:solidFill>
                  <a:srgbClr val="7DD3FC"/>
                </a:solidFill>
                <a:latin typeface="Inter"/>
              </a:defRPr>
            </a:pPr>
            <a:r>
              <a:t>15 SNR levels  ·  5 seeds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01 · PROBLEM</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AMC becomes difficult at low SNR</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One burst in, one modulation label out — under severe noise</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2 of 12</a:t>
            </a:r>
          </a:p>
        </p:txBody>
      </p:sp>
      <p:sp>
        <p:nvSpPr>
          <p:cNvPr id="8" name="Rounded Rectangle 7"/>
          <p:cNvSpPr/>
          <p:nvPr/>
        </p:nvSpPr>
        <p:spPr>
          <a:xfrm>
            <a:off x="658368" y="1691640"/>
            <a:ext cx="3383280" cy="1874519"/>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74519"/>
            <a:ext cx="411480" cy="320040"/>
          </a:xfrm>
          <a:prstGeom prst="rect">
            <a:avLst/>
          </a:prstGeom>
          <a:noFill/>
        </p:spPr>
        <p:txBody>
          <a:bodyPr wrap="square" lIns="36576" rIns="36576" tIns="36576" bIns="36576" anchor="ctr">
            <a:spAutoFit/>
          </a:bodyPr>
          <a:lstStyle/>
          <a:p>
            <a:pPr algn="l">
              <a:lnSpc>
                <a:spcPct val="100000"/>
              </a:lnSpc>
              <a:defRPr sz="1100" b="1">
                <a:solidFill>
                  <a:srgbClr val="0284C7"/>
                </a:solidFill>
                <a:latin typeface="Inter"/>
              </a:defRPr>
            </a:pPr>
            <a:r>
              <a:t>01</a:t>
            </a:r>
          </a:p>
        </p:txBody>
      </p:sp>
      <p:sp>
        <p:nvSpPr>
          <p:cNvPr id="10" name="TextBox 9"/>
          <p:cNvSpPr txBox="1"/>
          <p:nvPr/>
        </p:nvSpPr>
        <p:spPr>
          <a:xfrm>
            <a:off x="1362456" y="1874519"/>
            <a:ext cx="2194560" cy="274320"/>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INPUT</a:t>
            </a:r>
          </a:p>
        </p:txBody>
      </p:sp>
      <p:sp>
        <p:nvSpPr>
          <p:cNvPr id="11" name="TextBox 10"/>
          <p:cNvSpPr txBox="1"/>
          <p:nvPr/>
        </p:nvSpPr>
        <p:spPr>
          <a:xfrm>
            <a:off x="877824" y="2331720"/>
            <a:ext cx="2834640" cy="438912"/>
          </a:xfrm>
          <a:prstGeom prst="rect">
            <a:avLst/>
          </a:prstGeom>
          <a:noFill/>
        </p:spPr>
        <p:txBody>
          <a:bodyPr wrap="square" lIns="36576" rIns="36576" tIns="36576" bIns="36576" anchor="ctr">
            <a:spAutoFit/>
          </a:bodyPr>
          <a:lstStyle/>
          <a:p>
            <a:pPr algn="l">
              <a:lnSpc>
                <a:spcPct val="100000"/>
              </a:lnSpc>
              <a:defRPr sz="2400" b="1">
                <a:solidFill>
                  <a:srgbClr val="0F172A"/>
                </a:solidFill>
                <a:latin typeface="Manrope"/>
              </a:defRPr>
            </a:pPr>
            <a:r>
              <a:t>I/Q burst</a:t>
            </a:r>
          </a:p>
        </p:txBody>
      </p:sp>
      <p:sp>
        <p:nvSpPr>
          <p:cNvPr id="12" name="TextBox 11"/>
          <p:cNvSpPr txBox="1"/>
          <p:nvPr/>
        </p:nvSpPr>
        <p:spPr>
          <a:xfrm>
            <a:off x="877824" y="2944368"/>
            <a:ext cx="2834640" cy="310896"/>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Tensor [2, 128]</a:t>
            </a:r>
          </a:p>
        </p:txBody>
      </p:sp>
      <p:sp>
        <p:nvSpPr>
          <p:cNvPr id="13" name="Chevron 12"/>
          <p:cNvSpPr/>
          <p:nvPr/>
        </p:nvSpPr>
        <p:spPr>
          <a:xfrm>
            <a:off x="4096511" y="2404872"/>
            <a:ext cx="274320"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34840" y="1691640"/>
            <a:ext cx="3383280" cy="1874519"/>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4296" y="1874519"/>
            <a:ext cx="411480" cy="320040"/>
          </a:xfrm>
          <a:prstGeom prst="rect">
            <a:avLst/>
          </a:prstGeom>
          <a:noFill/>
        </p:spPr>
        <p:txBody>
          <a:bodyPr wrap="square" lIns="36576" rIns="36576" tIns="36576" bIns="36576" anchor="ctr">
            <a:spAutoFit/>
          </a:bodyPr>
          <a:lstStyle/>
          <a:p>
            <a:pPr algn="l">
              <a:lnSpc>
                <a:spcPct val="100000"/>
              </a:lnSpc>
              <a:defRPr sz="1100" b="1">
                <a:solidFill>
                  <a:srgbClr val="0284C7"/>
                </a:solidFill>
                <a:latin typeface="Inter"/>
              </a:defRPr>
            </a:pPr>
            <a:r>
              <a:t>02</a:t>
            </a:r>
          </a:p>
        </p:txBody>
      </p:sp>
      <p:sp>
        <p:nvSpPr>
          <p:cNvPr id="16" name="TextBox 15"/>
          <p:cNvSpPr txBox="1"/>
          <p:nvPr/>
        </p:nvSpPr>
        <p:spPr>
          <a:xfrm>
            <a:off x="5138927" y="1874519"/>
            <a:ext cx="2194560" cy="274320"/>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TASK</a:t>
            </a:r>
          </a:p>
        </p:txBody>
      </p:sp>
      <p:sp>
        <p:nvSpPr>
          <p:cNvPr id="17" name="TextBox 16"/>
          <p:cNvSpPr txBox="1"/>
          <p:nvPr/>
        </p:nvSpPr>
        <p:spPr>
          <a:xfrm>
            <a:off x="4654296" y="2331720"/>
            <a:ext cx="2834640" cy="438912"/>
          </a:xfrm>
          <a:prstGeom prst="rect">
            <a:avLst/>
          </a:prstGeom>
          <a:noFill/>
        </p:spPr>
        <p:txBody>
          <a:bodyPr wrap="square" lIns="36576" rIns="36576" tIns="36576" bIns="36576" anchor="ctr">
            <a:spAutoFit/>
          </a:bodyPr>
          <a:lstStyle/>
          <a:p>
            <a:pPr algn="l">
              <a:lnSpc>
                <a:spcPct val="100000"/>
              </a:lnSpc>
              <a:defRPr sz="2400" b="1">
                <a:solidFill>
                  <a:srgbClr val="0F172A"/>
                </a:solidFill>
                <a:latin typeface="Manrope"/>
              </a:defRPr>
            </a:pPr>
            <a:r>
              <a:t>8 classes</a:t>
            </a:r>
          </a:p>
        </p:txBody>
      </p:sp>
      <p:sp>
        <p:nvSpPr>
          <p:cNvPr id="18" name="TextBox 17"/>
          <p:cNvSpPr txBox="1"/>
          <p:nvPr/>
        </p:nvSpPr>
        <p:spPr>
          <a:xfrm>
            <a:off x="4654296" y="2944368"/>
            <a:ext cx="2834640" cy="310896"/>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PSK · QAM · PAM · FSK</a:t>
            </a:r>
          </a:p>
        </p:txBody>
      </p:sp>
      <p:sp>
        <p:nvSpPr>
          <p:cNvPr id="19" name="Chevron 18"/>
          <p:cNvSpPr/>
          <p:nvPr/>
        </p:nvSpPr>
        <p:spPr>
          <a:xfrm>
            <a:off x="7872983" y="2404872"/>
            <a:ext cx="274320"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11312" y="1691640"/>
            <a:ext cx="3383280" cy="1874519"/>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1874519"/>
            <a:ext cx="411480" cy="320040"/>
          </a:xfrm>
          <a:prstGeom prst="rect">
            <a:avLst/>
          </a:prstGeom>
          <a:noFill/>
        </p:spPr>
        <p:txBody>
          <a:bodyPr wrap="square" lIns="36576" rIns="36576" tIns="36576" bIns="36576" anchor="ctr">
            <a:spAutoFit/>
          </a:bodyPr>
          <a:lstStyle/>
          <a:p>
            <a:pPr algn="l">
              <a:lnSpc>
                <a:spcPct val="100000"/>
              </a:lnSpc>
              <a:defRPr sz="1100" b="1">
                <a:solidFill>
                  <a:srgbClr val="0284C7"/>
                </a:solidFill>
                <a:latin typeface="Inter"/>
              </a:defRPr>
            </a:pPr>
            <a:r>
              <a:t>03</a:t>
            </a:r>
          </a:p>
        </p:txBody>
      </p:sp>
      <p:sp>
        <p:nvSpPr>
          <p:cNvPr id="22" name="TextBox 21"/>
          <p:cNvSpPr txBox="1"/>
          <p:nvPr/>
        </p:nvSpPr>
        <p:spPr>
          <a:xfrm>
            <a:off x="8915400" y="1874519"/>
            <a:ext cx="2194560" cy="274320"/>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CHALLENGE</a:t>
            </a:r>
          </a:p>
        </p:txBody>
      </p:sp>
      <p:sp>
        <p:nvSpPr>
          <p:cNvPr id="23" name="TextBox 22"/>
          <p:cNvSpPr txBox="1"/>
          <p:nvPr/>
        </p:nvSpPr>
        <p:spPr>
          <a:xfrm>
            <a:off x="8430768" y="2331720"/>
            <a:ext cx="2834640" cy="438912"/>
          </a:xfrm>
          <a:prstGeom prst="rect">
            <a:avLst/>
          </a:prstGeom>
          <a:noFill/>
        </p:spPr>
        <p:txBody>
          <a:bodyPr wrap="square" lIns="36576" rIns="36576" tIns="36576" bIns="36576" anchor="ctr">
            <a:spAutoFit/>
          </a:bodyPr>
          <a:lstStyle/>
          <a:p>
            <a:pPr algn="l">
              <a:lnSpc>
                <a:spcPct val="100000"/>
              </a:lnSpc>
              <a:defRPr sz="2400" b="1">
                <a:solidFill>
                  <a:srgbClr val="0F172A"/>
                </a:solidFill>
                <a:latin typeface="Manrope"/>
              </a:defRPr>
            </a:pPr>
            <a:r>
              <a:t>−10 to +2 dB</a:t>
            </a:r>
          </a:p>
        </p:txBody>
      </p:sp>
      <p:sp>
        <p:nvSpPr>
          <p:cNvPr id="24" name="TextBox 23"/>
          <p:cNvSpPr txBox="1"/>
          <p:nvPr/>
        </p:nvSpPr>
        <p:spPr>
          <a:xfrm>
            <a:off x="8430768" y="2944368"/>
            <a:ext cx="2834640" cy="310896"/>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Noise masks class structure</a:t>
            </a:r>
          </a:p>
        </p:txBody>
      </p:sp>
      <p:sp>
        <p:nvSpPr>
          <p:cNvPr id="25" name="Rounded Rectangle 24"/>
          <p:cNvSpPr/>
          <p:nvPr/>
        </p:nvSpPr>
        <p:spPr>
          <a:xfrm>
            <a:off x="1234440" y="4133087"/>
            <a:ext cx="9720072" cy="1188720"/>
          </a:xfrm>
          <a:prstGeom prst="roundRect">
            <a:avLst/>
          </a:prstGeom>
          <a:solidFill>
            <a:srgbClr val="F0F9FF"/>
          </a:solidFill>
          <a:ln w="12700">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72768" y="4352544"/>
            <a:ext cx="1920240" cy="228600"/>
          </a:xfrm>
          <a:prstGeom prst="rect">
            <a:avLst/>
          </a:prstGeom>
          <a:noFill/>
        </p:spPr>
        <p:txBody>
          <a:bodyPr wrap="square" lIns="36576" rIns="36576" tIns="36576" bIns="36576" anchor="ctr">
            <a:spAutoFit/>
          </a:bodyPr>
          <a:lstStyle/>
          <a:p>
            <a:pPr algn="l">
              <a:lnSpc>
                <a:spcPct val="100000"/>
              </a:lnSpc>
              <a:defRPr sz="900" b="1">
                <a:solidFill>
                  <a:srgbClr val="0284C7"/>
                </a:solidFill>
                <a:latin typeface="Inter"/>
              </a:defRPr>
            </a:pPr>
            <a:r>
              <a:t>RESEARCH QUESTION</a:t>
            </a:r>
          </a:p>
        </p:txBody>
      </p:sp>
      <p:sp>
        <p:nvSpPr>
          <p:cNvPr id="27" name="TextBox 26"/>
          <p:cNvSpPr txBox="1"/>
          <p:nvPr/>
        </p:nvSpPr>
        <p:spPr>
          <a:xfrm>
            <a:off x="1572768" y="4645152"/>
            <a:ext cx="8732520" cy="402336"/>
          </a:xfrm>
          <a:prstGeom prst="rect">
            <a:avLst/>
          </a:prstGeom>
          <a:noFill/>
        </p:spPr>
        <p:txBody>
          <a:bodyPr wrap="square" lIns="36576" rIns="36576" tIns="36576" bIns="36576" anchor="ctr">
            <a:spAutoFit/>
          </a:bodyPr>
          <a:lstStyle/>
          <a:p>
            <a:pPr algn="l">
              <a:lnSpc>
                <a:spcPct val="100000"/>
              </a:lnSpc>
              <a:defRPr sz="1900" b="1">
                <a:solidFill>
                  <a:srgbClr val="0F172A"/>
                </a:solidFill>
                <a:latin typeface="Manrope"/>
              </a:defRPr>
            </a:pPr>
            <a:r>
              <a:t>Can physically motivated augmentation improve low-SNR classification?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01 · OBJECTIVE</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Three questions, one locked evaluation protocol</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The test set is not used for transform or checkpoint selection</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3 of 12</a:t>
            </a:r>
          </a:p>
        </p:txBody>
      </p:sp>
      <p:sp>
        <p:nvSpPr>
          <p:cNvPr id="8" name="Oval 7"/>
          <p:cNvSpPr/>
          <p:nvPr/>
        </p:nvSpPr>
        <p:spPr>
          <a:xfrm>
            <a:off x="749808" y="1801368"/>
            <a:ext cx="530352" cy="530352"/>
          </a:xfrm>
          <a:prstGeom prst="ellipse">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01368"/>
            <a:ext cx="530352" cy="530352"/>
          </a:xfrm>
          <a:prstGeom prst="rect">
            <a:avLst/>
          </a:prstGeom>
          <a:noFill/>
        </p:spPr>
        <p:txBody>
          <a:bodyPr wrap="square" lIns="36576" rIns="36576" tIns="36576" bIns="36576" anchor="ctr">
            <a:spAutoFit/>
          </a:bodyPr>
          <a:lstStyle/>
          <a:p>
            <a:pPr algn="ctr">
              <a:lnSpc>
                <a:spcPct val="100000"/>
              </a:lnSpc>
              <a:defRPr sz="1100" b="1">
                <a:solidFill>
                  <a:srgbClr val="FFFFFF"/>
                </a:solidFill>
                <a:latin typeface="Inter"/>
              </a:defRPr>
            </a:pPr>
            <a:r>
              <a:t>01</a:t>
            </a:r>
          </a:p>
        </p:txBody>
      </p:sp>
      <p:sp>
        <p:nvSpPr>
          <p:cNvPr id="10" name="TextBox 9"/>
          <p:cNvSpPr txBox="1"/>
          <p:nvPr/>
        </p:nvSpPr>
        <p:spPr>
          <a:xfrm>
            <a:off x="1508760" y="1691640"/>
            <a:ext cx="4023360" cy="310896"/>
          </a:xfrm>
          <a:prstGeom prst="rect">
            <a:avLst/>
          </a:prstGeom>
          <a:noFill/>
        </p:spPr>
        <p:txBody>
          <a:bodyPr wrap="square" lIns="36576" rIns="36576" tIns="36576" bIns="36576" anchor="ctr">
            <a:spAutoFit/>
          </a:bodyPr>
          <a:lstStyle/>
          <a:p>
            <a:pPr algn="l">
              <a:lnSpc>
                <a:spcPct val="100000"/>
              </a:lnSpc>
              <a:defRPr sz="1700" b="1">
                <a:solidFill>
                  <a:srgbClr val="0F172A"/>
                </a:solidFill>
                <a:latin typeface="Manrope"/>
              </a:defRPr>
            </a:pPr>
            <a:r>
              <a:t>Does augmentation help?</a:t>
            </a:r>
          </a:p>
        </p:txBody>
      </p:sp>
      <p:sp>
        <p:nvSpPr>
          <p:cNvPr id="11" name="TextBox 10"/>
          <p:cNvSpPr txBox="1"/>
          <p:nvPr/>
        </p:nvSpPr>
        <p:spPr>
          <a:xfrm>
            <a:off x="1508760" y="2084832"/>
            <a:ext cx="4297680" cy="292608"/>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Measure low-SNR accuracy.</a:t>
            </a:r>
          </a:p>
        </p:txBody>
      </p:sp>
      <p:sp>
        <p:nvSpPr>
          <p:cNvPr id="12" name="Oval 11"/>
          <p:cNvSpPr/>
          <p:nvPr/>
        </p:nvSpPr>
        <p:spPr>
          <a:xfrm>
            <a:off x="749808" y="2916936"/>
            <a:ext cx="530352" cy="530352"/>
          </a:xfrm>
          <a:prstGeom prst="ellipse">
            <a:avLst/>
          </a:prstGeom>
          <a:solidFill>
            <a:srgbClr val="2563E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916936"/>
            <a:ext cx="530352" cy="530352"/>
          </a:xfrm>
          <a:prstGeom prst="rect">
            <a:avLst/>
          </a:prstGeom>
          <a:noFill/>
        </p:spPr>
        <p:txBody>
          <a:bodyPr wrap="square" lIns="36576" rIns="36576" tIns="36576" bIns="36576" anchor="ctr">
            <a:spAutoFit/>
          </a:bodyPr>
          <a:lstStyle/>
          <a:p>
            <a:pPr algn="ctr">
              <a:lnSpc>
                <a:spcPct val="100000"/>
              </a:lnSpc>
              <a:defRPr sz="1100" b="1">
                <a:solidFill>
                  <a:srgbClr val="FFFFFF"/>
                </a:solidFill>
                <a:latin typeface="Inter"/>
              </a:defRPr>
            </a:pPr>
            <a:r>
              <a:t>02</a:t>
            </a:r>
          </a:p>
        </p:txBody>
      </p:sp>
      <p:sp>
        <p:nvSpPr>
          <p:cNvPr id="14" name="TextBox 13"/>
          <p:cNvSpPr txBox="1"/>
          <p:nvPr/>
        </p:nvSpPr>
        <p:spPr>
          <a:xfrm>
            <a:off x="1508760" y="2807208"/>
            <a:ext cx="4023360" cy="310896"/>
          </a:xfrm>
          <a:prstGeom prst="rect">
            <a:avLst/>
          </a:prstGeom>
          <a:noFill/>
        </p:spPr>
        <p:txBody>
          <a:bodyPr wrap="square" lIns="36576" rIns="36576" tIns="36576" bIns="36576" anchor="ctr">
            <a:spAutoFit/>
          </a:bodyPr>
          <a:lstStyle/>
          <a:p>
            <a:pPr algn="l">
              <a:lnSpc>
                <a:spcPct val="100000"/>
              </a:lnSpc>
              <a:defRPr sz="1700" b="1">
                <a:solidFill>
                  <a:srgbClr val="0F172A"/>
                </a:solidFill>
                <a:latin typeface="Manrope"/>
              </a:defRPr>
            </a:pPr>
            <a:r>
              <a:t>Which transform wins?</a:t>
            </a:r>
          </a:p>
        </p:txBody>
      </p:sp>
      <p:sp>
        <p:nvSpPr>
          <p:cNvPr id="15" name="TextBox 14"/>
          <p:cNvSpPr txBox="1"/>
          <p:nvPr/>
        </p:nvSpPr>
        <p:spPr>
          <a:xfrm>
            <a:off x="1508760" y="3200400"/>
            <a:ext cx="4297680" cy="292608"/>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Ablate phase, noise, shift, scale and full.</a:t>
            </a:r>
          </a:p>
        </p:txBody>
      </p:sp>
      <p:sp>
        <p:nvSpPr>
          <p:cNvPr id="16" name="Oval 15"/>
          <p:cNvSpPr/>
          <p:nvPr/>
        </p:nvSpPr>
        <p:spPr>
          <a:xfrm>
            <a:off x="749808" y="4032504"/>
            <a:ext cx="530352" cy="530352"/>
          </a:xfrm>
          <a:prstGeom prst="ellipse">
            <a:avLst/>
          </a:prstGeom>
          <a:solidFill>
            <a:srgbClr val="2563E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032504"/>
            <a:ext cx="530352" cy="530352"/>
          </a:xfrm>
          <a:prstGeom prst="rect">
            <a:avLst/>
          </a:prstGeom>
          <a:noFill/>
        </p:spPr>
        <p:txBody>
          <a:bodyPr wrap="square" lIns="36576" rIns="36576" tIns="36576" bIns="36576" anchor="ctr">
            <a:spAutoFit/>
          </a:bodyPr>
          <a:lstStyle/>
          <a:p>
            <a:pPr algn="ctr">
              <a:lnSpc>
                <a:spcPct val="100000"/>
              </a:lnSpc>
              <a:defRPr sz="1100" b="1">
                <a:solidFill>
                  <a:srgbClr val="FFFFFF"/>
                </a:solidFill>
                <a:latin typeface="Inter"/>
              </a:defRPr>
            </a:pPr>
            <a:r>
              <a:t>03</a:t>
            </a:r>
          </a:p>
        </p:txBody>
      </p:sp>
      <p:sp>
        <p:nvSpPr>
          <p:cNvPr id="18" name="TextBox 17"/>
          <p:cNvSpPr txBox="1"/>
          <p:nvPr/>
        </p:nvSpPr>
        <p:spPr>
          <a:xfrm>
            <a:off x="1508760" y="3922776"/>
            <a:ext cx="4023360" cy="310896"/>
          </a:xfrm>
          <a:prstGeom prst="rect">
            <a:avLst/>
          </a:prstGeom>
          <a:noFill/>
        </p:spPr>
        <p:txBody>
          <a:bodyPr wrap="square" lIns="36576" rIns="36576" tIns="36576" bIns="36576" anchor="ctr">
            <a:spAutoFit/>
          </a:bodyPr>
          <a:lstStyle/>
          <a:p>
            <a:pPr algn="l">
              <a:lnSpc>
                <a:spcPct val="100000"/>
              </a:lnSpc>
              <a:defRPr sz="1700" b="1">
                <a:solidFill>
                  <a:srgbClr val="0F172A"/>
                </a:solidFill>
                <a:latin typeface="Manrope"/>
              </a:defRPr>
            </a:pPr>
            <a:r>
              <a:t>Is the gain stable?</a:t>
            </a:r>
          </a:p>
        </p:txBody>
      </p:sp>
      <p:sp>
        <p:nvSpPr>
          <p:cNvPr id="19" name="TextBox 18"/>
          <p:cNvSpPr txBox="1"/>
          <p:nvPr/>
        </p:nvSpPr>
        <p:spPr>
          <a:xfrm>
            <a:off x="1508760" y="4315968"/>
            <a:ext cx="4297680" cy="292608"/>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Repeat with five paired training seeds.</a:t>
            </a:r>
          </a:p>
        </p:txBody>
      </p:sp>
      <p:sp>
        <p:nvSpPr>
          <p:cNvPr id="20" name="Rounded Rectangle 19"/>
          <p:cNvSpPr/>
          <p:nvPr/>
        </p:nvSpPr>
        <p:spPr>
          <a:xfrm>
            <a:off x="6537960" y="1737360"/>
            <a:ext cx="4800600" cy="3566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76288" y="1965960"/>
            <a:ext cx="2377440" cy="256032"/>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SELECTION FLOW</a:t>
            </a:r>
          </a:p>
        </p:txBody>
      </p:sp>
      <p:sp>
        <p:nvSpPr>
          <p:cNvPr id="22" name="Rounded Rectangle 21"/>
          <p:cNvSpPr/>
          <p:nvPr/>
        </p:nvSpPr>
        <p:spPr>
          <a:xfrm>
            <a:off x="6876288" y="2468880"/>
            <a:ext cx="1572768"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31152" y="2468880"/>
            <a:ext cx="1463040" cy="53035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Frozen train</a:t>
            </a:r>
          </a:p>
        </p:txBody>
      </p:sp>
      <p:sp>
        <p:nvSpPr>
          <p:cNvPr id="24" name="Chevron 23"/>
          <p:cNvSpPr/>
          <p:nvPr/>
        </p:nvSpPr>
        <p:spPr>
          <a:xfrm>
            <a:off x="8622792" y="2560320"/>
            <a:ext cx="320040"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2468880"/>
            <a:ext cx="1874519" cy="53035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Fit all candidates</a:t>
            </a:r>
          </a:p>
        </p:txBody>
      </p:sp>
      <p:sp>
        <p:nvSpPr>
          <p:cNvPr id="26" name="Rounded Rectangle 25"/>
          <p:cNvSpPr/>
          <p:nvPr/>
        </p:nvSpPr>
        <p:spPr>
          <a:xfrm>
            <a:off x="6876288" y="3310128"/>
            <a:ext cx="1572768"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31152" y="3310128"/>
            <a:ext cx="1463040" cy="53035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Frozen validation</a:t>
            </a:r>
          </a:p>
        </p:txBody>
      </p:sp>
      <p:sp>
        <p:nvSpPr>
          <p:cNvPr id="28" name="Chevron 27"/>
          <p:cNvSpPr/>
          <p:nvPr/>
        </p:nvSpPr>
        <p:spPr>
          <a:xfrm>
            <a:off x="8622792" y="3401568"/>
            <a:ext cx="320040"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89136" y="3310128"/>
            <a:ext cx="1874519" cy="53035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Select transform + checkpoint</a:t>
            </a:r>
          </a:p>
        </p:txBody>
      </p:sp>
      <p:sp>
        <p:nvSpPr>
          <p:cNvPr id="30" name="Rounded Rectangle 29"/>
          <p:cNvSpPr/>
          <p:nvPr/>
        </p:nvSpPr>
        <p:spPr>
          <a:xfrm>
            <a:off x="6876288" y="4151376"/>
            <a:ext cx="1572768"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31152" y="4151376"/>
            <a:ext cx="1463040" cy="53035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Frozen test</a:t>
            </a:r>
          </a:p>
        </p:txBody>
      </p:sp>
      <p:sp>
        <p:nvSpPr>
          <p:cNvPr id="32" name="Chevron 31"/>
          <p:cNvSpPr/>
          <p:nvPr/>
        </p:nvSpPr>
        <p:spPr>
          <a:xfrm>
            <a:off x="8622792" y="4242816"/>
            <a:ext cx="320040"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89136" y="4151376"/>
            <a:ext cx="1874519" cy="530352"/>
          </a:xfrm>
          <a:prstGeom prst="rect">
            <a:avLst/>
          </a:prstGeom>
          <a:noFill/>
        </p:spPr>
        <p:txBody>
          <a:bodyPr wrap="square" lIns="36576" rIns="36576" tIns="36576" bIns="36576" anchor="ctr">
            <a:spAutoFit/>
          </a:bodyPr>
          <a:lstStyle/>
          <a:p>
            <a:pPr algn="l">
              <a:lnSpc>
                <a:spcPct val="100000"/>
              </a:lnSpc>
              <a:defRPr sz="1000" b="1">
                <a:solidFill>
                  <a:srgbClr val="475569"/>
                </a:solidFill>
                <a:latin typeface="Inter"/>
              </a:defRPr>
            </a:pPr>
            <a:r>
              <a:t>Final comparison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02 · DATA</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Dataset and signal model</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Frozen partitions, independent RNG streams and per-burst RMS normalization</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4 of 12</a:t>
            </a:r>
          </a:p>
        </p:txBody>
      </p:sp>
      <p:sp>
        <p:nvSpPr>
          <p:cNvPr id="8" name="Rounded Rectangle 7"/>
          <p:cNvSpPr/>
          <p:nvPr/>
        </p:nvSpPr>
        <p:spPr>
          <a:xfrm>
            <a:off x="658368" y="1664208"/>
            <a:ext cx="2514600" cy="12984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64208"/>
            <a:ext cx="73152" cy="1298448"/>
          </a:xfrm>
          <a:prstGeom prst="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810512"/>
            <a:ext cx="2148840"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UNIQUE BURSTS</a:t>
            </a:r>
          </a:p>
        </p:txBody>
      </p:sp>
      <p:sp>
        <p:nvSpPr>
          <p:cNvPr id="11" name="TextBox 10"/>
          <p:cNvSpPr txBox="1"/>
          <p:nvPr/>
        </p:nvSpPr>
        <p:spPr>
          <a:xfrm>
            <a:off x="886968" y="2103120"/>
            <a:ext cx="2148840"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21,480</a:t>
            </a:r>
          </a:p>
        </p:txBody>
      </p:sp>
      <p:sp>
        <p:nvSpPr>
          <p:cNvPr id="12" name="TextBox 11"/>
          <p:cNvSpPr txBox="1"/>
          <p:nvPr/>
        </p:nvSpPr>
        <p:spPr>
          <a:xfrm>
            <a:off x="886968" y="2542032"/>
            <a:ext cx="2148840"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0 exact duplicates</a:t>
            </a:r>
          </a:p>
        </p:txBody>
      </p:sp>
      <p:sp>
        <p:nvSpPr>
          <p:cNvPr id="13" name="Rounded Rectangle 12"/>
          <p:cNvSpPr/>
          <p:nvPr/>
        </p:nvSpPr>
        <p:spPr>
          <a:xfrm>
            <a:off x="3310128" y="1664208"/>
            <a:ext cx="2514600" cy="12984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10128" y="1664208"/>
            <a:ext cx="73152" cy="129844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8" y="1810512"/>
            <a:ext cx="2148840"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CLASSES</a:t>
            </a:r>
          </a:p>
        </p:txBody>
      </p:sp>
      <p:sp>
        <p:nvSpPr>
          <p:cNvPr id="16" name="TextBox 15"/>
          <p:cNvSpPr txBox="1"/>
          <p:nvPr/>
        </p:nvSpPr>
        <p:spPr>
          <a:xfrm>
            <a:off x="3538728" y="2103120"/>
            <a:ext cx="2148840"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8</a:t>
            </a:r>
          </a:p>
        </p:txBody>
      </p:sp>
      <p:sp>
        <p:nvSpPr>
          <p:cNvPr id="17" name="TextBox 16"/>
          <p:cNvSpPr txBox="1"/>
          <p:nvPr/>
        </p:nvSpPr>
        <p:spPr>
          <a:xfrm>
            <a:off x="3538728" y="2542032"/>
            <a:ext cx="2148840"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BPSK → GFSK</a:t>
            </a:r>
          </a:p>
        </p:txBody>
      </p:sp>
      <p:sp>
        <p:nvSpPr>
          <p:cNvPr id="18" name="Rounded Rectangle 17"/>
          <p:cNvSpPr/>
          <p:nvPr/>
        </p:nvSpPr>
        <p:spPr>
          <a:xfrm>
            <a:off x="5961888" y="1664208"/>
            <a:ext cx="2514600" cy="12984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61888" y="1664208"/>
            <a:ext cx="73152" cy="1298448"/>
          </a:xfrm>
          <a:prstGeom prst="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1810512"/>
            <a:ext cx="2148840"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SNR GRID</a:t>
            </a:r>
          </a:p>
        </p:txBody>
      </p:sp>
      <p:sp>
        <p:nvSpPr>
          <p:cNvPr id="21" name="TextBox 20"/>
          <p:cNvSpPr txBox="1"/>
          <p:nvPr/>
        </p:nvSpPr>
        <p:spPr>
          <a:xfrm>
            <a:off x="6190488" y="2103120"/>
            <a:ext cx="2148840"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15 levels</a:t>
            </a:r>
          </a:p>
        </p:txBody>
      </p:sp>
      <p:sp>
        <p:nvSpPr>
          <p:cNvPr id="22" name="TextBox 21"/>
          <p:cNvSpPr txBox="1"/>
          <p:nvPr/>
        </p:nvSpPr>
        <p:spPr>
          <a:xfrm>
            <a:off x="6190488" y="2542032"/>
            <a:ext cx="2148840"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−10, −8, …, +18 dB</a:t>
            </a:r>
          </a:p>
        </p:txBody>
      </p:sp>
      <p:sp>
        <p:nvSpPr>
          <p:cNvPr id="23" name="Rounded Rectangle 22"/>
          <p:cNvSpPr/>
          <p:nvPr/>
        </p:nvSpPr>
        <p:spPr>
          <a:xfrm>
            <a:off x="8613648" y="1664208"/>
            <a:ext cx="2514600" cy="12984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13648" y="1664208"/>
            <a:ext cx="73152" cy="1298448"/>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42248" y="1810512"/>
            <a:ext cx="2148840"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FROZEN SPLIT</a:t>
            </a:r>
          </a:p>
        </p:txBody>
      </p:sp>
      <p:sp>
        <p:nvSpPr>
          <p:cNvPr id="26" name="TextBox 25"/>
          <p:cNvSpPr txBox="1"/>
          <p:nvPr/>
        </p:nvSpPr>
        <p:spPr>
          <a:xfrm>
            <a:off x="8842248" y="2103120"/>
            <a:ext cx="2148840"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12.6k · 2.9k · 6k</a:t>
            </a:r>
          </a:p>
        </p:txBody>
      </p:sp>
      <p:sp>
        <p:nvSpPr>
          <p:cNvPr id="27" name="TextBox 26"/>
          <p:cNvSpPr txBox="1"/>
          <p:nvPr/>
        </p:nvSpPr>
        <p:spPr>
          <a:xfrm>
            <a:off x="8842248" y="2542032"/>
            <a:ext cx="2148840"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train / val / test</a:t>
            </a:r>
          </a:p>
        </p:txBody>
      </p:sp>
      <p:sp>
        <p:nvSpPr>
          <p:cNvPr id="28" name="TextBox 27"/>
          <p:cNvSpPr txBox="1"/>
          <p:nvPr/>
        </p:nvSpPr>
        <p:spPr>
          <a:xfrm>
            <a:off x="713232" y="3401568"/>
            <a:ext cx="2194560" cy="256032"/>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SIGNAL PIPELINE</a:t>
            </a:r>
          </a:p>
        </p:txBody>
      </p:sp>
      <p:sp>
        <p:nvSpPr>
          <p:cNvPr id="29" name="Rounded Rectangle 28"/>
          <p:cNvSpPr/>
          <p:nvPr/>
        </p:nvSpPr>
        <p:spPr>
          <a:xfrm>
            <a:off x="685800" y="3822191"/>
            <a:ext cx="1389888"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822191"/>
            <a:ext cx="1298448" cy="80467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Symbols</a:t>
            </a:r>
          </a:p>
        </p:txBody>
      </p:sp>
      <p:sp>
        <p:nvSpPr>
          <p:cNvPr id="31" name="Chevron 30"/>
          <p:cNvSpPr/>
          <p:nvPr/>
        </p:nvSpPr>
        <p:spPr>
          <a:xfrm>
            <a:off x="2139696" y="4050791"/>
            <a:ext cx="310896"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551176" y="3822191"/>
            <a:ext cx="1389888"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96896" y="3822191"/>
            <a:ext cx="1298448" cy="80467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Pulse / frequency</a:t>
            </a:r>
            <a:br/>
            <a:r>
              <a:t>shaping</a:t>
            </a:r>
          </a:p>
        </p:txBody>
      </p:sp>
      <p:sp>
        <p:nvSpPr>
          <p:cNvPr id="34" name="Chevron 33"/>
          <p:cNvSpPr/>
          <p:nvPr/>
        </p:nvSpPr>
        <p:spPr>
          <a:xfrm>
            <a:off x="4005072" y="4050791"/>
            <a:ext cx="310896"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416552" y="3822191"/>
            <a:ext cx="1389888" cy="804672"/>
          </a:xfrm>
          <a:prstGeom prst="roundRect">
            <a:avLst/>
          </a:prstGeom>
          <a:solidFill>
            <a:srgbClr val="F0F9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2272" y="3822191"/>
            <a:ext cx="1298448" cy="80467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Random initial</a:t>
            </a:r>
            <a:br/>
            <a:r>
              <a:t>phase</a:t>
            </a:r>
          </a:p>
        </p:txBody>
      </p:sp>
      <p:sp>
        <p:nvSpPr>
          <p:cNvPr id="37" name="Chevron 36"/>
          <p:cNvSpPr/>
          <p:nvPr/>
        </p:nvSpPr>
        <p:spPr>
          <a:xfrm>
            <a:off x="5870448" y="4050791"/>
            <a:ext cx="310896"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81928" y="3822191"/>
            <a:ext cx="1389888" cy="804672"/>
          </a:xfrm>
          <a:prstGeom prst="roundRect">
            <a:avLst/>
          </a:prstGeom>
          <a:solidFill>
            <a:srgbClr val="F0F9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27648" y="3822191"/>
            <a:ext cx="1298448" cy="80467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Complex</a:t>
            </a:r>
            <a:br/>
            <a:r>
              <a:t>AWGN</a:t>
            </a:r>
          </a:p>
        </p:txBody>
      </p:sp>
      <p:sp>
        <p:nvSpPr>
          <p:cNvPr id="40" name="Chevron 39"/>
          <p:cNvSpPr/>
          <p:nvPr/>
        </p:nvSpPr>
        <p:spPr>
          <a:xfrm>
            <a:off x="7735824" y="4050791"/>
            <a:ext cx="310896"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147304" y="3822191"/>
            <a:ext cx="1389888"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93024" y="3822191"/>
            <a:ext cx="1298448" cy="80467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[I, Q]</a:t>
            </a:r>
          </a:p>
        </p:txBody>
      </p:sp>
      <p:sp>
        <p:nvSpPr>
          <p:cNvPr id="43" name="Chevron 42"/>
          <p:cNvSpPr/>
          <p:nvPr/>
        </p:nvSpPr>
        <p:spPr>
          <a:xfrm>
            <a:off x="9601200" y="4050791"/>
            <a:ext cx="310896"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012680" y="3822191"/>
            <a:ext cx="1389888"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0" y="3822191"/>
            <a:ext cx="1298448" cy="80467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RMS</a:t>
            </a:r>
            <a:br/>
            <a:r>
              <a:t>normalize</a:t>
            </a:r>
          </a:p>
        </p:txBody>
      </p:sp>
      <p:sp>
        <p:nvSpPr>
          <p:cNvPr id="46" name="Rounded Rectangle 45"/>
          <p:cNvSpPr/>
          <p:nvPr/>
        </p:nvSpPr>
        <p:spPr>
          <a:xfrm>
            <a:off x="2029968" y="5138928"/>
            <a:ext cx="8119872"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40280" y="5294376"/>
            <a:ext cx="2606040" cy="292608"/>
          </a:xfrm>
          <a:prstGeom prst="rect">
            <a:avLst/>
          </a:prstGeom>
          <a:noFill/>
        </p:spPr>
        <p:txBody>
          <a:bodyPr wrap="square" lIns="36576" rIns="36576" tIns="36576" bIns="36576" anchor="ctr">
            <a:spAutoFit/>
          </a:bodyPr>
          <a:lstStyle/>
          <a:p>
            <a:pPr algn="l">
              <a:lnSpc>
                <a:spcPct val="100000"/>
              </a:lnSpc>
              <a:defRPr sz="1500" b="1">
                <a:solidFill>
                  <a:srgbClr val="0F172A"/>
                </a:solidFill>
                <a:latin typeface="Consolas"/>
              </a:defRPr>
            </a:pPr>
            <a:r>
              <a:t>RMS = √mean(I² + Q²)</a:t>
            </a:r>
          </a:p>
        </p:txBody>
      </p:sp>
      <p:sp>
        <p:nvSpPr>
          <p:cNvPr id="48" name="TextBox 47"/>
          <p:cNvSpPr txBox="1"/>
          <p:nvPr/>
        </p:nvSpPr>
        <p:spPr>
          <a:xfrm>
            <a:off x="5010912" y="5303520"/>
            <a:ext cx="4800600" cy="274320"/>
          </a:xfrm>
          <a:prstGeom prst="rect">
            <a:avLst/>
          </a:prstGeom>
          <a:noFill/>
        </p:spPr>
        <p:txBody>
          <a:bodyPr wrap="square" lIns="36576" rIns="36576" tIns="36576" bIns="36576" anchor="ctr">
            <a:spAutoFit/>
          </a:bodyPr>
          <a:lstStyle/>
          <a:p>
            <a:pPr algn="l">
              <a:lnSpc>
                <a:spcPct val="100000"/>
              </a:lnSpc>
              <a:defRPr sz="1050" b="1">
                <a:solidFill>
                  <a:srgbClr val="DC2626"/>
                </a:solidFill>
                <a:latin typeface="Inter"/>
              </a:defRPr>
            </a:pPr>
            <a:r>
              <a:t>Synthetic benchmark — not a full real-world RF channel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03 · EXPERIMENT</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Leakage-free paired comparison</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Within each seed, baseline and augmented training differ only by augmentation</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5 of 12</a:t>
            </a:r>
          </a:p>
        </p:txBody>
      </p:sp>
      <p:sp>
        <p:nvSpPr>
          <p:cNvPr id="8" name="Rounded Rectangle 7"/>
          <p:cNvSpPr/>
          <p:nvPr/>
        </p:nvSpPr>
        <p:spPr>
          <a:xfrm>
            <a:off x="685800" y="1691640"/>
            <a:ext cx="10972800"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874519"/>
            <a:ext cx="1417320" cy="292608"/>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SEEDS 42–46</a:t>
            </a:r>
          </a:p>
        </p:txBody>
      </p:sp>
      <p:sp>
        <p:nvSpPr>
          <p:cNvPr id="10" name="Rounded Rectangle 9"/>
          <p:cNvSpPr/>
          <p:nvPr/>
        </p:nvSpPr>
        <p:spPr>
          <a:xfrm>
            <a:off x="914400" y="2359152"/>
            <a:ext cx="1463040" cy="71323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359152"/>
            <a:ext cx="1316736" cy="71323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Same initial</a:t>
            </a:r>
            <a:br/>
            <a:r>
              <a:t>weights</a:t>
            </a:r>
          </a:p>
        </p:txBody>
      </p:sp>
      <p:sp>
        <p:nvSpPr>
          <p:cNvPr id="12" name="Chevron 11"/>
          <p:cNvSpPr/>
          <p:nvPr/>
        </p:nvSpPr>
        <p:spPr>
          <a:xfrm>
            <a:off x="2542032" y="2542032"/>
            <a:ext cx="411480"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27248" y="2057400"/>
            <a:ext cx="2011680" cy="594360"/>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27248" y="2057400"/>
            <a:ext cx="2011680" cy="594360"/>
          </a:xfrm>
          <a:prstGeom prst="rect">
            <a:avLst/>
          </a:prstGeom>
          <a:noFill/>
        </p:spPr>
        <p:txBody>
          <a:bodyPr wrap="square" lIns="36576" rIns="36576" tIns="36576" bIns="36576" anchor="ctr">
            <a:spAutoFit/>
          </a:bodyPr>
          <a:lstStyle/>
          <a:p>
            <a:pPr algn="ctr">
              <a:lnSpc>
                <a:spcPct val="100000"/>
              </a:lnSpc>
              <a:defRPr sz="1200" b="1">
                <a:solidFill>
                  <a:srgbClr val="334155"/>
                </a:solidFill>
                <a:latin typeface="Inter"/>
              </a:defRPr>
            </a:pPr>
            <a:r>
              <a:t>Baseline</a:t>
            </a:r>
          </a:p>
        </p:txBody>
      </p:sp>
      <p:sp>
        <p:nvSpPr>
          <p:cNvPr id="15" name="Rounded Rectangle 14"/>
          <p:cNvSpPr/>
          <p:nvPr/>
        </p:nvSpPr>
        <p:spPr>
          <a:xfrm>
            <a:off x="3127248" y="2816352"/>
            <a:ext cx="2011680" cy="594360"/>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27248" y="2816352"/>
            <a:ext cx="2011680" cy="594360"/>
          </a:xfrm>
          <a:prstGeom prst="rect">
            <a:avLst/>
          </a:prstGeom>
          <a:noFill/>
        </p:spPr>
        <p:txBody>
          <a:bodyPr wrap="square" lIns="36576" rIns="36576" tIns="36576" bIns="36576" anchor="ctr">
            <a:spAutoFit/>
          </a:bodyPr>
          <a:lstStyle/>
          <a:p>
            <a:pPr algn="ctr">
              <a:lnSpc>
                <a:spcPct val="100000"/>
              </a:lnSpc>
              <a:defRPr sz="1200" b="1">
                <a:solidFill>
                  <a:srgbClr val="0284C7"/>
                </a:solidFill>
                <a:latin typeface="Inter"/>
              </a:defRPr>
            </a:pPr>
            <a:r>
              <a:t>Augmented</a:t>
            </a:r>
          </a:p>
        </p:txBody>
      </p:sp>
      <p:sp>
        <p:nvSpPr>
          <p:cNvPr id="17" name="Chevron 16"/>
          <p:cNvSpPr/>
          <p:nvPr/>
        </p:nvSpPr>
        <p:spPr>
          <a:xfrm>
            <a:off x="5330952" y="2542032"/>
            <a:ext cx="411480"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16168" y="2359152"/>
            <a:ext cx="1691640" cy="71323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9320" y="2359152"/>
            <a:ext cx="1554480" cy="713232"/>
          </a:xfrm>
          <a:prstGeom prst="rect">
            <a:avLst/>
          </a:prstGeom>
          <a:noFill/>
        </p:spPr>
        <p:txBody>
          <a:bodyPr wrap="square" lIns="36576" rIns="36576" tIns="36576" bIns="36576" anchor="ctr">
            <a:spAutoFit/>
          </a:bodyPr>
          <a:lstStyle/>
          <a:p>
            <a:pPr algn="ctr">
              <a:lnSpc>
                <a:spcPct val="100000"/>
              </a:lnSpc>
              <a:defRPr sz="1000" b="1">
                <a:solidFill>
                  <a:srgbClr val="0F172A"/>
                </a:solidFill>
                <a:latin typeface="Inter"/>
              </a:defRPr>
            </a:pPr>
            <a:r>
              <a:t>Same shuffle +</a:t>
            </a:r>
            <a:br/>
            <a:r>
              <a:t>hyperparameters</a:t>
            </a:r>
          </a:p>
        </p:txBody>
      </p:sp>
      <p:sp>
        <p:nvSpPr>
          <p:cNvPr id="20" name="Chevron 19"/>
          <p:cNvSpPr/>
          <p:nvPr/>
        </p:nvSpPr>
        <p:spPr>
          <a:xfrm>
            <a:off x="7790688" y="2542032"/>
            <a:ext cx="411480"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85048" y="2359152"/>
            <a:ext cx="1298448" cy="713232"/>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2" y="2359152"/>
            <a:ext cx="1188720" cy="713232"/>
          </a:xfrm>
          <a:prstGeom prst="rect">
            <a:avLst/>
          </a:prstGeom>
          <a:noFill/>
        </p:spPr>
        <p:txBody>
          <a:bodyPr wrap="square" lIns="36576" rIns="36576" tIns="36576" bIns="36576" anchor="ctr">
            <a:spAutoFit/>
          </a:bodyPr>
          <a:lstStyle/>
          <a:p>
            <a:pPr algn="ctr">
              <a:lnSpc>
                <a:spcPct val="100000"/>
              </a:lnSpc>
              <a:defRPr sz="1000" b="1">
                <a:solidFill>
                  <a:srgbClr val="0284C7"/>
                </a:solidFill>
                <a:latin typeface="Inter"/>
              </a:defRPr>
            </a:pPr>
            <a:r>
              <a:t>Validation</a:t>
            </a:r>
            <a:br/>
            <a:r>
              <a:t>selects</a:t>
            </a:r>
          </a:p>
        </p:txBody>
      </p:sp>
      <p:sp>
        <p:nvSpPr>
          <p:cNvPr id="23" name="Chevron 22"/>
          <p:cNvSpPr/>
          <p:nvPr/>
        </p:nvSpPr>
        <p:spPr>
          <a:xfrm>
            <a:off x="9848088" y="2542032"/>
            <a:ext cx="411480"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378440" y="2359152"/>
            <a:ext cx="932688" cy="713232"/>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0" y="2359152"/>
            <a:ext cx="841248" cy="713232"/>
          </a:xfrm>
          <a:prstGeom prst="rect">
            <a:avLst/>
          </a:prstGeom>
          <a:noFill/>
        </p:spPr>
        <p:txBody>
          <a:bodyPr wrap="square" lIns="36576" rIns="36576" tIns="36576" bIns="36576" anchor="ctr">
            <a:spAutoFit/>
          </a:bodyPr>
          <a:lstStyle/>
          <a:p>
            <a:pPr algn="ctr">
              <a:lnSpc>
                <a:spcPct val="100000"/>
              </a:lnSpc>
              <a:defRPr sz="1000" b="1">
                <a:solidFill>
                  <a:srgbClr val="059669"/>
                </a:solidFill>
                <a:latin typeface="Inter"/>
              </a:defRPr>
            </a:pPr>
            <a:r>
              <a:t>Test</a:t>
            </a:r>
            <a:br/>
            <a:r>
              <a:t>once</a:t>
            </a:r>
          </a:p>
        </p:txBody>
      </p:sp>
      <p:sp>
        <p:nvSpPr>
          <p:cNvPr id="26" name="Rounded Rectangle 25"/>
          <p:cNvSpPr/>
          <p:nvPr/>
        </p:nvSpPr>
        <p:spPr>
          <a:xfrm>
            <a:off x="685800" y="4315968"/>
            <a:ext cx="3401568"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480560"/>
            <a:ext cx="3017520" cy="256032"/>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NO TEST LEAKAGE</a:t>
            </a:r>
          </a:p>
        </p:txBody>
      </p:sp>
      <p:sp>
        <p:nvSpPr>
          <p:cNvPr id="28" name="TextBox 27"/>
          <p:cNvSpPr txBox="1"/>
          <p:nvPr/>
        </p:nvSpPr>
        <p:spPr>
          <a:xfrm>
            <a:off x="868680" y="4828032"/>
            <a:ext cx="2999232" cy="347472"/>
          </a:xfrm>
          <a:prstGeom prst="rect">
            <a:avLst/>
          </a:prstGeom>
          <a:noFill/>
        </p:spPr>
        <p:txBody>
          <a:bodyPr wrap="square" lIns="36576" rIns="36576" tIns="36576" bIns="36576" anchor="ctr">
            <a:spAutoFit/>
          </a:bodyPr>
          <a:lstStyle/>
          <a:p>
            <a:pPr algn="l">
              <a:lnSpc>
                <a:spcPct val="100000"/>
              </a:lnSpc>
              <a:defRPr sz="950" b="0">
                <a:solidFill>
                  <a:srgbClr val="475569"/>
                </a:solidFill>
                <a:latin typeface="Inter"/>
              </a:defRPr>
            </a:pPr>
            <a:r>
              <a:t>Transform and checkpoint are chosen on validation.</a:t>
            </a:r>
          </a:p>
        </p:txBody>
      </p:sp>
      <p:sp>
        <p:nvSpPr>
          <p:cNvPr id="29" name="Rounded Rectangle 28"/>
          <p:cNvSpPr/>
          <p:nvPr/>
        </p:nvSpPr>
        <p:spPr>
          <a:xfrm>
            <a:off x="4416552" y="4315968"/>
            <a:ext cx="3401568"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9432" y="4480560"/>
            <a:ext cx="3017520" cy="256032"/>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PAIRED RANDOMNESS</a:t>
            </a:r>
          </a:p>
        </p:txBody>
      </p:sp>
      <p:sp>
        <p:nvSpPr>
          <p:cNvPr id="31" name="TextBox 30"/>
          <p:cNvSpPr txBox="1"/>
          <p:nvPr/>
        </p:nvSpPr>
        <p:spPr>
          <a:xfrm>
            <a:off x="4599432" y="4828032"/>
            <a:ext cx="2999232" cy="347472"/>
          </a:xfrm>
          <a:prstGeom prst="rect">
            <a:avLst/>
          </a:prstGeom>
          <a:noFill/>
        </p:spPr>
        <p:txBody>
          <a:bodyPr wrap="square" lIns="36576" rIns="36576" tIns="36576" bIns="36576" anchor="ctr">
            <a:spAutoFit/>
          </a:bodyPr>
          <a:lstStyle/>
          <a:p>
            <a:pPr algn="l">
              <a:lnSpc>
                <a:spcPct val="100000"/>
              </a:lnSpc>
              <a:defRPr sz="950" b="0">
                <a:solidFill>
                  <a:srgbClr val="475569"/>
                </a:solidFill>
                <a:latin typeface="Inter"/>
              </a:defRPr>
            </a:pPr>
            <a:r>
              <a:t>Initial weights and batch order are matched.</a:t>
            </a:r>
          </a:p>
        </p:txBody>
      </p:sp>
      <p:sp>
        <p:nvSpPr>
          <p:cNvPr id="32" name="Rounded Rectangle 31"/>
          <p:cNvSpPr/>
          <p:nvPr/>
        </p:nvSpPr>
        <p:spPr>
          <a:xfrm>
            <a:off x="8147304" y="4315968"/>
            <a:ext cx="3401568"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4480560"/>
            <a:ext cx="3017520" cy="256032"/>
          </a:xfrm>
          <a:prstGeom prst="rect">
            <a:avLst/>
          </a:prstGeom>
          <a:noFill/>
        </p:spPr>
        <p:txBody>
          <a:bodyPr wrap="square" lIns="36576" rIns="36576" tIns="36576" bIns="36576" anchor="ctr">
            <a:spAutoFit/>
          </a:bodyPr>
          <a:lstStyle/>
          <a:p>
            <a:pPr algn="l">
              <a:lnSpc>
                <a:spcPct val="100000"/>
              </a:lnSpc>
              <a:defRPr sz="1000" b="1">
                <a:solidFill>
                  <a:srgbClr val="059669"/>
                </a:solidFill>
                <a:latin typeface="Inter"/>
              </a:defRPr>
            </a:pPr>
            <a:r>
              <a:t>MULTI-SEED REPORT</a:t>
            </a:r>
          </a:p>
        </p:txBody>
      </p:sp>
      <p:sp>
        <p:nvSpPr>
          <p:cNvPr id="34" name="TextBox 33"/>
          <p:cNvSpPr txBox="1"/>
          <p:nvPr/>
        </p:nvSpPr>
        <p:spPr>
          <a:xfrm>
            <a:off x="8330183" y="4828032"/>
            <a:ext cx="2999232" cy="347472"/>
          </a:xfrm>
          <a:prstGeom prst="rect">
            <a:avLst/>
          </a:prstGeom>
          <a:noFill/>
        </p:spPr>
        <p:txBody>
          <a:bodyPr wrap="square" lIns="36576" rIns="36576" tIns="36576" bIns="36576" anchor="ctr">
            <a:spAutoFit/>
          </a:bodyPr>
          <a:lstStyle/>
          <a:p>
            <a:pPr algn="l">
              <a:lnSpc>
                <a:spcPct val="100000"/>
              </a:lnSpc>
              <a:defRPr sz="950" b="0">
                <a:solidFill>
                  <a:srgbClr val="475569"/>
                </a:solidFill>
                <a:latin typeface="Inter"/>
              </a:defRPr>
            </a:pPr>
            <a:r>
              <a:t>Mean ± sample SD across five training seeds.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03 · AUGMENTATION</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Four physically motivated candidates</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Each transform is ablated before considering the full combination</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6 of 12</a:t>
            </a:r>
          </a:p>
        </p:txBody>
      </p:sp>
      <p:sp>
        <p:nvSpPr>
          <p:cNvPr id="8" name="Rounded Rectangle 7"/>
          <p:cNvSpPr/>
          <p:nvPr/>
        </p:nvSpPr>
        <p:spPr>
          <a:xfrm>
            <a:off x="658368" y="1664208"/>
            <a:ext cx="5257800" cy="135331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64208"/>
            <a:ext cx="91440" cy="1353312"/>
          </a:xfrm>
          <a:prstGeom prst="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828800"/>
            <a:ext cx="2514600" cy="256032"/>
          </a:xfrm>
          <a:prstGeom prst="rect">
            <a:avLst/>
          </a:prstGeom>
          <a:noFill/>
        </p:spPr>
        <p:txBody>
          <a:bodyPr wrap="square" lIns="36576" rIns="36576" tIns="36576" bIns="36576" anchor="ctr">
            <a:spAutoFit/>
          </a:bodyPr>
          <a:lstStyle/>
          <a:p>
            <a:pPr algn="l">
              <a:lnSpc>
                <a:spcPct val="100000"/>
              </a:lnSpc>
              <a:defRPr sz="1100" b="1">
                <a:solidFill>
                  <a:srgbClr val="0284C7"/>
                </a:solidFill>
                <a:latin typeface="Inter"/>
              </a:defRPr>
            </a:pPr>
            <a:r>
              <a:t>PHASE ROTATION</a:t>
            </a:r>
          </a:p>
        </p:txBody>
      </p:sp>
      <p:sp>
        <p:nvSpPr>
          <p:cNvPr id="11" name="TextBox 10"/>
          <p:cNvSpPr txBox="1"/>
          <p:nvPr/>
        </p:nvSpPr>
        <p:spPr>
          <a:xfrm>
            <a:off x="4828031" y="1828800"/>
            <a:ext cx="749808" cy="256032"/>
          </a:xfrm>
          <a:prstGeom prst="rect">
            <a:avLst/>
          </a:prstGeom>
          <a:noFill/>
        </p:spPr>
        <p:txBody>
          <a:bodyPr wrap="square" lIns="36576" rIns="36576" tIns="36576" bIns="36576" anchor="ctr">
            <a:spAutoFit/>
          </a:bodyPr>
          <a:lstStyle/>
          <a:p>
            <a:pPr algn="r">
              <a:lnSpc>
                <a:spcPct val="100000"/>
              </a:lnSpc>
              <a:defRPr sz="1000" b="1">
                <a:solidFill>
                  <a:srgbClr val="0F172A"/>
                </a:solidFill>
                <a:latin typeface="Inter"/>
              </a:defRPr>
            </a:pPr>
            <a:r>
              <a:t>p = 0.50</a:t>
            </a:r>
          </a:p>
        </p:txBody>
      </p:sp>
      <p:sp>
        <p:nvSpPr>
          <p:cNvPr id="12" name="TextBox 11"/>
          <p:cNvSpPr txBox="1"/>
          <p:nvPr/>
        </p:nvSpPr>
        <p:spPr>
          <a:xfrm>
            <a:off x="932688" y="2176272"/>
            <a:ext cx="2697480" cy="329184"/>
          </a:xfrm>
          <a:prstGeom prst="rect">
            <a:avLst/>
          </a:prstGeom>
          <a:noFill/>
        </p:spPr>
        <p:txBody>
          <a:bodyPr wrap="square" lIns="36576" rIns="36576" tIns="36576" bIns="36576" anchor="ctr">
            <a:spAutoFit/>
          </a:bodyPr>
          <a:lstStyle/>
          <a:p>
            <a:pPr algn="l">
              <a:lnSpc>
                <a:spcPct val="100000"/>
              </a:lnSpc>
              <a:defRPr sz="1600" b="1">
                <a:solidFill>
                  <a:srgbClr val="0F172A"/>
                </a:solidFill>
                <a:latin typeface="Consolas"/>
              </a:defRPr>
            </a:pPr>
            <a:r>
              <a:t>s′[n] = s[n]eʲᶿ</a:t>
            </a:r>
          </a:p>
        </p:txBody>
      </p:sp>
      <p:sp>
        <p:nvSpPr>
          <p:cNvPr id="13" name="TextBox 12"/>
          <p:cNvSpPr txBox="1"/>
          <p:nvPr/>
        </p:nvSpPr>
        <p:spPr>
          <a:xfrm>
            <a:off x="3538728" y="2194560"/>
            <a:ext cx="2011680" cy="292608"/>
          </a:xfrm>
          <a:prstGeom prst="rect">
            <a:avLst/>
          </a:prstGeom>
          <a:noFill/>
        </p:spPr>
        <p:txBody>
          <a:bodyPr wrap="square" lIns="36576" rIns="36576" tIns="36576" bIns="36576" anchor="ctr">
            <a:spAutoFit/>
          </a:bodyPr>
          <a:lstStyle/>
          <a:p>
            <a:pPr algn="r">
              <a:lnSpc>
                <a:spcPct val="100000"/>
              </a:lnSpc>
              <a:defRPr sz="1000" b="0">
                <a:solidFill>
                  <a:srgbClr val="475569"/>
                </a:solidFill>
                <a:latin typeface="Inter"/>
              </a:defRPr>
            </a:pPr>
            <a:r>
              <a:t>Constant phase offset</a:t>
            </a:r>
          </a:p>
        </p:txBody>
      </p:sp>
      <p:sp>
        <p:nvSpPr>
          <p:cNvPr id="14" name="Rounded Rectangle 13"/>
          <p:cNvSpPr/>
          <p:nvPr/>
        </p:nvSpPr>
        <p:spPr>
          <a:xfrm>
            <a:off x="6309359" y="1664208"/>
            <a:ext cx="5257800" cy="135331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59" y="1664208"/>
            <a:ext cx="91440" cy="135331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79" y="1828800"/>
            <a:ext cx="2514600" cy="256032"/>
          </a:xfrm>
          <a:prstGeom prst="rect">
            <a:avLst/>
          </a:prstGeom>
          <a:noFill/>
        </p:spPr>
        <p:txBody>
          <a:bodyPr wrap="square" lIns="36576" rIns="36576" tIns="36576" bIns="36576" anchor="ctr">
            <a:spAutoFit/>
          </a:bodyPr>
          <a:lstStyle/>
          <a:p>
            <a:pPr algn="l">
              <a:lnSpc>
                <a:spcPct val="100000"/>
              </a:lnSpc>
              <a:defRPr sz="1100" b="1">
                <a:solidFill>
                  <a:srgbClr val="2563EB"/>
                </a:solidFill>
                <a:latin typeface="Inter"/>
              </a:defRPr>
            </a:pPr>
            <a:r>
              <a:t>ADDED AWGN</a:t>
            </a:r>
          </a:p>
        </p:txBody>
      </p:sp>
      <p:sp>
        <p:nvSpPr>
          <p:cNvPr id="17" name="TextBox 16"/>
          <p:cNvSpPr txBox="1"/>
          <p:nvPr/>
        </p:nvSpPr>
        <p:spPr>
          <a:xfrm>
            <a:off x="10479024" y="1828800"/>
            <a:ext cx="749808" cy="256032"/>
          </a:xfrm>
          <a:prstGeom prst="rect">
            <a:avLst/>
          </a:prstGeom>
          <a:noFill/>
        </p:spPr>
        <p:txBody>
          <a:bodyPr wrap="square" lIns="36576" rIns="36576" tIns="36576" bIns="36576" anchor="ctr">
            <a:spAutoFit/>
          </a:bodyPr>
          <a:lstStyle/>
          <a:p>
            <a:pPr algn="r">
              <a:lnSpc>
                <a:spcPct val="100000"/>
              </a:lnSpc>
              <a:defRPr sz="1000" b="1">
                <a:solidFill>
                  <a:srgbClr val="0F172A"/>
                </a:solidFill>
                <a:latin typeface="Inter"/>
              </a:defRPr>
            </a:pPr>
            <a:r>
              <a:t>p = 0.40</a:t>
            </a:r>
          </a:p>
        </p:txBody>
      </p:sp>
      <p:sp>
        <p:nvSpPr>
          <p:cNvPr id="18" name="TextBox 17"/>
          <p:cNvSpPr txBox="1"/>
          <p:nvPr/>
        </p:nvSpPr>
        <p:spPr>
          <a:xfrm>
            <a:off x="6583679" y="2176272"/>
            <a:ext cx="2697480" cy="329184"/>
          </a:xfrm>
          <a:prstGeom prst="rect">
            <a:avLst/>
          </a:prstGeom>
          <a:noFill/>
        </p:spPr>
        <p:txBody>
          <a:bodyPr wrap="square" lIns="36576" rIns="36576" tIns="36576" bIns="36576" anchor="ctr">
            <a:spAutoFit/>
          </a:bodyPr>
          <a:lstStyle/>
          <a:p>
            <a:pPr algn="l">
              <a:lnSpc>
                <a:spcPct val="100000"/>
              </a:lnSpc>
              <a:defRPr sz="1600" b="1">
                <a:solidFill>
                  <a:srgbClr val="0F172A"/>
                </a:solidFill>
                <a:latin typeface="Consolas"/>
              </a:defRPr>
            </a:pPr>
            <a:r>
              <a:t>ΔSNR ∈ [0, 6] dB</a:t>
            </a:r>
          </a:p>
        </p:txBody>
      </p:sp>
      <p:sp>
        <p:nvSpPr>
          <p:cNvPr id="19" name="TextBox 18"/>
          <p:cNvSpPr txBox="1"/>
          <p:nvPr/>
        </p:nvSpPr>
        <p:spPr>
          <a:xfrm>
            <a:off x="9189719" y="2194560"/>
            <a:ext cx="2011680" cy="292608"/>
          </a:xfrm>
          <a:prstGeom prst="rect">
            <a:avLst/>
          </a:prstGeom>
          <a:noFill/>
        </p:spPr>
        <p:txBody>
          <a:bodyPr wrap="square" lIns="36576" rIns="36576" tIns="36576" bIns="36576" anchor="ctr">
            <a:spAutoFit/>
          </a:bodyPr>
          <a:lstStyle/>
          <a:p>
            <a:pPr algn="r">
              <a:lnSpc>
                <a:spcPct val="100000"/>
              </a:lnSpc>
              <a:defRPr sz="1000" b="0">
                <a:solidFill>
                  <a:srgbClr val="475569"/>
                </a:solidFill>
                <a:latin typeface="Inter"/>
              </a:defRPr>
            </a:pPr>
            <a:r>
              <a:t>Randomly lower SNR</a:t>
            </a:r>
          </a:p>
        </p:txBody>
      </p:sp>
      <p:sp>
        <p:nvSpPr>
          <p:cNvPr id="20" name="Rounded Rectangle 19"/>
          <p:cNvSpPr/>
          <p:nvPr/>
        </p:nvSpPr>
        <p:spPr>
          <a:xfrm>
            <a:off x="658368" y="3328416"/>
            <a:ext cx="5257800" cy="135331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28416"/>
            <a:ext cx="91440" cy="1353312"/>
          </a:xfrm>
          <a:prstGeom prst="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493008"/>
            <a:ext cx="2514600" cy="256032"/>
          </a:xfrm>
          <a:prstGeom prst="rect">
            <a:avLst/>
          </a:prstGeom>
          <a:noFill/>
        </p:spPr>
        <p:txBody>
          <a:bodyPr wrap="square" lIns="36576" rIns="36576" tIns="36576" bIns="36576" anchor="ctr">
            <a:spAutoFit/>
          </a:bodyPr>
          <a:lstStyle/>
          <a:p>
            <a:pPr algn="l">
              <a:lnSpc>
                <a:spcPct val="100000"/>
              </a:lnSpc>
              <a:defRPr sz="1100" b="1">
                <a:solidFill>
                  <a:srgbClr val="059669"/>
                </a:solidFill>
                <a:latin typeface="Inter"/>
              </a:defRPr>
            </a:pPr>
            <a:r>
              <a:t>CIRCULAR SHIFT</a:t>
            </a:r>
          </a:p>
        </p:txBody>
      </p:sp>
      <p:sp>
        <p:nvSpPr>
          <p:cNvPr id="23" name="TextBox 22"/>
          <p:cNvSpPr txBox="1"/>
          <p:nvPr/>
        </p:nvSpPr>
        <p:spPr>
          <a:xfrm>
            <a:off x="4828031" y="3493008"/>
            <a:ext cx="749808" cy="256032"/>
          </a:xfrm>
          <a:prstGeom prst="rect">
            <a:avLst/>
          </a:prstGeom>
          <a:noFill/>
        </p:spPr>
        <p:txBody>
          <a:bodyPr wrap="square" lIns="36576" rIns="36576" tIns="36576" bIns="36576" anchor="ctr">
            <a:spAutoFit/>
          </a:bodyPr>
          <a:lstStyle/>
          <a:p>
            <a:pPr algn="r">
              <a:lnSpc>
                <a:spcPct val="100000"/>
              </a:lnSpc>
              <a:defRPr sz="1000" b="1">
                <a:solidFill>
                  <a:srgbClr val="0F172A"/>
                </a:solidFill>
                <a:latin typeface="Inter"/>
              </a:defRPr>
            </a:pPr>
            <a:r>
              <a:t>p = 0.40</a:t>
            </a:r>
          </a:p>
        </p:txBody>
      </p:sp>
      <p:sp>
        <p:nvSpPr>
          <p:cNvPr id="24" name="TextBox 23"/>
          <p:cNvSpPr txBox="1"/>
          <p:nvPr/>
        </p:nvSpPr>
        <p:spPr>
          <a:xfrm>
            <a:off x="932688" y="3840480"/>
            <a:ext cx="2697480" cy="329184"/>
          </a:xfrm>
          <a:prstGeom prst="rect">
            <a:avLst/>
          </a:prstGeom>
          <a:noFill/>
        </p:spPr>
        <p:txBody>
          <a:bodyPr wrap="square" lIns="36576" rIns="36576" tIns="36576" bIns="36576" anchor="ctr">
            <a:spAutoFit/>
          </a:bodyPr>
          <a:lstStyle/>
          <a:p>
            <a:pPr algn="l">
              <a:lnSpc>
                <a:spcPct val="100000"/>
              </a:lnSpc>
              <a:defRPr sz="1600" b="1">
                <a:solidFill>
                  <a:srgbClr val="0F172A"/>
                </a:solidFill>
                <a:latin typeface="Consolas"/>
              </a:defRPr>
            </a:pPr>
            <a:r>
              <a:t>Δn ∈ [−8, +8]</a:t>
            </a:r>
          </a:p>
        </p:txBody>
      </p:sp>
      <p:sp>
        <p:nvSpPr>
          <p:cNvPr id="25" name="TextBox 24"/>
          <p:cNvSpPr txBox="1"/>
          <p:nvPr/>
        </p:nvSpPr>
        <p:spPr>
          <a:xfrm>
            <a:off x="3538728" y="3858768"/>
            <a:ext cx="2011680" cy="292608"/>
          </a:xfrm>
          <a:prstGeom prst="rect">
            <a:avLst/>
          </a:prstGeom>
          <a:noFill/>
        </p:spPr>
        <p:txBody>
          <a:bodyPr wrap="square" lIns="36576" rIns="36576" tIns="36576" bIns="36576" anchor="ctr">
            <a:spAutoFit/>
          </a:bodyPr>
          <a:lstStyle/>
          <a:p>
            <a:pPr algn="r">
              <a:lnSpc>
                <a:spcPct val="100000"/>
              </a:lnSpc>
              <a:defRPr sz="1000" b="0">
                <a:solidFill>
                  <a:srgbClr val="475569"/>
                </a:solidFill>
                <a:latin typeface="Inter"/>
              </a:defRPr>
            </a:pPr>
            <a:r>
              <a:t>Approx. timing mismatch</a:t>
            </a:r>
          </a:p>
        </p:txBody>
      </p:sp>
      <p:sp>
        <p:nvSpPr>
          <p:cNvPr id="26" name="Rounded Rectangle 25"/>
          <p:cNvSpPr/>
          <p:nvPr/>
        </p:nvSpPr>
        <p:spPr>
          <a:xfrm>
            <a:off x="6309359" y="3328416"/>
            <a:ext cx="5257800" cy="135331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59" y="3328416"/>
            <a:ext cx="91440" cy="1353312"/>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79" y="3493008"/>
            <a:ext cx="2514600" cy="256032"/>
          </a:xfrm>
          <a:prstGeom prst="rect">
            <a:avLst/>
          </a:prstGeom>
          <a:noFill/>
        </p:spPr>
        <p:txBody>
          <a:bodyPr wrap="square" lIns="36576" rIns="36576" tIns="36576" bIns="36576" anchor="ctr">
            <a:spAutoFit/>
          </a:bodyPr>
          <a:lstStyle/>
          <a:p>
            <a:pPr algn="l">
              <a:lnSpc>
                <a:spcPct val="100000"/>
              </a:lnSpc>
              <a:defRPr sz="1100" b="1">
                <a:solidFill>
                  <a:srgbClr val="D97706"/>
                </a:solidFill>
                <a:latin typeface="Inter"/>
              </a:defRPr>
            </a:pPr>
            <a:r>
              <a:t>AMPLITUDE SCALE</a:t>
            </a:r>
          </a:p>
        </p:txBody>
      </p:sp>
      <p:sp>
        <p:nvSpPr>
          <p:cNvPr id="29" name="TextBox 28"/>
          <p:cNvSpPr txBox="1"/>
          <p:nvPr/>
        </p:nvSpPr>
        <p:spPr>
          <a:xfrm>
            <a:off x="10479024" y="3493008"/>
            <a:ext cx="749808" cy="256032"/>
          </a:xfrm>
          <a:prstGeom prst="rect">
            <a:avLst/>
          </a:prstGeom>
          <a:noFill/>
        </p:spPr>
        <p:txBody>
          <a:bodyPr wrap="square" lIns="36576" rIns="36576" tIns="36576" bIns="36576" anchor="ctr">
            <a:spAutoFit/>
          </a:bodyPr>
          <a:lstStyle/>
          <a:p>
            <a:pPr algn="r">
              <a:lnSpc>
                <a:spcPct val="100000"/>
              </a:lnSpc>
              <a:defRPr sz="1000" b="1">
                <a:solidFill>
                  <a:srgbClr val="0F172A"/>
                </a:solidFill>
                <a:latin typeface="Inter"/>
              </a:defRPr>
            </a:pPr>
            <a:r>
              <a:t>p = 0.30</a:t>
            </a:r>
          </a:p>
        </p:txBody>
      </p:sp>
      <p:sp>
        <p:nvSpPr>
          <p:cNvPr id="30" name="TextBox 29"/>
          <p:cNvSpPr txBox="1"/>
          <p:nvPr/>
        </p:nvSpPr>
        <p:spPr>
          <a:xfrm>
            <a:off x="6583679" y="3840480"/>
            <a:ext cx="2697480" cy="329184"/>
          </a:xfrm>
          <a:prstGeom prst="rect">
            <a:avLst/>
          </a:prstGeom>
          <a:noFill/>
        </p:spPr>
        <p:txBody>
          <a:bodyPr wrap="square" lIns="36576" rIns="36576" tIns="36576" bIns="36576" anchor="ctr">
            <a:spAutoFit/>
          </a:bodyPr>
          <a:lstStyle/>
          <a:p>
            <a:pPr algn="l">
              <a:lnSpc>
                <a:spcPct val="100000"/>
              </a:lnSpc>
              <a:defRPr sz="1600" b="1">
                <a:solidFill>
                  <a:srgbClr val="0F172A"/>
                </a:solidFill>
                <a:latin typeface="Consolas"/>
              </a:defRPr>
            </a:pPr>
            <a:r>
              <a:t>α ∈ [0.85, 1.15]</a:t>
            </a:r>
          </a:p>
        </p:txBody>
      </p:sp>
      <p:sp>
        <p:nvSpPr>
          <p:cNvPr id="31" name="TextBox 30"/>
          <p:cNvSpPr txBox="1"/>
          <p:nvPr/>
        </p:nvSpPr>
        <p:spPr>
          <a:xfrm>
            <a:off x="9189719" y="3858768"/>
            <a:ext cx="2011680" cy="292608"/>
          </a:xfrm>
          <a:prstGeom prst="rect">
            <a:avLst/>
          </a:prstGeom>
          <a:noFill/>
        </p:spPr>
        <p:txBody>
          <a:bodyPr wrap="square" lIns="36576" rIns="36576" tIns="36576" bIns="36576" anchor="ctr">
            <a:spAutoFit/>
          </a:bodyPr>
          <a:lstStyle/>
          <a:p>
            <a:pPr algn="r">
              <a:lnSpc>
                <a:spcPct val="100000"/>
              </a:lnSpc>
              <a:defRPr sz="1000" b="0">
                <a:solidFill>
                  <a:srgbClr val="475569"/>
                </a:solidFill>
                <a:latin typeface="Inter"/>
              </a:defRPr>
            </a:pPr>
            <a:r>
              <a:t>Common gain change</a:t>
            </a:r>
          </a:p>
        </p:txBody>
      </p:sp>
      <p:sp>
        <p:nvSpPr>
          <p:cNvPr id="32" name="Rounded Rectangle 31"/>
          <p:cNvSpPr/>
          <p:nvPr/>
        </p:nvSpPr>
        <p:spPr>
          <a:xfrm>
            <a:off x="1170432" y="5230368"/>
            <a:ext cx="9857232" cy="612648"/>
          </a:xfrm>
          <a:prstGeom prst="roundRect">
            <a:avLst/>
          </a:prstGeom>
          <a:solidFill>
            <a:srgbClr val="FFF7ED"/>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17320" y="5358384"/>
            <a:ext cx="9372600" cy="320040"/>
          </a:xfrm>
          <a:prstGeom prst="rect">
            <a:avLst/>
          </a:prstGeom>
          <a:noFill/>
        </p:spPr>
        <p:txBody>
          <a:bodyPr wrap="square" lIns="36576" rIns="36576" tIns="36576" bIns="36576" anchor="ctr">
            <a:spAutoFit/>
          </a:bodyPr>
          <a:lstStyle/>
          <a:p>
            <a:pPr algn="ctr">
              <a:lnSpc>
                <a:spcPct val="100000"/>
              </a:lnSpc>
              <a:defRPr sz="1200" b="1">
                <a:solidFill>
                  <a:srgbClr val="D97706"/>
                </a:solidFill>
                <a:latin typeface="Inter"/>
              </a:defRPr>
            </a:pPr>
            <a:r>
              <a:t>Important: constant phase offset ≠ CFO — CFO produces a phase ramp over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04 · MODEL</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Same CNN, same training recipe</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Only the training input pipeline changes between configurations</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7 of 12</a:t>
            </a:r>
          </a:p>
        </p:txBody>
      </p:sp>
      <p:sp>
        <p:nvSpPr>
          <p:cNvPr id="8" name="Rounded Rectangle 7"/>
          <p:cNvSpPr/>
          <p:nvPr/>
        </p:nvSpPr>
        <p:spPr>
          <a:xfrm>
            <a:off x="603504" y="1828800"/>
            <a:ext cx="1490472" cy="12070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011680"/>
            <a:ext cx="1307592" cy="274320"/>
          </a:xfrm>
          <a:prstGeom prst="rect">
            <a:avLst/>
          </a:prstGeom>
          <a:noFill/>
        </p:spPr>
        <p:txBody>
          <a:bodyPr wrap="square" lIns="36576" rIns="36576" tIns="36576" bIns="36576" anchor="ctr">
            <a:spAutoFit/>
          </a:bodyPr>
          <a:lstStyle/>
          <a:p>
            <a:pPr algn="ctr">
              <a:lnSpc>
                <a:spcPct val="100000"/>
              </a:lnSpc>
              <a:defRPr sz="1000" b="1">
                <a:solidFill>
                  <a:srgbClr val="64748B"/>
                </a:solidFill>
                <a:latin typeface="Inter"/>
              </a:defRPr>
            </a:pPr>
            <a:r>
              <a:t>INPUT</a:t>
            </a:r>
          </a:p>
        </p:txBody>
      </p:sp>
      <p:sp>
        <p:nvSpPr>
          <p:cNvPr id="10" name="TextBox 9"/>
          <p:cNvSpPr txBox="1"/>
          <p:nvPr/>
        </p:nvSpPr>
        <p:spPr>
          <a:xfrm>
            <a:off x="676656" y="2441448"/>
            <a:ext cx="1344168" cy="310896"/>
          </a:xfrm>
          <a:prstGeom prst="rect">
            <a:avLst/>
          </a:prstGeom>
          <a:noFill/>
        </p:spPr>
        <p:txBody>
          <a:bodyPr wrap="square" lIns="36576" rIns="36576" tIns="36576" bIns="36576" anchor="ctr">
            <a:spAutoFit/>
          </a:bodyPr>
          <a:lstStyle/>
          <a:p>
            <a:pPr algn="ctr">
              <a:lnSpc>
                <a:spcPct val="100000"/>
              </a:lnSpc>
              <a:defRPr sz="1500" b="1">
                <a:solidFill>
                  <a:srgbClr val="0F172A"/>
                </a:solidFill>
                <a:latin typeface="Manrope"/>
              </a:defRPr>
            </a:pPr>
            <a:r>
              <a:t>2 × 128</a:t>
            </a:r>
          </a:p>
        </p:txBody>
      </p:sp>
      <p:sp>
        <p:nvSpPr>
          <p:cNvPr id="11" name="Chevron 10"/>
          <p:cNvSpPr/>
          <p:nvPr/>
        </p:nvSpPr>
        <p:spPr>
          <a:xfrm>
            <a:off x="2157984" y="2258568"/>
            <a:ext cx="256032"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05456" y="1828800"/>
            <a:ext cx="1490472" cy="12070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6896" y="2011680"/>
            <a:ext cx="1307592" cy="274320"/>
          </a:xfrm>
          <a:prstGeom prst="rect">
            <a:avLst/>
          </a:prstGeom>
          <a:noFill/>
        </p:spPr>
        <p:txBody>
          <a:bodyPr wrap="square" lIns="36576" rIns="36576" tIns="36576" bIns="36576" anchor="ctr">
            <a:spAutoFit/>
          </a:bodyPr>
          <a:lstStyle/>
          <a:p>
            <a:pPr algn="ctr">
              <a:lnSpc>
                <a:spcPct val="100000"/>
              </a:lnSpc>
              <a:defRPr sz="1000" b="1">
                <a:solidFill>
                  <a:srgbClr val="0284C7"/>
                </a:solidFill>
                <a:latin typeface="Inter"/>
              </a:defRPr>
            </a:pPr>
            <a:r>
              <a:t>CONV 1</a:t>
            </a:r>
          </a:p>
        </p:txBody>
      </p:sp>
      <p:sp>
        <p:nvSpPr>
          <p:cNvPr id="14" name="TextBox 13"/>
          <p:cNvSpPr txBox="1"/>
          <p:nvPr/>
        </p:nvSpPr>
        <p:spPr>
          <a:xfrm>
            <a:off x="2578608" y="2441448"/>
            <a:ext cx="1344168" cy="310896"/>
          </a:xfrm>
          <a:prstGeom prst="rect">
            <a:avLst/>
          </a:prstGeom>
          <a:noFill/>
        </p:spPr>
        <p:txBody>
          <a:bodyPr wrap="square" lIns="36576" rIns="36576" tIns="36576" bIns="36576" anchor="ctr">
            <a:spAutoFit/>
          </a:bodyPr>
          <a:lstStyle/>
          <a:p>
            <a:pPr algn="ctr">
              <a:lnSpc>
                <a:spcPct val="100000"/>
              </a:lnSpc>
              <a:defRPr sz="1500" b="1">
                <a:solidFill>
                  <a:srgbClr val="0F172A"/>
                </a:solidFill>
                <a:latin typeface="Manrope"/>
              </a:defRPr>
            </a:pPr>
            <a:r>
              <a:t>64 · k7</a:t>
            </a:r>
          </a:p>
        </p:txBody>
      </p:sp>
      <p:sp>
        <p:nvSpPr>
          <p:cNvPr id="15" name="Chevron 14"/>
          <p:cNvSpPr/>
          <p:nvPr/>
        </p:nvSpPr>
        <p:spPr>
          <a:xfrm>
            <a:off x="4059936" y="2258568"/>
            <a:ext cx="256032"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07408" y="1828800"/>
            <a:ext cx="1490472" cy="12070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8848" y="2011680"/>
            <a:ext cx="1307592" cy="274320"/>
          </a:xfrm>
          <a:prstGeom prst="rect">
            <a:avLst/>
          </a:prstGeom>
          <a:noFill/>
        </p:spPr>
        <p:txBody>
          <a:bodyPr wrap="square" lIns="36576" rIns="36576" tIns="36576" bIns="36576" anchor="ctr">
            <a:spAutoFit/>
          </a:bodyPr>
          <a:lstStyle/>
          <a:p>
            <a:pPr algn="ctr">
              <a:lnSpc>
                <a:spcPct val="100000"/>
              </a:lnSpc>
              <a:defRPr sz="1000" b="1">
                <a:solidFill>
                  <a:srgbClr val="0284C7"/>
                </a:solidFill>
                <a:latin typeface="Inter"/>
              </a:defRPr>
            </a:pPr>
            <a:r>
              <a:t>CONV 2</a:t>
            </a:r>
          </a:p>
        </p:txBody>
      </p:sp>
      <p:sp>
        <p:nvSpPr>
          <p:cNvPr id="18" name="TextBox 17"/>
          <p:cNvSpPr txBox="1"/>
          <p:nvPr/>
        </p:nvSpPr>
        <p:spPr>
          <a:xfrm>
            <a:off x="4480560" y="2441448"/>
            <a:ext cx="1344168" cy="310896"/>
          </a:xfrm>
          <a:prstGeom prst="rect">
            <a:avLst/>
          </a:prstGeom>
          <a:noFill/>
        </p:spPr>
        <p:txBody>
          <a:bodyPr wrap="square" lIns="36576" rIns="36576" tIns="36576" bIns="36576" anchor="ctr">
            <a:spAutoFit/>
          </a:bodyPr>
          <a:lstStyle/>
          <a:p>
            <a:pPr algn="ctr">
              <a:lnSpc>
                <a:spcPct val="100000"/>
              </a:lnSpc>
              <a:defRPr sz="1500" b="1">
                <a:solidFill>
                  <a:srgbClr val="0F172A"/>
                </a:solidFill>
                <a:latin typeface="Manrope"/>
              </a:defRPr>
            </a:pPr>
            <a:r>
              <a:t>128 · k5</a:t>
            </a:r>
          </a:p>
        </p:txBody>
      </p:sp>
      <p:sp>
        <p:nvSpPr>
          <p:cNvPr id="19" name="Chevron 18"/>
          <p:cNvSpPr/>
          <p:nvPr/>
        </p:nvSpPr>
        <p:spPr>
          <a:xfrm>
            <a:off x="5961888" y="2258568"/>
            <a:ext cx="256032"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09360" y="1828800"/>
            <a:ext cx="1490472" cy="12070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011680"/>
            <a:ext cx="1307592" cy="274320"/>
          </a:xfrm>
          <a:prstGeom prst="rect">
            <a:avLst/>
          </a:prstGeom>
          <a:noFill/>
        </p:spPr>
        <p:txBody>
          <a:bodyPr wrap="square" lIns="36576" rIns="36576" tIns="36576" bIns="36576" anchor="ctr">
            <a:spAutoFit/>
          </a:bodyPr>
          <a:lstStyle/>
          <a:p>
            <a:pPr algn="ctr">
              <a:lnSpc>
                <a:spcPct val="100000"/>
              </a:lnSpc>
              <a:defRPr sz="1000" b="1">
                <a:solidFill>
                  <a:srgbClr val="0284C7"/>
                </a:solidFill>
                <a:latin typeface="Inter"/>
              </a:defRPr>
            </a:pPr>
            <a:r>
              <a:t>CONV 3</a:t>
            </a:r>
          </a:p>
        </p:txBody>
      </p:sp>
      <p:sp>
        <p:nvSpPr>
          <p:cNvPr id="22" name="TextBox 21"/>
          <p:cNvSpPr txBox="1"/>
          <p:nvPr/>
        </p:nvSpPr>
        <p:spPr>
          <a:xfrm>
            <a:off x="6382512" y="2441448"/>
            <a:ext cx="1344168" cy="310896"/>
          </a:xfrm>
          <a:prstGeom prst="rect">
            <a:avLst/>
          </a:prstGeom>
          <a:noFill/>
        </p:spPr>
        <p:txBody>
          <a:bodyPr wrap="square" lIns="36576" rIns="36576" tIns="36576" bIns="36576" anchor="ctr">
            <a:spAutoFit/>
          </a:bodyPr>
          <a:lstStyle/>
          <a:p>
            <a:pPr algn="ctr">
              <a:lnSpc>
                <a:spcPct val="100000"/>
              </a:lnSpc>
              <a:defRPr sz="1500" b="1">
                <a:solidFill>
                  <a:srgbClr val="0F172A"/>
                </a:solidFill>
                <a:latin typeface="Manrope"/>
              </a:defRPr>
            </a:pPr>
            <a:r>
              <a:t>256 · k3</a:t>
            </a:r>
          </a:p>
        </p:txBody>
      </p:sp>
      <p:sp>
        <p:nvSpPr>
          <p:cNvPr id="23" name="Chevron 22"/>
          <p:cNvSpPr/>
          <p:nvPr/>
        </p:nvSpPr>
        <p:spPr>
          <a:xfrm>
            <a:off x="7863840" y="2258568"/>
            <a:ext cx="256032"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11312" y="1828800"/>
            <a:ext cx="1490472" cy="12070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2752" y="2011680"/>
            <a:ext cx="1307592" cy="274320"/>
          </a:xfrm>
          <a:prstGeom prst="rect">
            <a:avLst/>
          </a:prstGeom>
          <a:noFill/>
        </p:spPr>
        <p:txBody>
          <a:bodyPr wrap="square" lIns="36576" rIns="36576" tIns="36576" bIns="36576" anchor="ctr">
            <a:spAutoFit/>
          </a:bodyPr>
          <a:lstStyle/>
          <a:p>
            <a:pPr algn="ctr">
              <a:lnSpc>
                <a:spcPct val="100000"/>
              </a:lnSpc>
              <a:defRPr sz="1000" b="1">
                <a:solidFill>
                  <a:srgbClr val="64748B"/>
                </a:solidFill>
                <a:latin typeface="Inter"/>
              </a:defRPr>
            </a:pPr>
            <a:r>
              <a:t>POOL</a:t>
            </a:r>
          </a:p>
        </p:txBody>
      </p:sp>
      <p:sp>
        <p:nvSpPr>
          <p:cNvPr id="26" name="TextBox 25"/>
          <p:cNvSpPr txBox="1"/>
          <p:nvPr/>
        </p:nvSpPr>
        <p:spPr>
          <a:xfrm>
            <a:off x="8284464" y="2441448"/>
            <a:ext cx="1344168" cy="310896"/>
          </a:xfrm>
          <a:prstGeom prst="rect">
            <a:avLst/>
          </a:prstGeom>
          <a:noFill/>
        </p:spPr>
        <p:txBody>
          <a:bodyPr wrap="square" lIns="36576" rIns="36576" tIns="36576" bIns="36576" anchor="ctr">
            <a:spAutoFit/>
          </a:bodyPr>
          <a:lstStyle/>
          <a:p>
            <a:pPr algn="ctr">
              <a:lnSpc>
                <a:spcPct val="100000"/>
              </a:lnSpc>
              <a:defRPr sz="1500" b="1">
                <a:solidFill>
                  <a:srgbClr val="0F172A"/>
                </a:solidFill>
                <a:latin typeface="Manrope"/>
              </a:defRPr>
            </a:pPr>
            <a:r>
              <a:t>Adaptive</a:t>
            </a:r>
          </a:p>
        </p:txBody>
      </p:sp>
      <p:sp>
        <p:nvSpPr>
          <p:cNvPr id="27" name="Chevron 26"/>
          <p:cNvSpPr/>
          <p:nvPr/>
        </p:nvSpPr>
        <p:spPr>
          <a:xfrm>
            <a:off x="9765792" y="2258568"/>
            <a:ext cx="256032" cy="347472"/>
          </a:xfrm>
          <a:prstGeom prst="chevron">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113264" y="1828800"/>
            <a:ext cx="1490472" cy="120700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04704" y="2011680"/>
            <a:ext cx="1307592" cy="274320"/>
          </a:xfrm>
          <a:prstGeom prst="rect">
            <a:avLst/>
          </a:prstGeom>
          <a:noFill/>
        </p:spPr>
        <p:txBody>
          <a:bodyPr wrap="square" lIns="36576" rIns="36576" tIns="36576" bIns="36576" anchor="ctr">
            <a:spAutoFit/>
          </a:bodyPr>
          <a:lstStyle/>
          <a:p>
            <a:pPr algn="ctr">
              <a:lnSpc>
                <a:spcPct val="100000"/>
              </a:lnSpc>
              <a:defRPr sz="1000" b="1">
                <a:solidFill>
                  <a:srgbClr val="64748B"/>
                </a:solidFill>
                <a:latin typeface="Inter"/>
              </a:defRPr>
            </a:pPr>
            <a:r>
              <a:t>HEAD</a:t>
            </a:r>
          </a:p>
        </p:txBody>
      </p:sp>
      <p:sp>
        <p:nvSpPr>
          <p:cNvPr id="30" name="TextBox 29"/>
          <p:cNvSpPr txBox="1"/>
          <p:nvPr/>
        </p:nvSpPr>
        <p:spPr>
          <a:xfrm>
            <a:off x="10186416" y="2441448"/>
            <a:ext cx="1344168" cy="310896"/>
          </a:xfrm>
          <a:prstGeom prst="rect">
            <a:avLst/>
          </a:prstGeom>
          <a:noFill/>
        </p:spPr>
        <p:txBody>
          <a:bodyPr wrap="square" lIns="36576" rIns="36576" tIns="36576" bIns="36576" anchor="ctr">
            <a:spAutoFit/>
          </a:bodyPr>
          <a:lstStyle/>
          <a:p>
            <a:pPr algn="ctr">
              <a:lnSpc>
                <a:spcPct val="100000"/>
              </a:lnSpc>
              <a:defRPr sz="1500" b="1">
                <a:solidFill>
                  <a:srgbClr val="0F172A"/>
                </a:solidFill>
                <a:latin typeface="Manrope"/>
              </a:defRPr>
            </a:pPr>
            <a:r>
              <a:t>128 → 8</a:t>
            </a:r>
          </a:p>
        </p:txBody>
      </p:sp>
      <p:sp>
        <p:nvSpPr>
          <p:cNvPr id="31" name="Rounded Rectangle 30"/>
          <p:cNvSpPr/>
          <p:nvPr/>
        </p:nvSpPr>
        <p:spPr>
          <a:xfrm>
            <a:off x="685800" y="3886200"/>
            <a:ext cx="3401568" cy="1325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 y="3886200"/>
            <a:ext cx="73152" cy="1325880"/>
          </a:xfrm>
          <a:prstGeom prst="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032504"/>
            <a:ext cx="3035808"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TRAINABLE PARAMETERS</a:t>
            </a:r>
          </a:p>
        </p:txBody>
      </p:sp>
      <p:sp>
        <p:nvSpPr>
          <p:cNvPr id="34" name="TextBox 33"/>
          <p:cNvSpPr txBox="1"/>
          <p:nvPr/>
        </p:nvSpPr>
        <p:spPr>
          <a:xfrm>
            <a:off x="914400" y="4325112"/>
            <a:ext cx="3035808"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175,432</a:t>
            </a:r>
          </a:p>
        </p:txBody>
      </p:sp>
      <p:sp>
        <p:nvSpPr>
          <p:cNvPr id="35" name="TextBox 34"/>
          <p:cNvSpPr txBox="1"/>
          <p:nvPr/>
        </p:nvSpPr>
        <p:spPr>
          <a:xfrm>
            <a:off x="914400" y="4791456"/>
            <a:ext cx="3035808"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Identical architecture</a:t>
            </a:r>
          </a:p>
        </p:txBody>
      </p:sp>
      <p:sp>
        <p:nvSpPr>
          <p:cNvPr id="36" name="Rounded Rectangle 35"/>
          <p:cNvSpPr/>
          <p:nvPr/>
        </p:nvSpPr>
        <p:spPr>
          <a:xfrm>
            <a:off x="4389120" y="3886200"/>
            <a:ext cx="3401568" cy="1325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389120" y="3886200"/>
            <a:ext cx="73152" cy="1325880"/>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17720" y="4032504"/>
            <a:ext cx="3035808"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OPTIMIZER</a:t>
            </a:r>
          </a:p>
        </p:txBody>
      </p:sp>
      <p:sp>
        <p:nvSpPr>
          <p:cNvPr id="39" name="TextBox 38"/>
          <p:cNvSpPr txBox="1"/>
          <p:nvPr/>
        </p:nvSpPr>
        <p:spPr>
          <a:xfrm>
            <a:off x="4617720" y="4325112"/>
            <a:ext cx="3035808"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Adam · 10⁻³</a:t>
            </a:r>
          </a:p>
        </p:txBody>
      </p:sp>
      <p:sp>
        <p:nvSpPr>
          <p:cNvPr id="40" name="TextBox 39"/>
          <p:cNvSpPr txBox="1"/>
          <p:nvPr/>
        </p:nvSpPr>
        <p:spPr>
          <a:xfrm>
            <a:off x="4617720" y="4791456"/>
            <a:ext cx="3035808"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weight decay 10⁻⁴</a:t>
            </a:r>
          </a:p>
        </p:txBody>
      </p:sp>
      <p:sp>
        <p:nvSpPr>
          <p:cNvPr id="41" name="Rounded Rectangle 40"/>
          <p:cNvSpPr/>
          <p:nvPr/>
        </p:nvSpPr>
        <p:spPr>
          <a:xfrm>
            <a:off x="8092440" y="3886200"/>
            <a:ext cx="3401568" cy="1325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92440" y="3886200"/>
            <a:ext cx="73152" cy="1325880"/>
          </a:xfrm>
          <a:prstGeom prst="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21040" y="4032504"/>
            <a:ext cx="3035808"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TRAINING</a:t>
            </a:r>
          </a:p>
        </p:txBody>
      </p:sp>
      <p:sp>
        <p:nvSpPr>
          <p:cNvPr id="44" name="TextBox 43"/>
          <p:cNvSpPr txBox="1"/>
          <p:nvPr/>
        </p:nvSpPr>
        <p:spPr>
          <a:xfrm>
            <a:off x="8321040" y="4325112"/>
            <a:ext cx="3035808"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25 epochs</a:t>
            </a:r>
          </a:p>
        </p:txBody>
      </p:sp>
      <p:sp>
        <p:nvSpPr>
          <p:cNvPr id="45" name="TextBox 44"/>
          <p:cNvSpPr txBox="1"/>
          <p:nvPr/>
        </p:nvSpPr>
        <p:spPr>
          <a:xfrm>
            <a:off x="8321040" y="4791456"/>
            <a:ext cx="3035808"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batch 64 · cosine schedule</a:t>
            </a:r>
          </a:p>
        </p:txBody>
      </p:sp>
      <p:sp>
        <p:nvSpPr>
          <p:cNvPr id="46" name="TextBox 45"/>
          <p:cNvSpPr txBox="1"/>
          <p:nvPr/>
        </p:nvSpPr>
        <p:spPr>
          <a:xfrm>
            <a:off x="2084831" y="5605272"/>
            <a:ext cx="8046720" cy="292608"/>
          </a:xfrm>
          <a:prstGeom prst="rect">
            <a:avLst/>
          </a:prstGeom>
          <a:noFill/>
        </p:spPr>
        <p:txBody>
          <a:bodyPr wrap="square" lIns="36576" rIns="36576" tIns="36576" bIns="36576" anchor="ctr">
            <a:spAutoFit/>
          </a:bodyPr>
          <a:lstStyle/>
          <a:p>
            <a:pPr algn="ctr">
              <a:lnSpc>
                <a:spcPct val="100000"/>
              </a:lnSpc>
              <a:defRPr sz="1100" b="1">
                <a:solidFill>
                  <a:srgbClr val="475569"/>
                </a:solidFill>
                <a:latin typeface="Inter"/>
              </a:defRPr>
            </a:pPr>
            <a:r>
              <a:t>Checkpoint metric: mean validation accuracy at −10 … +2 dB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05 · VALIDATION</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Ablation selects phase-only</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Mean low-SNR validation accuracy across five training seeds</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8 of 12</a:t>
            </a:r>
          </a:p>
        </p:txBody>
      </p:sp>
      <p:sp>
        <p:nvSpPr>
          <p:cNvPr id="8" name="TextBox 7"/>
          <p:cNvSpPr txBox="1"/>
          <p:nvPr/>
        </p:nvSpPr>
        <p:spPr>
          <a:xfrm>
            <a:off x="713232" y="1737360"/>
            <a:ext cx="2057400" cy="329184"/>
          </a:xfrm>
          <a:prstGeom prst="rect">
            <a:avLst/>
          </a:prstGeom>
          <a:noFill/>
        </p:spPr>
        <p:txBody>
          <a:bodyPr wrap="square" lIns="36576" rIns="36576" tIns="36576" bIns="36576" anchor="ctr">
            <a:spAutoFit/>
          </a:bodyPr>
          <a:lstStyle/>
          <a:p>
            <a:pPr algn="l">
              <a:lnSpc>
                <a:spcPct val="100000"/>
              </a:lnSpc>
              <a:defRPr sz="1100" b="1">
                <a:solidFill>
                  <a:srgbClr val="0F172A"/>
                </a:solidFill>
                <a:latin typeface="Inter"/>
              </a:defRPr>
            </a:pPr>
            <a:r>
              <a:t>Phase only</a:t>
            </a:r>
          </a:p>
        </p:txBody>
      </p:sp>
      <p:sp>
        <p:nvSpPr>
          <p:cNvPr id="9" name="Rectangle 8"/>
          <p:cNvSpPr/>
          <p:nvPr/>
        </p:nvSpPr>
        <p:spPr>
          <a:xfrm>
            <a:off x="2743200" y="1764792"/>
            <a:ext cx="708660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0" y="1764792"/>
            <a:ext cx="6631032" cy="265176"/>
          </a:xfrm>
          <a:prstGeom prst="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03536" y="1719072"/>
            <a:ext cx="868680" cy="347472"/>
          </a:xfrm>
          <a:prstGeom prst="rect">
            <a:avLst/>
          </a:prstGeom>
          <a:noFill/>
        </p:spPr>
        <p:txBody>
          <a:bodyPr wrap="square" lIns="36576" rIns="36576" tIns="36576" bIns="36576" anchor="ctr">
            <a:spAutoFit/>
          </a:bodyPr>
          <a:lstStyle/>
          <a:p>
            <a:pPr algn="r">
              <a:lnSpc>
                <a:spcPct val="100000"/>
              </a:lnSpc>
              <a:defRPr sz="1100" b="1">
                <a:solidFill>
                  <a:srgbClr val="0284C7"/>
                </a:solidFill>
                <a:latin typeface="Inter"/>
              </a:defRPr>
            </a:pPr>
            <a:r>
              <a:t>50.73%</a:t>
            </a:r>
          </a:p>
        </p:txBody>
      </p:sp>
      <p:sp>
        <p:nvSpPr>
          <p:cNvPr id="12" name="TextBox 11"/>
          <p:cNvSpPr txBox="1"/>
          <p:nvPr/>
        </p:nvSpPr>
        <p:spPr>
          <a:xfrm>
            <a:off x="713232" y="2359152"/>
            <a:ext cx="2057400" cy="329184"/>
          </a:xfrm>
          <a:prstGeom prst="rect">
            <a:avLst/>
          </a:prstGeom>
          <a:noFill/>
        </p:spPr>
        <p:txBody>
          <a:bodyPr wrap="square" lIns="36576" rIns="36576" tIns="36576" bIns="36576" anchor="ctr">
            <a:spAutoFit/>
          </a:bodyPr>
          <a:lstStyle/>
          <a:p>
            <a:pPr algn="l">
              <a:lnSpc>
                <a:spcPct val="100000"/>
              </a:lnSpc>
              <a:defRPr sz="1100" b="0">
                <a:solidFill>
                  <a:srgbClr val="0F172A"/>
                </a:solidFill>
                <a:latin typeface="Inter"/>
              </a:defRPr>
            </a:pPr>
            <a:r>
              <a:t>Noise only</a:t>
            </a:r>
          </a:p>
        </p:txBody>
      </p:sp>
      <p:sp>
        <p:nvSpPr>
          <p:cNvPr id="13" name="Rectangle 12"/>
          <p:cNvSpPr/>
          <p:nvPr/>
        </p:nvSpPr>
        <p:spPr>
          <a:xfrm>
            <a:off x="2743200" y="2386584"/>
            <a:ext cx="708660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0" y="2386584"/>
            <a:ext cx="6361067" cy="26517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03536" y="2340864"/>
            <a:ext cx="868680" cy="347472"/>
          </a:xfrm>
          <a:prstGeom prst="rect">
            <a:avLst/>
          </a:prstGeom>
          <a:noFill/>
        </p:spPr>
        <p:txBody>
          <a:bodyPr wrap="square" lIns="36576" rIns="36576" tIns="36576" bIns="36576" anchor="ctr">
            <a:spAutoFit/>
          </a:bodyPr>
          <a:lstStyle/>
          <a:p>
            <a:pPr algn="r">
              <a:lnSpc>
                <a:spcPct val="100000"/>
              </a:lnSpc>
              <a:defRPr sz="1100" b="1">
                <a:solidFill>
                  <a:srgbClr val="2563EB"/>
                </a:solidFill>
                <a:latin typeface="Inter"/>
              </a:defRPr>
            </a:pPr>
            <a:r>
              <a:t>50.57%</a:t>
            </a:r>
          </a:p>
        </p:txBody>
      </p:sp>
      <p:sp>
        <p:nvSpPr>
          <p:cNvPr id="16" name="TextBox 15"/>
          <p:cNvSpPr txBox="1"/>
          <p:nvPr/>
        </p:nvSpPr>
        <p:spPr>
          <a:xfrm>
            <a:off x="713232" y="2980944"/>
            <a:ext cx="2057400" cy="329184"/>
          </a:xfrm>
          <a:prstGeom prst="rect">
            <a:avLst/>
          </a:prstGeom>
          <a:noFill/>
        </p:spPr>
        <p:txBody>
          <a:bodyPr wrap="square" lIns="36576" rIns="36576" tIns="36576" bIns="36576" anchor="ctr">
            <a:spAutoFit/>
          </a:bodyPr>
          <a:lstStyle/>
          <a:p>
            <a:pPr algn="l">
              <a:lnSpc>
                <a:spcPct val="100000"/>
              </a:lnSpc>
              <a:defRPr sz="1100" b="0">
                <a:solidFill>
                  <a:srgbClr val="0F172A"/>
                </a:solidFill>
                <a:latin typeface="Inter"/>
              </a:defRPr>
            </a:pPr>
            <a:r>
              <a:t>Full augmentation</a:t>
            </a:r>
          </a:p>
        </p:txBody>
      </p:sp>
      <p:sp>
        <p:nvSpPr>
          <p:cNvPr id="17" name="Rectangle 16"/>
          <p:cNvSpPr/>
          <p:nvPr/>
        </p:nvSpPr>
        <p:spPr>
          <a:xfrm>
            <a:off x="2743200" y="3008375"/>
            <a:ext cx="708660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0" y="3008375"/>
            <a:ext cx="4420688" cy="265176"/>
          </a:xfrm>
          <a:prstGeom prst="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03536" y="2962656"/>
            <a:ext cx="868680" cy="347472"/>
          </a:xfrm>
          <a:prstGeom prst="rect">
            <a:avLst/>
          </a:prstGeom>
          <a:noFill/>
        </p:spPr>
        <p:txBody>
          <a:bodyPr wrap="square" lIns="36576" rIns="36576" tIns="36576" bIns="36576" anchor="ctr">
            <a:spAutoFit/>
          </a:bodyPr>
          <a:lstStyle/>
          <a:p>
            <a:pPr algn="r">
              <a:lnSpc>
                <a:spcPct val="100000"/>
              </a:lnSpc>
              <a:defRPr sz="1100" b="1">
                <a:solidFill>
                  <a:srgbClr val="059669"/>
                </a:solidFill>
                <a:latin typeface="Inter"/>
              </a:defRPr>
            </a:pPr>
            <a:r>
              <a:t>49.42%</a:t>
            </a:r>
          </a:p>
        </p:txBody>
      </p:sp>
      <p:sp>
        <p:nvSpPr>
          <p:cNvPr id="20" name="TextBox 19"/>
          <p:cNvSpPr txBox="1"/>
          <p:nvPr/>
        </p:nvSpPr>
        <p:spPr>
          <a:xfrm>
            <a:off x="713232" y="3602736"/>
            <a:ext cx="2057400" cy="329184"/>
          </a:xfrm>
          <a:prstGeom prst="rect">
            <a:avLst/>
          </a:prstGeom>
          <a:noFill/>
        </p:spPr>
        <p:txBody>
          <a:bodyPr wrap="square" lIns="36576" rIns="36576" tIns="36576" bIns="36576" anchor="ctr">
            <a:spAutoFit/>
          </a:bodyPr>
          <a:lstStyle/>
          <a:p>
            <a:pPr algn="l">
              <a:lnSpc>
                <a:spcPct val="100000"/>
              </a:lnSpc>
              <a:defRPr sz="1100" b="0">
                <a:solidFill>
                  <a:srgbClr val="0F172A"/>
                </a:solidFill>
                <a:latin typeface="Inter"/>
              </a:defRPr>
            </a:pPr>
            <a:r>
              <a:t>Shift only</a:t>
            </a:r>
          </a:p>
        </p:txBody>
      </p:sp>
      <p:sp>
        <p:nvSpPr>
          <p:cNvPr id="21" name="Rectangle 20"/>
          <p:cNvSpPr/>
          <p:nvPr/>
        </p:nvSpPr>
        <p:spPr>
          <a:xfrm>
            <a:off x="2743200" y="3630168"/>
            <a:ext cx="708660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0" y="3630168"/>
            <a:ext cx="2058488" cy="265176"/>
          </a:xfrm>
          <a:prstGeom prst="rect">
            <a:avLst/>
          </a:prstGeom>
          <a:solidFill>
            <a:srgbClr val="475569"/>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03536" y="3584448"/>
            <a:ext cx="868680" cy="347472"/>
          </a:xfrm>
          <a:prstGeom prst="rect">
            <a:avLst/>
          </a:prstGeom>
          <a:noFill/>
        </p:spPr>
        <p:txBody>
          <a:bodyPr wrap="square" lIns="36576" rIns="36576" tIns="36576" bIns="36576" anchor="ctr">
            <a:spAutoFit/>
          </a:bodyPr>
          <a:lstStyle/>
          <a:p>
            <a:pPr algn="r">
              <a:lnSpc>
                <a:spcPct val="100000"/>
              </a:lnSpc>
              <a:defRPr sz="1100" b="1">
                <a:solidFill>
                  <a:srgbClr val="475569"/>
                </a:solidFill>
                <a:latin typeface="Inter"/>
              </a:defRPr>
            </a:pPr>
            <a:r>
              <a:t>48.02%</a:t>
            </a:r>
          </a:p>
        </p:txBody>
      </p:sp>
      <p:sp>
        <p:nvSpPr>
          <p:cNvPr id="24" name="TextBox 23"/>
          <p:cNvSpPr txBox="1"/>
          <p:nvPr/>
        </p:nvSpPr>
        <p:spPr>
          <a:xfrm>
            <a:off x="713232" y="4224528"/>
            <a:ext cx="2057400" cy="329184"/>
          </a:xfrm>
          <a:prstGeom prst="rect">
            <a:avLst/>
          </a:prstGeom>
          <a:noFill/>
        </p:spPr>
        <p:txBody>
          <a:bodyPr wrap="square" lIns="36576" rIns="36576" tIns="36576" bIns="36576" anchor="ctr">
            <a:spAutoFit/>
          </a:bodyPr>
          <a:lstStyle/>
          <a:p>
            <a:pPr algn="l">
              <a:lnSpc>
                <a:spcPct val="100000"/>
              </a:lnSpc>
              <a:defRPr sz="1100" b="0">
                <a:solidFill>
                  <a:srgbClr val="0F172A"/>
                </a:solidFill>
                <a:latin typeface="Inter"/>
              </a:defRPr>
            </a:pPr>
            <a:r>
              <a:t>Baseline</a:t>
            </a:r>
          </a:p>
        </p:txBody>
      </p:sp>
      <p:sp>
        <p:nvSpPr>
          <p:cNvPr id="25" name="Rectangle 24"/>
          <p:cNvSpPr/>
          <p:nvPr/>
        </p:nvSpPr>
        <p:spPr>
          <a:xfrm>
            <a:off x="2743200" y="4251960"/>
            <a:ext cx="708660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0" y="4251960"/>
            <a:ext cx="1687285" cy="265176"/>
          </a:xfrm>
          <a:prstGeom prst="rect">
            <a:avLst/>
          </a:prstGeom>
          <a:solidFill>
            <a:srgbClr val="33415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03536" y="4206240"/>
            <a:ext cx="868680" cy="347472"/>
          </a:xfrm>
          <a:prstGeom prst="rect">
            <a:avLst/>
          </a:prstGeom>
          <a:noFill/>
        </p:spPr>
        <p:txBody>
          <a:bodyPr wrap="square" lIns="36576" rIns="36576" tIns="36576" bIns="36576" anchor="ctr">
            <a:spAutoFit/>
          </a:bodyPr>
          <a:lstStyle/>
          <a:p>
            <a:pPr algn="r">
              <a:lnSpc>
                <a:spcPct val="100000"/>
              </a:lnSpc>
              <a:defRPr sz="1100" b="1">
                <a:solidFill>
                  <a:srgbClr val="334155"/>
                </a:solidFill>
                <a:latin typeface="Inter"/>
              </a:defRPr>
            </a:pPr>
            <a:r>
              <a:t>47.80%</a:t>
            </a:r>
          </a:p>
        </p:txBody>
      </p:sp>
      <p:sp>
        <p:nvSpPr>
          <p:cNvPr id="28" name="TextBox 27"/>
          <p:cNvSpPr txBox="1"/>
          <p:nvPr/>
        </p:nvSpPr>
        <p:spPr>
          <a:xfrm>
            <a:off x="713232" y="4846320"/>
            <a:ext cx="2057400" cy="329184"/>
          </a:xfrm>
          <a:prstGeom prst="rect">
            <a:avLst/>
          </a:prstGeom>
          <a:noFill/>
        </p:spPr>
        <p:txBody>
          <a:bodyPr wrap="square" lIns="36576" rIns="36576" tIns="36576" bIns="36576" anchor="ctr">
            <a:spAutoFit/>
          </a:bodyPr>
          <a:lstStyle/>
          <a:p>
            <a:pPr algn="l">
              <a:lnSpc>
                <a:spcPct val="100000"/>
              </a:lnSpc>
              <a:defRPr sz="1100" b="0">
                <a:solidFill>
                  <a:srgbClr val="0F172A"/>
                </a:solidFill>
                <a:latin typeface="Inter"/>
              </a:defRPr>
            </a:pPr>
            <a:r>
              <a:t>Scale only</a:t>
            </a:r>
          </a:p>
        </p:txBody>
      </p:sp>
      <p:sp>
        <p:nvSpPr>
          <p:cNvPr id="29" name="Rectangle 28"/>
          <p:cNvSpPr/>
          <p:nvPr/>
        </p:nvSpPr>
        <p:spPr>
          <a:xfrm>
            <a:off x="2743200" y="4873752"/>
            <a:ext cx="708660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0" y="4873752"/>
            <a:ext cx="961752" cy="265176"/>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03536" y="4828032"/>
            <a:ext cx="868680" cy="347472"/>
          </a:xfrm>
          <a:prstGeom prst="rect">
            <a:avLst/>
          </a:prstGeom>
          <a:noFill/>
        </p:spPr>
        <p:txBody>
          <a:bodyPr wrap="square" lIns="36576" rIns="36576" tIns="36576" bIns="36576" anchor="ctr">
            <a:spAutoFit/>
          </a:bodyPr>
          <a:lstStyle/>
          <a:p>
            <a:pPr algn="r">
              <a:lnSpc>
                <a:spcPct val="100000"/>
              </a:lnSpc>
              <a:defRPr sz="1100" b="1">
                <a:solidFill>
                  <a:srgbClr val="D97706"/>
                </a:solidFill>
                <a:latin typeface="Inter"/>
              </a:defRPr>
            </a:pPr>
            <a:r>
              <a:t>47.37%</a:t>
            </a:r>
          </a:p>
        </p:txBody>
      </p:sp>
      <p:sp>
        <p:nvSpPr>
          <p:cNvPr id="32" name="Rounded Rectangle 31"/>
          <p:cNvSpPr/>
          <p:nvPr/>
        </p:nvSpPr>
        <p:spPr>
          <a:xfrm>
            <a:off x="7955279" y="5486400"/>
            <a:ext cx="3200400" cy="621792"/>
          </a:xfrm>
          <a:prstGeom prst="roundRect">
            <a:avLst/>
          </a:prstGeom>
          <a:solidFill>
            <a:srgbClr val="F0F9FF"/>
          </a:solidFill>
          <a:ln w="12700">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5614416"/>
            <a:ext cx="2816352" cy="320040"/>
          </a:xfrm>
          <a:prstGeom prst="rect">
            <a:avLst/>
          </a:prstGeom>
          <a:noFill/>
        </p:spPr>
        <p:txBody>
          <a:bodyPr wrap="square" lIns="36576" rIns="36576" tIns="36576" bIns="36576" anchor="ctr">
            <a:spAutoFit/>
          </a:bodyPr>
          <a:lstStyle/>
          <a:p>
            <a:pPr algn="ctr">
              <a:lnSpc>
                <a:spcPct val="100000"/>
              </a:lnSpc>
              <a:defRPr sz="1100" b="1">
                <a:solidFill>
                  <a:srgbClr val="0284C7"/>
                </a:solidFill>
                <a:latin typeface="Inter"/>
              </a:defRPr>
            </a:pPr>
            <a:r>
              <a:t>LOCK phase_only BEFORE TEST</a:t>
            </a:r>
          </a:p>
        </p:txBody>
      </p:sp>
      <p:sp>
        <p:nvSpPr>
          <p:cNvPr id="34" name="TextBox 33"/>
          <p:cNvSpPr txBox="1"/>
          <p:nvPr/>
        </p:nvSpPr>
        <p:spPr>
          <a:xfrm>
            <a:off x="713232" y="5650992"/>
            <a:ext cx="6903720" cy="274320"/>
          </a:xfrm>
          <a:prstGeom prst="rect">
            <a:avLst/>
          </a:prstGeom>
          <a:noFill/>
        </p:spPr>
        <p:txBody>
          <a:bodyPr wrap="square" lIns="36576" rIns="36576" tIns="36576" bIns="36576" anchor="ctr">
            <a:spAutoFit/>
          </a:bodyPr>
          <a:lstStyle/>
          <a:p>
            <a:pPr algn="l">
              <a:lnSpc>
                <a:spcPct val="100000"/>
              </a:lnSpc>
              <a:defRPr sz="1000" b="1">
                <a:solidFill>
                  <a:srgbClr val="DC2626"/>
                </a:solidFill>
                <a:latin typeface="Inter"/>
              </a:defRPr>
            </a:pPr>
            <a:r>
              <a:t>Only +0.16 pp vs noise-only — do not overclaim transform superiority.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06 · FINAL TEST</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The largest gain is in the target low-SNR region</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Frozen test set · mean across five paired seeds; error bands show sample SD</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9 of 12</a:t>
            </a:r>
          </a:p>
        </p:txBody>
      </p:sp>
      <p:sp>
        <p:nvSpPr>
          <p:cNvPr id="8" name="TextBox 7"/>
          <p:cNvSpPr txBox="1"/>
          <p:nvPr/>
        </p:nvSpPr>
        <p:spPr>
          <a:xfrm>
            <a:off x="475488" y="1581912"/>
            <a:ext cx="2194560"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PRIMARY METRICS</a:t>
            </a:r>
          </a:p>
        </p:txBody>
      </p:sp>
      <p:sp>
        <p:nvSpPr>
          <p:cNvPr id="9" name="TextBox 8"/>
          <p:cNvSpPr txBox="1"/>
          <p:nvPr/>
        </p:nvSpPr>
        <p:spPr>
          <a:xfrm>
            <a:off x="3163824" y="1581912"/>
            <a:ext cx="749808" cy="274320"/>
          </a:xfrm>
          <a:prstGeom prst="rect">
            <a:avLst/>
          </a:prstGeom>
          <a:noFill/>
        </p:spPr>
        <p:txBody>
          <a:bodyPr wrap="square" lIns="36576" rIns="36576" tIns="36576" bIns="36576" anchor="ctr">
            <a:spAutoFit/>
          </a:bodyPr>
          <a:lstStyle/>
          <a:p>
            <a:pPr algn="l">
              <a:lnSpc>
                <a:spcPct val="100000"/>
              </a:lnSpc>
              <a:defRPr sz="1000" b="1">
                <a:solidFill>
                  <a:srgbClr val="334155"/>
                </a:solidFill>
                <a:latin typeface="Inter"/>
              </a:defRPr>
            </a:pPr>
            <a:r>
              <a:t>baseline</a:t>
            </a:r>
          </a:p>
        </p:txBody>
      </p:sp>
      <p:sp>
        <p:nvSpPr>
          <p:cNvPr id="10" name="TextBox 9"/>
          <p:cNvSpPr txBox="1"/>
          <p:nvPr/>
        </p:nvSpPr>
        <p:spPr>
          <a:xfrm>
            <a:off x="4087368" y="1581912"/>
            <a:ext cx="91440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phase-only</a:t>
            </a:r>
          </a:p>
        </p:txBody>
      </p:sp>
      <p:sp>
        <p:nvSpPr>
          <p:cNvPr id="11" name="TextBox 10"/>
          <p:cNvSpPr txBox="1"/>
          <p:nvPr/>
        </p:nvSpPr>
        <p:spPr>
          <a:xfrm>
            <a:off x="475488" y="1920240"/>
            <a:ext cx="1828800" cy="329184"/>
          </a:xfrm>
          <a:prstGeom prst="rect">
            <a:avLst/>
          </a:prstGeom>
          <a:noFill/>
        </p:spPr>
        <p:txBody>
          <a:bodyPr wrap="square" lIns="36576" rIns="36576" tIns="36576" bIns="36576" anchor="ctr">
            <a:spAutoFit/>
          </a:bodyPr>
          <a:lstStyle/>
          <a:p>
            <a:pPr algn="l">
              <a:lnSpc>
                <a:spcPct val="100000"/>
              </a:lnSpc>
              <a:defRPr sz="1300" b="1">
                <a:solidFill>
                  <a:srgbClr val="0F172A"/>
                </a:solidFill>
                <a:latin typeface="Inter"/>
              </a:defRPr>
            </a:pPr>
            <a:r>
              <a:t>Global accuracy</a:t>
            </a:r>
          </a:p>
        </p:txBody>
      </p:sp>
      <p:sp>
        <p:nvSpPr>
          <p:cNvPr id="12" name="Rectangle 11"/>
          <p:cNvSpPr/>
          <p:nvPr/>
        </p:nvSpPr>
        <p:spPr>
          <a:xfrm>
            <a:off x="2267712" y="1965960"/>
            <a:ext cx="265176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67712" y="1965960"/>
            <a:ext cx="2354762" cy="265176"/>
          </a:xfrm>
          <a:prstGeom prst="rect">
            <a:avLst/>
          </a:prstGeom>
          <a:solidFill>
            <a:srgbClr val="33415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31720" y="1929384"/>
            <a:ext cx="749808" cy="320040"/>
          </a:xfrm>
          <a:prstGeom prst="rect">
            <a:avLst/>
          </a:prstGeom>
          <a:noFill/>
        </p:spPr>
        <p:txBody>
          <a:bodyPr wrap="square" lIns="36576" rIns="36576" tIns="36576" bIns="36576" anchor="ctr">
            <a:spAutoFit/>
          </a:bodyPr>
          <a:lstStyle/>
          <a:p>
            <a:pPr algn="l">
              <a:lnSpc>
                <a:spcPct val="100000"/>
              </a:lnSpc>
              <a:defRPr sz="1000" b="1">
                <a:solidFill>
                  <a:srgbClr val="FFFFFF"/>
                </a:solidFill>
                <a:latin typeface="Inter"/>
              </a:defRPr>
            </a:pPr>
            <a:r>
              <a:t>66.60%</a:t>
            </a:r>
          </a:p>
        </p:txBody>
      </p:sp>
      <p:sp>
        <p:nvSpPr>
          <p:cNvPr id="15" name="Rectangle 14"/>
          <p:cNvSpPr/>
          <p:nvPr/>
        </p:nvSpPr>
        <p:spPr>
          <a:xfrm>
            <a:off x="2267712" y="2359152"/>
            <a:ext cx="265176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67712" y="2359152"/>
            <a:ext cx="2459419" cy="265176"/>
          </a:xfrm>
          <a:prstGeom prst="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31720" y="2322576"/>
            <a:ext cx="749808" cy="320040"/>
          </a:xfrm>
          <a:prstGeom prst="rect">
            <a:avLst/>
          </a:prstGeom>
          <a:noFill/>
        </p:spPr>
        <p:txBody>
          <a:bodyPr wrap="square" lIns="36576" rIns="36576" tIns="36576" bIns="36576" anchor="ctr">
            <a:spAutoFit/>
          </a:bodyPr>
          <a:lstStyle/>
          <a:p>
            <a:pPr algn="l">
              <a:lnSpc>
                <a:spcPct val="100000"/>
              </a:lnSpc>
              <a:defRPr sz="1000" b="1">
                <a:solidFill>
                  <a:srgbClr val="FFFFFF"/>
                </a:solidFill>
                <a:latin typeface="Inter"/>
              </a:defRPr>
            </a:pPr>
            <a:r>
              <a:t>69.56%</a:t>
            </a:r>
          </a:p>
        </p:txBody>
      </p:sp>
      <p:sp>
        <p:nvSpPr>
          <p:cNvPr id="18" name="Rounded Rectangle 17"/>
          <p:cNvSpPr/>
          <p:nvPr/>
        </p:nvSpPr>
        <p:spPr>
          <a:xfrm>
            <a:off x="5047488" y="2075688"/>
            <a:ext cx="914400" cy="46634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7488" y="2075688"/>
            <a:ext cx="914400" cy="466344"/>
          </a:xfrm>
          <a:prstGeom prst="rect">
            <a:avLst/>
          </a:prstGeom>
          <a:noFill/>
        </p:spPr>
        <p:txBody>
          <a:bodyPr wrap="square" lIns="36576" rIns="36576" tIns="36576" bIns="36576" anchor="ctr">
            <a:spAutoFit/>
          </a:bodyPr>
          <a:lstStyle/>
          <a:p>
            <a:pPr algn="ctr">
              <a:lnSpc>
                <a:spcPct val="100000"/>
              </a:lnSpc>
              <a:defRPr sz="1100" b="1">
                <a:solidFill>
                  <a:srgbClr val="059669"/>
                </a:solidFill>
                <a:latin typeface="Inter"/>
              </a:defRPr>
            </a:pPr>
            <a:r>
              <a:t>+2.96 pp</a:t>
            </a:r>
          </a:p>
        </p:txBody>
      </p:sp>
      <p:sp>
        <p:nvSpPr>
          <p:cNvPr id="20" name="TextBox 19"/>
          <p:cNvSpPr txBox="1"/>
          <p:nvPr/>
        </p:nvSpPr>
        <p:spPr>
          <a:xfrm>
            <a:off x="475488" y="3044952"/>
            <a:ext cx="1828800" cy="329184"/>
          </a:xfrm>
          <a:prstGeom prst="rect">
            <a:avLst/>
          </a:prstGeom>
          <a:noFill/>
        </p:spPr>
        <p:txBody>
          <a:bodyPr wrap="square" lIns="36576" rIns="36576" tIns="36576" bIns="36576" anchor="ctr">
            <a:spAutoFit/>
          </a:bodyPr>
          <a:lstStyle/>
          <a:p>
            <a:pPr algn="l">
              <a:lnSpc>
                <a:spcPct val="100000"/>
              </a:lnSpc>
              <a:defRPr sz="1300" b="1">
                <a:solidFill>
                  <a:srgbClr val="0F172A"/>
                </a:solidFill>
                <a:latin typeface="Inter"/>
              </a:defRPr>
            </a:pPr>
            <a:r>
              <a:t>Global Macro-F1</a:t>
            </a:r>
          </a:p>
        </p:txBody>
      </p:sp>
      <p:sp>
        <p:nvSpPr>
          <p:cNvPr id="21" name="Rectangle 20"/>
          <p:cNvSpPr/>
          <p:nvPr/>
        </p:nvSpPr>
        <p:spPr>
          <a:xfrm>
            <a:off x="2267712" y="3090672"/>
            <a:ext cx="265176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67712" y="3090672"/>
            <a:ext cx="2324709" cy="265176"/>
          </a:xfrm>
          <a:prstGeom prst="rect">
            <a:avLst/>
          </a:prstGeom>
          <a:solidFill>
            <a:srgbClr val="33415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31720" y="3054096"/>
            <a:ext cx="749808" cy="320040"/>
          </a:xfrm>
          <a:prstGeom prst="rect">
            <a:avLst/>
          </a:prstGeom>
          <a:noFill/>
        </p:spPr>
        <p:txBody>
          <a:bodyPr wrap="square" lIns="36576" rIns="36576" tIns="36576" bIns="36576" anchor="ctr">
            <a:spAutoFit/>
          </a:bodyPr>
          <a:lstStyle/>
          <a:p>
            <a:pPr algn="l">
              <a:lnSpc>
                <a:spcPct val="100000"/>
              </a:lnSpc>
              <a:defRPr sz="1000" b="1">
                <a:solidFill>
                  <a:srgbClr val="FFFFFF"/>
                </a:solidFill>
                <a:latin typeface="Inter"/>
              </a:defRPr>
            </a:pPr>
            <a:r>
              <a:t>65.75%</a:t>
            </a:r>
          </a:p>
        </p:txBody>
      </p:sp>
      <p:sp>
        <p:nvSpPr>
          <p:cNvPr id="24" name="Rectangle 23"/>
          <p:cNvSpPr/>
          <p:nvPr/>
        </p:nvSpPr>
        <p:spPr>
          <a:xfrm>
            <a:off x="2267712" y="3483864"/>
            <a:ext cx="265176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67712" y="3483864"/>
            <a:ext cx="2438204" cy="265176"/>
          </a:xfrm>
          <a:prstGeom prst="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31720" y="3447288"/>
            <a:ext cx="749808" cy="320040"/>
          </a:xfrm>
          <a:prstGeom prst="rect">
            <a:avLst/>
          </a:prstGeom>
          <a:noFill/>
        </p:spPr>
        <p:txBody>
          <a:bodyPr wrap="square" lIns="36576" rIns="36576" tIns="36576" bIns="36576" anchor="ctr">
            <a:spAutoFit/>
          </a:bodyPr>
          <a:lstStyle/>
          <a:p>
            <a:pPr algn="l">
              <a:lnSpc>
                <a:spcPct val="100000"/>
              </a:lnSpc>
              <a:defRPr sz="1000" b="1">
                <a:solidFill>
                  <a:srgbClr val="FFFFFF"/>
                </a:solidFill>
                <a:latin typeface="Inter"/>
              </a:defRPr>
            </a:pPr>
            <a:r>
              <a:t>68.96%</a:t>
            </a:r>
          </a:p>
        </p:txBody>
      </p:sp>
      <p:sp>
        <p:nvSpPr>
          <p:cNvPr id="27" name="Rounded Rectangle 26"/>
          <p:cNvSpPr/>
          <p:nvPr/>
        </p:nvSpPr>
        <p:spPr>
          <a:xfrm>
            <a:off x="5047488" y="3200400"/>
            <a:ext cx="914400" cy="46634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47488" y="3200400"/>
            <a:ext cx="914400" cy="466344"/>
          </a:xfrm>
          <a:prstGeom prst="rect">
            <a:avLst/>
          </a:prstGeom>
          <a:noFill/>
        </p:spPr>
        <p:txBody>
          <a:bodyPr wrap="square" lIns="36576" rIns="36576" tIns="36576" bIns="36576" anchor="ctr">
            <a:spAutoFit/>
          </a:bodyPr>
          <a:lstStyle/>
          <a:p>
            <a:pPr algn="ctr">
              <a:lnSpc>
                <a:spcPct val="100000"/>
              </a:lnSpc>
              <a:defRPr sz="1100" b="1">
                <a:solidFill>
                  <a:srgbClr val="059669"/>
                </a:solidFill>
                <a:latin typeface="Inter"/>
              </a:defRPr>
            </a:pPr>
            <a:r>
              <a:t>+3.20 pp</a:t>
            </a:r>
          </a:p>
        </p:txBody>
      </p:sp>
      <p:sp>
        <p:nvSpPr>
          <p:cNvPr id="29" name="TextBox 28"/>
          <p:cNvSpPr txBox="1"/>
          <p:nvPr/>
        </p:nvSpPr>
        <p:spPr>
          <a:xfrm>
            <a:off x="475488" y="4169664"/>
            <a:ext cx="1828800" cy="329184"/>
          </a:xfrm>
          <a:prstGeom prst="rect">
            <a:avLst/>
          </a:prstGeom>
          <a:noFill/>
        </p:spPr>
        <p:txBody>
          <a:bodyPr wrap="square" lIns="36576" rIns="36576" tIns="36576" bIns="36576" anchor="ctr">
            <a:spAutoFit/>
          </a:bodyPr>
          <a:lstStyle/>
          <a:p>
            <a:pPr algn="l">
              <a:lnSpc>
                <a:spcPct val="100000"/>
              </a:lnSpc>
              <a:defRPr sz="1300" b="1">
                <a:solidFill>
                  <a:srgbClr val="0F172A"/>
                </a:solidFill>
                <a:latin typeface="Inter"/>
              </a:defRPr>
            </a:pPr>
            <a:r>
              <a:t>Low-SNR accuracy</a:t>
            </a:r>
          </a:p>
        </p:txBody>
      </p:sp>
      <p:sp>
        <p:nvSpPr>
          <p:cNvPr id="30" name="Rectangle 29"/>
          <p:cNvSpPr/>
          <p:nvPr/>
        </p:nvSpPr>
        <p:spPr>
          <a:xfrm>
            <a:off x="2267712" y="4215384"/>
            <a:ext cx="265176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67712" y="4215384"/>
            <a:ext cx="1641969" cy="265176"/>
          </a:xfrm>
          <a:prstGeom prst="rect">
            <a:avLst/>
          </a:prstGeom>
          <a:solidFill>
            <a:srgbClr val="33415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31720" y="4178808"/>
            <a:ext cx="749808" cy="320040"/>
          </a:xfrm>
          <a:prstGeom prst="rect">
            <a:avLst/>
          </a:prstGeom>
          <a:noFill/>
        </p:spPr>
        <p:txBody>
          <a:bodyPr wrap="square" lIns="36576" rIns="36576" tIns="36576" bIns="36576" anchor="ctr">
            <a:spAutoFit/>
          </a:bodyPr>
          <a:lstStyle/>
          <a:p>
            <a:pPr algn="l">
              <a:lnSpc>
                <a:spcPct val="100000"/>
              </a:lnSpc>
              <a:defRPr sz="1000" b="1">
                <a:solidFill>
                  <a:srgbClr val="FFFFFF"/>
                </a:solidFill>
                <a:latin typeface="Inter"/>
              </a:defRPr>
            </a:pPr>
            <a:r>
              <a:t>46.44%</a:t>
            </a:r>
          </a:p>
        </p:txBody>
      </p:sp>
      <p:sp>
        <p:nvSpPr>
          <p:cNvPr id="33" name="Rectangle 32"/>
          <p:cNvSpPr/>
          <p:nvPr/>
        </p:nvSpPr>
        <p:spPr>
          <a:xfrm>
            <a:off x="2267712" y="4608576"/>
            <a:ext cx="2651760" cy="265176"/>
          </a:xfrm>
          <a:prstGeom prst="rect">
            <a:avLst/>
          </a:prstGeom>
          <a:solidFill>
            <a:srgbClr val="F1F5F9"/>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267712" y="4608576"/>
            <a:ext cx="1808853" cy="265176"/>
          </a:xfrm>
          <a:prstGeom prst="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31720" y="4572000"/>
            <a:ext cx="749808" cy="320040"/>
          </a:xfrm>
          <a:prstGeom prst="rect">
            <a:avLst/>
          </a:prstGeom>
          <a:noFill/>
        </p:spPr>
        <p:txBody>
          <a:bodyPr wrap="square" lIns="36576" rIns="36576" tIns="36576" bIns="36576" anchor="ctr">
            <a:spAutoFit/>
          </a:bodyPr>
          <a:lstStyle/>
          <a:p>
            <a:pPr algn="l">
              <a:lnSpc>
                <a:spcPct val="100000"/>
              </a:lnSpc>
              <a:defRPr sz="1000" b="1">
                <a:solidFill>
                  <a:srgbClr val="FFFFFF"/>
                </a:solidFill>
                <a:latin typeface="Inter"/>
              </a:defRPr>
            </a:pPr>
            <a:r>
              <a:t>51.16%</a:t>
            </a:r>
          </a:p>
        </p:txBody>
      </p:sp>
      <p:sp>
        <p:nvSpPr>
          <p:cNvPr id="36" name="Rounded Rectangle 35"/>
          <p:cNvSpPr/>
          <p:nvPr/>
        </p:nvSpPr>
        <p:spPr>
          <a:xfrm>
            <a:off x="5047488" y="4325112"/>
            <a:ext cx="914400" cy="46634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47488" y="4325112"/>
            <a:ext cx="914400" cy="466344"/>
          </a:xfrm>
          <a:prstGeom prst="rect">
            <a:avLst/>
          </a:prstGeom>
          <a:noFill/>
        </p:spPr>
        <p:txBody>
          <a:bodyPr wrap="square" lIns="36576" rIns="36576" tIns="36576" bIns="36576" anchor="ctr">
            <a:spAutoFit/>
          </a:bodyPr>
          <a:lstStyle/>
          <a:p>
            <a:pPr algn="ctr">
              <a:lnSpc>
                <a:spcPct val="100000"/>
              </a:lnSpc>
              <a:defRPr sz="1100" b="1">
                <a:solidFill>
                  <a:srgbClr val="059669"/>
                </a:solidFill>
                <a:latin typeface="Inter"/>
              </a:defRPr>
            </a:pPr>
            <a:r>
              <a:t>+4.72 pp</a:t>
            </a:r>
          </a:p>
        </p:txBody>
      </p:sp>
      <p:pic>
        <p:nvPicPr>
          <p:cNvPr id="38" name="Picture 37" descr="accuracy_vs_snr.png"/>
          <p:cNvPicPr>
            <a:picLocks noChangeAspect="1"/>
          </p:cNvPicPr>
          <p:nvPr/>
        </p:nvPicPr>
        <p:blipFill>
          <a:blip r:embed="rId2"/>
          <a:stretch>
            <a:fillRect/>
          </a:stretch>
        </p:blipFill>
        <p:spPr>
          <a:xfrm>
            <a:off x="6053328" y="1508760"/>
            <a:ext cx="5687568" cy="3584448"/>
          </a:xfrm>
          <a:prstGeom prst="rect">
            <a:avLst/>
          </a:prstGeom>
        </p:spPr>
      </p:pic>
      <p:sp>
        <p:nvSpPr>
          <p:cNvPr id="39" name="Rounded Rectangle 38"/>
          <p:cNvSpPr/>
          <p:nvPr/>
        </p:nvSpPr>
        <p:spPr>
          <a:xfrm>
            <a:off x="6144768" y="5193792"/>
            <a:ext cx="1609344" cy="621792"/>
          </a:xfrm>
          <a:prstGeom prst="roundRect">
            <a:avLst/>
          </a:prstGeom>
          <a:solidFill>
            <a:srgbClr val="F0F9FF"/>
          </a:solidFill>
          <a:ln w="12700">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36207" y="5266944"/>
            <a:ext cx="548640" cy="274320"/>
          </a:xfrm>
          <a:prstGeom prst="rect">
            <a:avLst/>
          </a:prstGeom>
          <a:noFill/>
        </p:spPr>
        <p:txBody>
          <a:bodyPr wrap="square" lIns="36576" rIns="36576" tIns="36576" bIns="36576" anchor="ctr">
            <a:spAutoFit/>
          </a:bodyPr>
          <a:lstStyle/>
          <a:p>
            <a:pPr algn="l">
              <a:lnSpc>
                <a:spcPct val="100000"/>
              </a:lnSpc>
              <a:defRPr sz="950" b="1">
                <a:solidFill>
                  <a:srgbClr val="64748B"/>
                </a:solidFill>
                <a:latin typeface="Inter"/>
              </a:defRPr>
            </a:pPr>
            <a:r>
              <a:t>−8 dB</a:t>
            </a:r>
          </a:p>
        </p:txBody>
      </p:sp>
      <p:sp>
        <p:nvSpPr>
          <p:cNvPr id="41" name="TextBox 40"/>
          <p:cNvSpPr txBox="1"/>
          <p:nvPr/>
        </p:nvSpPr>
        <p:spPr>
          <a:xfrm>
            <a:off x="6766559" y="5239512"/>
            <a:ext cx="877824" cy="320040"/>
          </a:xfrm>
          <a:prstGeom prst="rect">
            <a:avLst/>
          </a:prstGeom>
          <a:noFill/>
        </p:spPr>
        <p:txBody>
          <a:bodyPr wrap="square" lIns="36576" rIns="36576" tIns="36576" bIns="36576" anchor="ctr">
            <a:spAutoFit/>
          </a:bodyPr>
          <a:lstStyle/>
          <a:p>
            <a:pPr algn="r">
              <a:lnSpc>
                <a:spcPct val="100000"/>
              </a:lnSpc>
              <a:defRPr sz="1150" b="1">
                <a:solidFill>
                  <a:srgbClr val="0284C7"/>
                </a:solidFill>
                <a:latin typeface="Inter"/>
              </a:defRPr>
            </a:pPr>
            <a:r>
              <a:t>+5.40 pp</a:t>
            </a:r>
          </a:p>
        </p:txBody>
      </p:sp>
      <p:sp>
        <p:nvSpPr>
          <p:cNvPr id="42" name="Rounded Rectangle 41"/>
          <p:cNvSpPr/>
          <p:nvPr/>
        </p:nvSpPr>
        <p:spPr>
          <a:xfrm>
            <a:off x="7955279" y="5193792"/>
            <a:ext cx="1609344" cy="621792"/>
          </a:xfrm>
          <a:prstGeom prst="roundRect">
            <a:avLst/>
          </a:prstGeom>
          <a:solidFill>
            <a:srgbClr val="F0F9FF"/>
          </a:solidFill>
          <a:ln w="12700">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19" y="5266944"/>
            <a:ext cx="548640" cy="274320"/>
          </a:xfrm>
          <a:prstGeom prst="rect">
            <a:avLst/>
          </a:prstGeom>
          <a:noFill/>
        </p:spPr>
        <p:txBody>
          <a:bodyPr wrap="square" lIns="36576" rIns="36576" tIns="36576" bIns="36576" anchor="ctr">
            <a:spAutoFit/>
          </a:bodyPr>
          <a:lstStyle/>
          <a:p>
            <a:pPr algn="l">
              <a:lnSpc>
                <a:spcPct val="100000"/>
              </a:lnSpc>
              <a:defRPr sz="950" b="1">
                <a:solidFill>
                  <a:srgbClr val="64748B"/>
                </a:solidFill>
                <a:latin typeface="Inter"/>
              </a:defRPr>
            </a:pPr>
            <a:r>
              <a:t>−4 dB</a:t>
            </a:r>
          </a:p>
        </p:txBody>
      </p:sp>
      <p:sp>
        <p:nvSpPr>
          <p:cNvPr id="44" name="TextBox 43"/>
          <p:cNvSpPr txBox="1"/>
          <p:nvPr/>
        </p:nvSpPr>
        <p:spPr>
          <a:xfrm>
            <a:off x="8577072" y="5239512"/>
            <a:ext cx="877824" cy="320040"/>
          </a:xfrm>
          <a:prstGeom prst="rect">
            <a:avLst/>
          </a:prstGeom>
          <a:noFill/>
        </p:spPr>
        <p:txBody>
          <a:bodyPr wrap="square" lIns="36576" rIns="36576" tIns="36576" bIns="36576" anchor="ctr">
            <a:spAutoFit/>
          </a:bodyPr>
          <a:lstStyle/>
          <a:p>
            <a:pPr algn="r">
              <a:lnSpc>
                <a:spcPct val="100000"/>
              </a:lnSpc>
              <a:defRPr sz="1150" b="1">
                <a:solidFill>
                  <a:srgbClr val="0284C7"/>
                </a:solidFill>
                <a:latin typeface="Inter"/>
              </a:defRPr>
            </a:pPr>
            <a:r>
              <a:t>+5.10 pp</a:t>
            </a:r>
          </a:p>
        </p:txBody>
      </p:sp>
      <p:sp>
        <p:nvSpPr>
          <p:cNvPr id="45" name="Rounded Rectangle 44"/>
          <p:cNvSpPr/>
          <p:nvPr/>
        </p:nvSpPr>
        <p:spPr>
          <a:xfrm>
            <a:off x="9765792" y="5193792"/>
            <a:ext cx="1609344" cy="621792"/>
          </a:xfrm>
          <a:prstGeom prst="roundRect">
            <a:avLst/>
          </a:prstGeom>
          <a:solidFill>
            <a:srgbClr val="F0F9FF"/>
          </a:solidFill>
          <a:ln w="12700">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57232" y="5266944"/>
            <a:ext cx="548640" cy="274320"/>
          </a:xfrm>
          <a:prstGeom prst="rect">
            <a:avLst/>
          </a:prstGeom>
          <a:noFill/>
        </p:spPr>
        <p:txBody>
          <a:bodyPr wrap="square" lIns="36576" rIns="36576" tIns="36576" bIns="36576" anchor="ctr">
            <a:spAutoFit/>
          </a:bodyPr>
          <a:lstStyle/>
          <a:p>
            <a:pPr algn="l">
              <a:lnSpc>
                <a:spcPct val="100000"/>
              </a:lnSpc>
              <a:defRPr sz="950" b="1">
                <a:solidFill>
                  <a:srgbClr val="64748B"/>
                </a:solidFill>
                <a:latin typeface="Inter"/>
              </a:defRPr>
            </a:pPr>
            <a:r>
              <a:t>+4 dB</a:t>
            </a:r>
          </a:p>
        </p:txBody>
      </p:sp>
      <p:sp>
        <p:nvSpPr>
          <p:cNvPr id="47" name="TextBox 46"/>
          <p:cNvSpPr txBox="1"/>
          <p:nvPr/>
        </p:nvSpPr>
        <p:spPr>
          <a:xfrm>
            <a:off x="10387584" y="5239512"/>
            <a:ext cx="877824" cy="320040"/>
          </a:xfrm>
          <a:prstGeom prst="rect">
            <a:avLst/>
          </a:prstGeom>
          <a:noFill/>
        </p:spPr>
        <p:txBody>
          <a:bodyPr wrap="square" lIns="36576" rIns="36576" tIns="36576" bIns="36576" anchor="ctr">
            <a:spAutoFit/>
          </a:bodyPr>
          <a:lstStyle/>
          <a:p>
            <a:pPr algn="r">
              <a:lnSpc>
                <a:spcPct val="100000"/>
              </a:lnSpc>
              <a:defRPr sz="1150" b="1">
                <a:solidFill>
                  <a:srgbClr val="0284C7"/>
                </a:solidFill>
                <a:latin typeface="Inter"/>
              </a:defRPr>
            </a:pPr>
            <a:r>
              <a:t>+2.25 pp</a:t>
            </a:r>
          </a:p>
        </p:txBody>
      </p:sp>
      <p:sp>
        <p:nvSpPr>
          <p:cNvPr id="48" name="TextBox 47"/>
          <p:cNvSpPr txBox="1"/>
          <p:nvPr/>
        </p:nvSpPr>
        <p:spPr>
          <a:xfrm>
            <a:off x="502920" y="5660136"/>
            <a:ext cx="5440680" cy="347472"/>
          </a:xfrm>
          <a:prstGeom prst="rect">
            <a:avLst/>
          </a:prstGeom>
          <a:noFill/>
        </p:spPr>
        <p:txBody>
          <a:bodyPr wrap="square" lIns="36576" rIns="36576" tIns="36576" bIns="36576" anchor="ctr">
            <a:spAutoFit/>
          </a:bodyPr>
          <a:lstStyle/>
          <a:p>
            <a:pPr algn="l">
              <a:lnSpc>
                <a:spcPct val="100000"/>
              </a:lnSpc>
              <a:defRPr sz="1250" b="1">
                <a:solidFill>
                  <a:srgbClr val="059669"/>
                </a:solidFill>
                <a:latin typeface="Inter"/>
              </a:defRPr>
            </a:pPr>
            <a:r>
              <a:t>Gain is strongest where checkpoint selection was optimized.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06 · ANALYSIS</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Confusion improves — but not uniformly</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Row-normalized confusion matrices for seed 42 at low and moderate SNR</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10 of 12</a:t>
            </a:r>
          </a:p>
        </p:txBody>
      </p:sp>
      <p:pic>
        <p:nvPicPr>
          <p:cNvPr id="8" name="Picture 7" descr="cm_seed42_-4dB.png"/>
          <p:cNvPicPr>
            <a:picLocks noChangeAspect="1"/>
          </p:cNvPicPr>
          <p:nvPr/>
        </p:nvPicPr>
        <p:blipFill>
          <a:blip r:embed="rId2"/>
          <a:stretch>
            <a:fillRect/>
          </a:stretch>
        </p:blipFill>
        <p:spPr>
          <a:xfrm>
            <a:off x="384048" y="1508760"/>
            <a:ext cx="5650992" cy="3401568"/>
          </a:xfrm>
          <a:prstGeom prst="rect">
            <a:avLst/>
          </a:prstGeom>
        </p:spPr>
      </p:pic>
      <p:pic>
        <p:nvPicPr>
          <p:cNvPr id="9" name="Picture 8" descr="cm_seed42_+4dB.png"/>
          <p:cNvPicPr>
            <a:picLocks noChangeAspect="1"/>
          </p:cNvPicPr>
          <p:nvPr/>
        </p:nvPicPr>
        <p:blipFill>
          <a:blip r:embed="rId3"/>
          <a:stretch>
            <a:fillRect/>
          </a:stretch>
        </p:blipFill>
        <p:spPr>
          <a:xfrm>
            <a:off x="6153912" y="1508760"/>
            <a:ext cx="5650992" cy="3401568"/>
          </a:xfrm>
          <a:prstGeom prst="rect">
            <a:avLst/>
          </a:prstGeom>
        </p:spPr>
      </p:pic>
      <p:sp>
        <p:nvSpPr>
          <p:cNvPr id="10" name="Rounded Rectangle 9"/>
          <p:cNvSpPr/>
          <p:nvPr/>
        </p:nvSpPr>
        <p:spPr>
          <a:xfrm>
            <a:off x="429768" y="5047488"/>
            <a:ext cx="3639312" cy="9326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 y="5047488"/>
            <a:ext cx="73152" cy="932688"/>
          </a:xfrm>
          <a:prstGeom prst="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5157216"/>
            <a:ext cx="3236976" cy="246888"/>
          </a:xfrm>
          <a:prstGeom prst="rect">
            <a:avLst/>
          </a:prstGeom>
          <a:noFill/>
        </p:spPr>
        <p:txBody>
          <a:bodyPr wrap="square" lIns="36576" rIns="36576" tIns="36576" bIns="36576" anchor="ctr">
            <a:spAutoFit/>
          </a:bodyPr>
          <a:lstStyle/>
          <a:p>
            <a:pPr algn="l">
              <a:lnSpc>
                <a:spcPct val="100000"/>
              </a:lnSpc>
              <a:defRPr sz="950" b="1">
                <a:solidFill>
                  <a:srgbClr val="0284C7"/>
                </a:solidFill>
                <a:latin typeface="Inter"/>
              </a:defRPr>
            </a:pPr>
            <a:r>
              <a:t>−4 dB: FSK RECOVERS</a:t>
            </a:r>
          </a:p>
        </p:txBody>
      </p:sp>
      <p:sp>
        <p:nvSpPr>
          <p:cNvPr id="13" name="TextBox 12"/>
          <p:cNvSpPr txBox="1"/>
          <p:nvPr/>
        </p:nvSpPr>
        <p:spPr>
          <a:xfrm>
            <a:off x="630936" y="5468112"/>
            <a:ext cx="3236976" cy="320040"/>
          </a:xfrm>
          <a:prstGeom prst="rect">
            <a:avLst/>
          </a:prstGeom>
          <a:noFill/>
        </p:spPr>
        <p:txBody>
          <a:bodyPr wrap="square" lIns="36576" rIns="36576" tIns="36576" bIns="36576" anchor="ctr">
            <a:spAutoFit/>
          </a:bodyPr>
          <a:lstStyle/>
          <a:p>
            <a:pPr algn="ctr">
              <a:lnSpc>
                <a:spcPct val="100000"/>
              </a:lnSpc>
              <a:defRPr sz="1050" b="1">
                <a:solidFill>
                  <a:srgbClr val="0F172A"/>
                </a:solidFill>
                <a:latin typeface="Inter"/>
              </a:defRPr>
            </a:pPr>
            <a:r>
              <a:t>CPFSK 46→70 · GFSK 56→76</a:t>
            </a:r>
          </a:p>
        </p:txBody>
      </p:sp>
      <p:sp>
        <p:nvSpPr>
          <p:cNvPr id="14" name="Rounded Rectangle 13"/>
          <p:cNvSpPr/>
          <p:nvPr/>
        </p:nvSpPr>
        <p:spPr>
          <a:xfrm>
            <a:off x="4270248" y="5047488"/>
            <a:ext cx="3639312" cy="9326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0248" y="5047488"/>
            <a:ext cx="73152" cy="932688"/>
          </a:xfrm>
          <a:prstGeom prst="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1416" y="5157216"/>
            <a:ext cx="3236976" cy="246888"/>
          </a:xfrm>
          <a:prstGeom prst="rect">
            <a:avLst/>
          </a:prstGeom>
          <a:noFill/>
        </p:spPr>
        <p:txBody>
          <a:bodyPr wrap="square" lIns="36576" rIns="36576" tIns="36576" bIns="36576" anchor="ctr">
            <a:spAutoFit/>
          </a:bodyPr>
          <a:lstStyle/>
          <a:p>
            <a:pPr algn="l">
              <a:lnSpc>
                <a:spcPct val="100000"/>
              </a:lnSpc>
              <a:defRPr sz="950" b="1">
                <a:solidFill>
                  <a:srgbClr val="059669"/>
                </a:solidFill>
                <a:latin typeface="Inter"/>
              </a:defRPr>
            </a:pPr>
            <a:r>
              <a:t>+4 dB: EASY CLASSES SATURATE</a:t>
            </a:r>
          </a:p>
        </p:txBody>
      </p:sp>
      <p:sp>
        <p:nvSpPr>
          <p:cNvPr id="17" name="TextBox 16"/>
          <p:cNvSpPr txBox="1"/>
          <p:nvPr/>
        </p:nvSpPr>
        <p:spPr>
          <a:xfrm>
            <a:off x="4471416" y="5468112"/>
            <a:ext cx="3236976" cy="320040"/>
          </a:xfrm>
          <a:prstGeom prst="rect">
            <a:avLst/>
          </a:prstGeom>
          <a:noFill/>
        </p:spPr>
        <p:txBody>
          <a:bodyPr wrap="square" lIns="36576" rIns="36576" tIns="36576" bIns="36576" anchor="ctr">
            <a:spAutoFit/>
          </a:bodyPr>
          <a:lstStyle/>
          <a:p>
            <a:pPr algn="ctr">
              <a:lnSpc>
                <a:spcPct val="100000"/>
              </a:lnSpc>
              <a:defRPr sz="1050" b="1">
                <a:solidFill>
                  <a:srgbClr val="0F172A"/>
                </a:solidFill>
                <a:latin typeface="Inter"/>
              </a:defRPr>
            </a:pPr>
            <a:r>
              <a:t>BPSK, PAM4, CPFSK, GFSK reach 100%</a:t>
            </a:r>
          </a:p>
        </p:txBody>
      </p:sp>
      <p:sp>
        <p:nvSpPr>
          <p:cNvPr id="18" name="Rounded Rectangle 17"/>
          <p:cNvSpPr/>
          <p:nvPr/>
        </p:nvSpPr>
        <p:spPr>
          <a:xfrm>
            <a:off x="8110728" y="5047488"/>
            <a:ext cx="3639312" cy="93268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8" y="5047488"/>
            <a:ext cx="73152" cy="932688"/>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5157216"/>
            <a:ext cx="3236976" cy="246888"/>
          </a:xfrm>
          <a:prstGeom prst="rect">
            <a:avLst/>
          </a:prstGeom>
          <a:noFill/>
        </p:spPr>
        <p:txBody>
          <a:bodyPr wrap="square" lIns="36576" rIns="36576" tIns="36576" bIns="36576" anchor="ctr">
            <a:spAutoFit/>
          </a:bodyPr>
          <a:lstStyle/>
          <a:p>
            <a:pPr algn="l">
              <a:lnSpc>
                <a:spcPct val="100000"/>
              </a:lnSpc>
              <a:defRPr sz="950" b="1">
                <a:solidFill>
                  <a:srgbClr val="D97706"/>
                </a:solidFill>
                <a:latin typeface="Inter"/>
              </a:defRPr>
            </a:pPr>
            <a:r>
              <a:t>TRADE-OFF REMAINS</a:t>
            </a:r>
          </a:p>
        </p:txBody>
      </p:sp>
      <p:sp>
        <p:nvSpPr>
          <p:cNvPr id="21" name="TextBox 20"/>
          <p:cNvSpPr txBox="1"/>
          <p:nvPr/>
        </p:nvSpPr>
        <p:spPr>
          <a:xfrm>
            <a:off x="8311896" y="5468112"/>
            <a:ext cx="3236976" cy="320040"/>
          </a:xfrm>
          <a:prstGeom prst="rect">
            <a:avLst/>
          </a:prstGeom>
          <a:noFill/>
        </p:spPr>
        <p:txBody>
          <a:bodyPr wrap="square" lIns="36576" rIns="36576" tIns="36576" bIns="36576" anchor="ctr">
            <a:spAutoFit/>
          </a:bodyPr>
          <a:lstStyle/>
          <a:p>
            <a:pPr algn="ctr">
              <a:lnSpc>
                <a:spcPct val="100000"/>
              </a:lnSpc>
              <a:defRPr sz="1050" b="1">
                <a:solidFill>
                  <a:srgbClr val="0F172A"/>
                </a:solidFill>
                <a:latin typeface="Inter"/>
              </a:defRPr>
            </a:pPr>
            <a:r>
              <a:t>QPSK 58→72, but 8PSK 44→34 and 64QAM 52→42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07 · DEMO</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Interactive model comparison</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Fixed checkpoint, reproducible burst and controllable constant phase offset</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11 of 12</a:t>
            </a:r>
          </a:p>
        </p:txBody>
      </p:sp>
      <p:sp>
        <p:nvSpPr>
          <p:cNvPr id="8" name="Rounded Rectangle 7"/>
          <p:cNvSpPr/>
          <p:nvPr/>
        </p:nvSpPr>
        <p:spPr>
          <a:xfrm>
            <a:off x="685800" y="1664208"/>
            <a:ext cx="6629400" cy="432511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64208"/>
            <a:ext cx="6629400" cy="420624"/>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68680" y="1801368"/>
            <a:ext cx="109728" cy="109728"/>
          </a:xfrm>
          <a:prstGeom prst="ellipse">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8992" y="1801368"/>
            <a:ext cx="109728" cy="109728"/>
          </a:xfrm>
          <a:prstGeom prst="ellipse">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9304" y="1801368"/>
            <a:ext cx="109728" cy="109728"/>
          </a:xfrm>
          <a:prstGeom prst="ellipse">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5920" y="1719072"/>
            <a:ext cx="2286000" cy="256032"/>
          </a:xfrm>
          <a:prstGeom prst="rect">
            <a:avLst/>
          </a:prstGeom>
          <a:noFill/>
        </p:spPr>
        <p:txBody>
          <a:bodyPr wrap="square" lIns="36576" rIns="36576" tIns="36576" bIns="36576" anchor="ctr">
            <a:spAutoFit/>
          </a:bodyPr>
          <a:lstStyle/>
          <a:p>
            <a:pPr algn="l">
              <a:lnSpc>
                <a:spcPct val="100000"/>
              </a:lnSpc>
              <a:defRPr sz="1000" b="1">
                <a:solidFill>
                  <a:srgbClr val="FFFFFF"/>
                </a:solidFill>
                <a:latin typeface="Inter"/>
              </a:defRPr>
            </a:pPr>
            <a:r>
              <a:t>Low-SNR AMC Explorer</a:t>
            </a:r>
          </a:p>
        </p:txBody>
      </p:sp>
      <p:sp>
        <p:nvSpPr>
          <p:cNvPr id="14" name="TextBox 13"/>
          <p:cNvSpPr txBox="1"/>
          <p:nvPr/>
        </p:nvSpPr>
        <p:spPr>
          <a:xfrm>
            <a:off x="932688" y="2331720"/>
            <a:ext cx="1417320" cy="274320"/>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Training seed</a:t>
            </a:r>
          </a:p>
        </p:txBody>
      </p:sp>
      <p:sp>
        <p:nvSpPr>
          <p:cNvPr id="15" name="Rounded Rectangle 14"/>
          <p:cNvSpPr/>
          <p:nvPr/>
        </p:nvSpPr>
        <p:spPr>
          <a:xfrm>
            <a:off x="2395728" y="2313432"/>
            <a:ext cx="1536192" cy="3474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87168" y="2313432"/>
            <a:ext cx="1353312" cy="347472"/>
          </a:xfrm>
          <a:prstGeom prst="rect">
            <a:avLst/>
          </a:prstGeom>
          <a:noFill/>
        </p:spPr>
        <p:txBody>
          <a:bodyPr wrap="square" lIns="36576" rIns="36576" tIns="36576" bIns="36576" anchor="ctr">
            <a:spAutoFit/>
          </a:bodyPr>
          <a:lstStyle/>
          <a:p>
            <a:pPr algn="l">
              <a:lnSpc>
                <a:spcPct val="100000"/>
              </a:lnSpc>
              <a:defRPr sz="1000" b="1">
                <a:solidFill>
                  <a:srgbClr val="0F172A"/>
                </a:solidFill>
                <a:latin typeface="Inter"/>
              </a:defRPr>
            </a:pPr>
            <a:r>
              <a:t>42</a:t>
            </a:r>
          </a:p>
        </p:txBody>
      </p:sp>
      <p:sp>
        <p:nvSpPr>
          <p:cNvPr id="17" name="TextBox 16"/>
          <p:cNvSpPr txBox="1"/>
          <p:nvPr/>
        </p:nvSpPr>
        <p:spPr>
          <a:xfrm>
            <a:off x="932688" y="2898648"/>
            <a:ext cx="1417320" cy="274320"/>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Configuration</a:t>
            </a:r>
          </a:p>
        </p:txBody>
      </p:sp>
      <p:sp>
        <p:nvSpPr>
          <p:cNvPr id="18" name="Rounded Rectangle 17"/>
          <p:cNvSpPr/>
          <p:nvPr/>
        </p:nvSpPr>
        <p:spPr>
          <a:xfrm>
            <a:off x="2395728" y="2880360"/>
            <a:ext cx="1536192" cy="3474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87168" y="2880360"/>
            <a:ext cx="1353312" cy="347472"/>
          </a:xfrm>
          <a:prstGeom prst="rect">
            <a:avLst/>
          </a:prstGeom>
          <a:noFill/>
        </p:spPr>
        <p:txBody>
          <a:bodyPr wrap="square" lIns="36576" rIns="36576" tIns="36576" bIns="36576" anchor="ctr">
            <a:spAutoFit/>
          </a:bodyPr>
          <a:lstStyle/>
          <a:p>
            <a:pPr algn="l">
              <a:lnSpc>
                <a:spcPct val="100000"/>
              </a:lnSpc>
              <a:defRPr sz="1000" b="1">
                <a:solidFill>
                  <a:srgbClr val="0F172A"/>
                </a:solidFill>
                <a:latin typeface="Inter"/>
              </a:defRPr>
            </a:pPr>
            <a:r>
              <a:t>phase_only</a:t>
            </a:r>
          </a:p>
        </p:txBody>
      </p:sp>
      <p:sp>
        <p:nvSpPr>
          <p:cNvPr id="20" name="TextBox 19"/>
          <p:cNvSpPr txBox="1"/>
          <p:nvPr/>
        </p:nvSpPr>
        <p:spPr>
          <a:xfrm>
            <a:off x="932688" y="3465576"/>
            <a:ext cx="1417320" cy="274320"/>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Modulation</a:t>
            </a:r>
          </a:p>
        </p:txBody>
      </p:sp>
      <p:sp>
        <p:nvSpPr>
          <p:cNvPr id="21" name="Rounded Rectangle 20"/>
          <p:cNvSpPr/>
          <p:nvPr/>
        </p:nvSpPr>
        <p:spPr>
          <a:xfrm>
            <a:off x="2395728" y="3447288"/>
            <a:ext cx="1536192" cy="3474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87168" y="3447288"/>
            <a:ext cx="1353312" cy="347472"/>
          </a:xfrm>
          <a:prstGeom prst="rect">
            <a:avLst/>
          </a:prstGeom>
          <a:noFill/>
        </p:spPr>
        <p:txBody>
          <a:bodyPr wrap="square" lIns="36576" rIns="36576" tIns="36576" bIns="36576" anchor="ctr">
            <a:spAutoFit/>
          </a:bodyPr>
          <a:lstStyle/>
          <a:p>
            <a:pPr algn="l">
              <a:lnSpc>
                <a:spcPct val="100000"/>
              </a:lnSpc>
              <a:defRPr sz="1000" b="1">
                <a:solidFill>
                  <a:srgbClr val="0F172A"/>
                </a:solidFill>
                <a:latin typeface="Inter"/>
              </a:defRPr>
            </a:pPr>
            <a:r>
              <a:t>16QAM</a:t>
            </a:r>
          </a:p>
        </p:txBody>
      </p:sp>
      <p:sp>
        <p:nvSpPr>
          <p:cNvPr id="23" name="TextBox 22"/>
          <p:cNvSpPr txBox="1"/>
          <p:nvPr/>
        </p:nvSpPr>
        <p:spPr>
          <a:xfrm>
            <a:off x="932688" y="4032504"/>
            <a:ext cx="1417320" cy="274320"/>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SNR</a:t>
            </a:r>
          </a:p>
        </p:txBody>
      </p:sp>
      <p:sp>
        <p:nvSpPr>
          <p:cNvPr id="24" name="Rounded Rectangle 23"/>
          <p:cNvSpPr/>
          <p:nvPr/>
        </p:nvSpPr>
        <p:spPr>
          <a:xfrm>
            <a:off x="2395728" y="4014216"/>
            <a:ext cx="1536192" cy="3474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87168" y="4014216"/>
            <a:ext cx="1353312" cy="347472"/>
          </a:xfrm>
          <a:prstGeom prst="rect">
            <a:avLst/>
          </a:prstGeom>
          <a:noFill/>
        </p:spPr>
        <p:txBody>
          <a:bodyPr wrap="square" lIns="36576" rIns="36576" tIns="36576" bIns="36576" anchor="ctr">
            <a:spAutoFit/>
          </a:bodyPr>
          <a:lstStyle/>
          <a:p>
            <a:pPr algn="l">
              <a:lnSpc>
                <a:spcPct val="100000"/>
              </a:lnSpc>
              <a:defRPr sz="1000" b="1">
                <a:solidFill>
                  <a:srgbClr val="0F172A"/>
                </a:solidFill>
                <a:latin typeface="Inter"/>
              </a:defRPr>
            </a:pPr>
            <a:r>
              <a:t>−4 dB</a:t>
            </a:r>
          </a:p>
        </p:txBody>
      </p:sp>
      <p:sp>
        <p:nvSpPr>
          <p:cNvPr id="26" name="TextBox 25"/>
          <p:cNvSpPr txBox="1"/>
          <p:nvPr/>
        </p:nvSpPr>
        <p:spPr>
          <a:xfrm>
            <a:off x="932688" y="4599431"/>
            <a:ext cx="1417320" cy="274320"/>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Phase offset</a:t>
            </a:r>
          </a:p>
        </p:txBody>
      </p:sp>
      <p:sp>
        <p:nvSpPr>
          <p:cNvPr id="27" name="Rounded Rectangle 26"/>
          <p:cNvSpPr/>
          <p:nvPr/>
        </p:nvSpPr>
        <p:spPr>
          <a:xfrm>
            <a:off x="2395728" y="4581144"/>
            <a:ext cx="1536192" cy="3474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87168" y="4581144"/>
            <a:ext cx="1353312" cy="347472"/>
          </a:xfrm>
          <a:prstGeom prst="rect">
            <a:avLst/>
          </a:prstGeom>
          <a:noFill/>
        </p:spPr>
        <p:txBody>
          <a:bodyPr wrap="square" lIns="36576" rIns="36576" tIns="36576" bIns="36576" anchor="ctr">
            <a:spAutoFit/>
          </a:bodyPr>
          <a:lstStyle/>
          <a:p>
            <a:pPr algn="l">
              <a:lnSpc>
                <a:spcPct val="100000"/>
              </a:lnSpc>
              <a:defRPr sz="1000" b="1">
                <a:solidFill>
                  <a:srgbClr val="0F172A"/>
                </a:solidFill>
                <a:latin typeface="Inter"/>
              </a:defRPr>
            </a:pPr>
            <a:r>
              <a:t>90°</a:t>
            </a:r>
          </a:p>
        </p:txBody>
      </p:sp>
      <p:sp>
        <p:nvSpPr>
          <p:cNvPr id="29" name="Rounded Rectangle 28"/>
          <p:cNvSpPr/>
          <p:nvPr/>
        </p:nvSpPr>
        <p:spPr>
          <a:xfrm>
            <a:off x="4297680" y="2331720"/>
            <a:ext cx="2560320" cy="10789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98848" y="2487168"/>
            <a:ext cx="1005840" cy="228600"/>
          </a:xfrm>
          <a:prstGeom prst="rect">
            <a:avLst/>
          </a:prstGeom>
          <a:noFill/>
        </p:spPr>
        <p:txBody>
          <a:bodyPr wrap="square" lIns="36576" rIns="36576" tIns="36576" bIns="36576" anchor="ctr">
            <a:spAutoFit/>
          </a:bodyPr>
          <a:lstStyle/>
          <a:p>
            <a:pPr algn="l">
              <a:lnSpc>
                <a:spcPct val="100000"/>
              </a:lnSpc>
              <a:defRPr sz="900" b="1">
                <a:solidFill>
                  <a:srgbClr val="64748B"/>
                </a:solidFill>
                <a:latin typeface="Inter"/>
              </a:defRPr>
            </a:pPr>
            <a:r>
              <a:t>BASELINE</a:t>
            </a:r>
          </a:p>
        </p:txBody>
      </p:sp>
      <p:sp>
        <p:nvSpPr>
          <p:cNvPr id="31" name="TextBox 30"/>
          <p:cNvSpPr txBox="1"/>
          <p:nvPr/>
        </p:nvSpPr>
        <p:spPr>
          <a:xfrm>
            <a:off x="4498848" y="2770632"/>
            <a:ext cx="1920240" cy="320040"/>
          </a:xfrm>
          <a:prstGeom prst="rect">
            <a:avLst/>
          </a:prstGeom>
          <a:noFill/>
        </p:spPr>
        <p:txBody>
          <a:bodyPr wrap="square" lIns="36576" rIns="36576" tIns="36576" bIns="36576" anchor="ctr">
            <a:spAutoFit/>
          </a:bodyPr>
          <a:lstStyle/>
          <a:p>
            <a:pPr algn="l">
              <a:lnSpc>
                <a:spcPct val="100000"/>
              </a:lnSpc>
              <a:defRPr sz="1800" b="1">
                <a:solidFill>
                  <a:srgbClr val="334155"/>
                </a:solidFill>
                <a:latin typeface="Manrope"/>
              </a:defRPr>
            </a:pPr>
            <a:r>
              <a:t>64QAM</a:t>
            </a:r>
          </a:p>
        </p:txBody>
      </p:sp>
      <p:sp>
        <p:nvSpPr>
          <p:cNvPr id="32" name="Rounded Rectangle 31"/>
          <p:cNvSpPr/>
          <p:nvPr/>
        </p:nvSpPr>
        <p:spPr>
          <a:xfrm>
            <a:off x="4297680" y="3611880"/>
            <a:ext cx="2560320" cy="1078992"/>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8848" y="3767328"/>
            <a:ext cx="1280160" cy="228600"/>
          </a:xfrm>
          <a:prstGeom prst="rect">
            <a:avLst/>
          </a:prstGeom>
          <a:noFill/>
        </p:spPr>
        <p:txBody>
          <a:bodyPr wrap="square" lIns="36576" rIns="36576" tIns="36576" bIns="36576" anchor="ctr">
            <a:spAutoFit/>
          </a:bodyPr>
          <a:lstStyle/>
          <a:p>
            <a:pPr algn="l">
              <a:lnSpc>
                <a:spcPct val="100000"/>
              </a:lnSpc>
              <a:defRPr sz="900" b="1">
                <a:solidFill>
                  <a:srgbClr val="0284C7"/>
                </a:solidFill>
                <a:latin typeface="Inter"/>
              </a:defRPr>
            </a:pPr>
            <a:r>
              <a:t>PHASE-ONLY</a:t>
            </a:r>
          </a:p>
        </p:txBody>
      </p:sp>
      <p:sp>
        <p:nvSpPr>
          <p:cNvPr id="34" name="TextBox 33"/>
          <p:cNvSpPr txBox="1"/>
          <p:nvPr/>
        </p:nvSpPr>
        <p:spPr>
          <a:xfrm>
            <a:off x="4498848" y="4050791"/>
            <a:ext cx="1920240" cy="320040"/>
          </a:xfrm>
          <a:prstGeom prst="rect">
            <a:avLst/>
          </a:prstGeom>
          <a:noFill/>
        </p:spPr>
        <p:txBody>
          <a:bodyPr wrap="square" lIns="36576" rIns="36576" tIns="36576" bIns="36576" anchor="ctr">
            <a:spAutoFit/>
          </a:bodyPr>
          <a:lstStyle/>
          <a:p>
            <a:pPr algn="l">
              <a:lnSpc>
                <a:spcPct val="100000"/>
              </a:lnSpc>
              <a:defRPr sz="1800" b="1">
                <a:solidFill>
                  <a:srgbClr val="0284C7"/>
                </a:solidFill>
                <a:latin typeface="Manrope"/>
              </a:defRPr>
            </a:pPr>
            <a:r>
              <a:t>16QAM</a:t>
            </a:r>
          </a:p>
        </p:txBody>
      </p:sp>
      <p:sp>
        <p:nvSpPr>
          <p:cNvPr id="35" name="TextBox 34"/>
          <p:cNvSpPr txBox="1"/>
          <p:nvPr/>
        </p:nvSpPr>
        <p:spPr>
          <a:xfrm>
            <a:off x="4434840" y="5029200"/>
            <a:ext cx="2267712" cy="320040"/>
          </a:xfrm>
          <a:prstGeom prst="rect">
            <a:avLst/>
          </a:prstGeom>
          <a:noFill/>
        </p:spPr>
        <p:txBody>
          <a:bodyPr wrap="square" lIns="36576" rIns="36576" tIns="36576" bIns="36576" anchor="ctr">
            <a:spAutoFit/>
          </a:bodyPr>
          <a:lstStyle/>
          <a:p>
            <a:pPr algn="ctr">
              <a:lnSpc>
                <a:spcPct val="100000"/>
              </a:lnSpc>
              <a:defRPr sz="900" b="1">
                <a:solidFill>
                  <a:srgbClr val="DC2626"/>
                </a:solidFill>
                <a:latin typeface="Inter"/>
              </a:defRPr>
            </a:pPr>
            <a:r>
              <a:t>Illustrative burst — not benchmark evidence</a:t>
            </a:r>
          </a:p>
        </p:txBody>
      </p:sp>
      <p:sp>
        <p:nvSpPr>
          <p:cNvPr id="36" name="Oval 35"/>
          <p:cNvSpPr/>
          <p:nvPr/>
        </p:nvSpPr>
        <p:spPr>
          <a:xfrm>
            <a:off x="7818120" y="1828800"/>
            <a:ext cx="411480" cy="411480"/>
          </a:xfrm>
          <a:prstGeom prst="ellipse">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18120" y="1828800"/>
            <a:ext cx="411480" cy="411480"/>
          </a:xfrm>
          <a:prstGeom prst="rect">
            <a:avLst/>
          </a:prstGeom>
          <a:noFill/>
        </p:spPr>
        <p:txBody>
          <a:bodyPr wrap="square" lIns="36576" rIns="36576" tIns="36576" bIns="36576" anchor="ctr">
            <a:spAutoFit/>
          </a:bodyPr>
          <a:lstStyle/>
          <a:p>
            <a:pPr algn="ctr">
              <a:lnSpc>
                <a:spcPct val="100000"/>
              </a:lnSpc>
              <a:defRPr sz="1000" b="1">
                <a:solidFill>
                  <a:srgbClr val="FFFFFF"/>
                </a:solidFill>
                <a:latin typeface="Inter"/>
              </a:defRPr>
            </a:pPr>
            <a:r>
              <a:t>1</a:t>
            </a:r>
          </a:p>
        </p:txBody>
      </p:sp>
      <p:sp>
        <p:nvSpPr>
          <p:cNvPr id="38" name="TextBox 37"/>
          <p:cNvSpPr txBox="1"/>
          <p:nvPr/>
        </p:nvSpPr>
        <p:spPr>
          <a:xfrm>
            <a:off x="8439912" y="1828800"/>
            <a:ext cx="2743200" cy="411480"/>
          </a:xfrm>
          <a:prstGeom prst="rect">
            <a:avLst/>
          </a:prstGeom>
          <a:noFill/>
        </p:spPr>
        <p:txBody>
          <a:bodyPr wrap="square" lIns="36576" rIns="36576" tIns="36576" bIns="36576" anchor="ctr">
            <a:spAutoFit/>
          </a:bodyPr>
          <a:lstStyle/>
          <a:p>
            <a:pPr algn="l">
              <a:lnSpc>
                <a:spcPct val="100000"/>
              </a:lnSpc>
              <a:defRPr sz="1300" b="1">
                <a:solidFill>
                  <a:srgbClr val="0F172A"/>
                </a:solidFill>
                <a:latin typeface="Inter"/>
              </a:defRPr>
            </a:pPr>
            <a:r>
              <a:t>Seed 42 + phase_only</a:t>
            </a:r>
          </a:p>
        </p:txBody>
      </p:sp>
      <p:sp>
        <p:nvSpPr>
          <p:cNvPr id="39" name="Oval 38"/>
          <p:cNvSpPr/>
          <p:nvPr/>
        </p:nvSpPr>
        <p:spPr>
          <a:xfrm>
            <a:off x="7818120" y="2615184"/>
            <a:ext cx="411480" cy="411480"/>
          </a:xfrm>
          <a:prstGeom prst="ellipse">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18120" y="2615184"/>
            <a:ext cx="411480" cy="411480"/>
          </a:xfrm>
          <a:prstGeom prst="rect">
            <a:avLst/>
          </a:prstGeom>
          <a:noFill/>
        </p:spPr>
        <p:txBody>
          <a:bodyPr wrap="square" lIns="36576" rIns="36576" tIns="36576" bIns="36576" anchor="ctr">
            <a:spAutoFit/>
          </a:bodyPr>
          <a:lstStyle/>
          <a:p>
            <a:pPr algn="ctr">
              <a:lnSpc>
                <a:spcPct val="100000"/>
              </a:lnSpc>
              <a:defRPr sz="1000" b="1">
                <a:solidFill>
                  <a:srgbClr val="FFFFFF"/>
                </a:solidFill>
                <a:latin typeface="Inter"/>
              </a:defRPr>
            </a:pPr>
            <a:r>
              <a:t>2</a:t>
            </a:r>
          </a:p>
        </p:txBody>
      </p:sp>
      <p:sp>
        <p:nvSpPr>
          <p:cNvPr id="41" name="TextBox 40"/>
          <p:cNvSpPr txBox="1"/>
          <p:nvPr/>
        </p:nvSpPr>
        <p:spPr>
          <a:xfrm>
            <a:off x="8439912" y="2615184"/>
            <a:ext cx="2743200" cy="411480"/>
          </a:xfrm>
          <a:prstGeom prst="rect">
            <a:avLst/>
          </a:prstGeom>
          <a:noFill/>
        </p:spPr>
        <p:txBody>
          <a:bodyPr wrap="square" lIns="36576" rIns="36576" tIns="36576" bIns="36576" anchor="ctr">
            <a:spAutoFit/>
          </a:bodyPr>
          <a:lstStyle/>
          <a:p>
            <a:pPr algn="l">
              <a:lnSpc>
                <a:spcPct val="100000"/>
              </a:lnSpc>
              <a:defRPr sz="1300" b="1">
                <a:solidFill>
                  <a:srgbClr val="0F172A"/>
                </a:solidFill>
                <a:latin typeface="Inter"/>
              </a:defRPr>
            </a:pPr>
            <a:r>
              <a:t>16QAM at −4 dB</a:t>
            </a:r>
          </a:p>
        </p:txBody>
      </p:sp>
      <p:sp>
        <p:nvSpPr>
          <p:cNvPr id="42" name="Oval 41"/>
          <p:cNvSpPr/>
          <p:nvPr/>
        </p:nvSpPr>
        <p:spPr>
          <a:xfrm>
            <a:off x="7818120" y="3401568"/>
            <a:ext cx="411480" cy="411480"/>
          </a:xfrm>
          <a:prstGeom prst="ellipse">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18120" y="3401568"/>
            <a:ext cx="411480" cy="411480"/>
          </a:xfrm>
          <a:prstGeom prst="rect">
            <a:avLst/>
          </a:prstGeom>
          <a:noFill/>
        </p:spPr>
        <p:txBody>
          <a:bodyPr wrap="square" lIns="36576" rIns="36576" tIns="36576" bIns="36576" anchor="ctr">
            <a:spAutoFit/>
          </a:bodyPr>
          <a:lstStyle/>
          <a:p>
            <a:pPr algn="ctr">
              <a:lnSpc>
                <a:spcPct val="100000"/>
              </a:lnSpc>
              <a:defRPr sz="1000" b="1">
                <a:solidFill>
                  <a:srgbClr val="FFFFFF"/>
                </a:solidFill>
                <a:latin typeface="Inter"/>
              </a:defRPr>
            </a:pPr>
            <a:r>
              <a:t>3</a:t>
            </a:r>
          </a:p>
        </p:txBody>
      </p:sp>
      <p:sp>
        <p:nvSpPr>
          <p:cNvPr id="44" name="TextBox 43"/>
          <p:cNvSpPr txBox="1"/>
          <p:nvPr/>
        </p:nvSpPr>
        <p:spPr>
          <a:xfrm>
            <a:off x="8439912" y="3401568"/>
            <a:ext cx="2743200" cy="411480"/>
          </a:xfrm>
          <a:prstGeom prst="rect">
            <a:avLst/>
          </a:prstGeom>
          <a:noFill/>
        </p:spPr>
        <p:txBody>
          <a:bodyPr wrap="square" lIns="36576" rIns="36576" tIns="36576" bIns="36576" anchor="ctr">
            <a:spAutoFit/>
          </a:bodyPr>
          <a:lstStyle/>
          <a:p>
            <a:pPr algn="l">
              <a:lnSpc>
                <a:spcPct val="100000"/>
              </a:lnSpc>
              <a:defRPr sz="1300" b="1">
                <a:solidFill>
                  <a:srgbClr val="0F172A"/>
                </a:solidFill>
                <a:latin typeface="Inter"/>
              </a:defRPr>
            </a:pPr>
            <a:r>
              <a:t>Rotate 0° → 90°</a:t>
            </a:r>
          </a:p>
        </p:txBody>
      </p:sp>
      <p:sp>
        <p:nvSpPr>
          <p:cNvPr id="45" name="Oval 44"/>
          <p:cNvSpPr/>
          <p:nvPr/>
        </p:nvSpPr>
        <p:spPr>
          <a:xfrm>
            <a:off x="7818120" y="4187952"/>
            <a:ext cx="411480" cy="411480"/>
          </a:xfrm>
          <a:prstGeom prst="ellipse">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18120" y="4187952"/>
            <a:ext cx="411480" cy="411480"/>
          </a:xfrm>
          <a:prstGeom prst="rect">
            <a:avLst/>
          </a:prstGeom>
          <a:noFill/>
        </p:spPr>
        <p:txBody>
          <a:bodyPr wrap="square" lIns="36576" rIns="36576" tIns="36576" bIns="36576" anchor="ctr">
            <a:spAutoFit/>
          </a:bodyPr>
          <a:lstStyle/>
          <a:p>
            <a:pPr algn="ctr">
              <a:lnSpc>
                <a:spcPct val="100000"/>
              </a:lnSpc>
              <a:defRPr sz="1000" b="1">
                <a:solidFill>
                  <a:srgbClr val="FFFFFF"/>
                </a:solidFill>
                <a:latin typeface="Inter"/>
              </a:defRPr>
            </a:pPr>
            <a:r>
              <a:t>4</a:t>
            </a:r>
          </a:p>
        </p:txBody>
      </p:sp>
      <p:sp>
        <p:nvSpPr>
          <p:cNvPr id="47" name="TextBox 46"/>
          <p:cNvSpPr txBox="1"/>
          <p:nvPr/>
        </p:nvSpPr>
        <p:spPr>
          <a:xfrm>
            <a:off x="8439912" y="4187952"/>
            <a:ext cx="2743200" cy="411480"/>
          </a:xfrm>
          <a:prstGeom prst="rect">
            <a:avLst/>
          </a:prstGeom>
          <a:noFill/>
        </p:spPr>
        <p:txBody>
          <a:bodyPr wrap="square" lIns="36576" rIns="36576" tIns="36576" bIns="36576" anchor="ctr">
            <a:spAutoFit/>
          </a:bodyPr>
          <a:lstStyle/>
          <a:p>
            <a:pPr algn="l">
              <a:lnSpc>
                <a:spcPct val="100000"/>
              </a:lnSpc>
              <a:defRPr sz="1300" b="1">
                <a:solidFill>
                  <a:srgbClr val="0F172A"/>
                </a:solidFill>
                <a:latin typeface="Inter"/>
              </a:defRPr>
            </a:pPr>
            <a:r>
              <a:t>Compare predictions</a:t>
            </a:r>
          </a:p>
        </p:txBody>
      </p:sp>
      <p:sp>
        <p:nvSpPr>
          <p:cNvPr id="48" name="Rounded Rectangle 47"/>
          <p:cNvSpPr/>
          <p:nvPr/>
        </p:nvSpPr>
        <p:spPr>
          <a:xfrm>
            <a:off x="7818120" y="5138928"/>
            <a:ext cx="3337560" cy="658368"/>
          </a:xfrm>
          <a:prstGeom prst="roundRect">
            <a:avLst/>
          </a:prstGeom>
          <a:solidFill>
            <a:srgbClr val="FFF7ED"/>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28431" y="5266944"/>
            <a:ext cx="2926080" cy="347472"/>
          </a:xfrm>
          <a:prstGeom prst="rect">
            <a:avLst/>
          </a:prstGeom>
          <a:noFill/>
        </p:spPr>
        <p:txBody>
          <a:bodyPr wrap="square" lIns="36576" rIns="36576" tIns="36576" bIns="36576" anchor="ctr">
            <a:spAutoFit/>
          </a:bodyPr>
          <a:lstStyle/>
          <a:p>
            <a:pPr algn="ctr">
              <a:lnSpc>
                <a:spcPct val="100000"/>
              </a:lnSpc>
              <a:defRPr sz="950" b="1">
                <a:solidFill>
                  <a:srgbClr val="D97706"/>
                </a:solidFill>
                <a:latin typeface="Inter"/>
              </a:defRPr>
            </a:pPr>
            <a:r>
              <a:t>Fail-safe: switch to 30–45 s video after 10 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08 · CONCLUSION</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A precise claim — and clear limits</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Validation-selected phase augmentation helps on this frozen synthetic benchmark</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Slide 12 of 12</a:t>
            </a:r>
          </a:p>
        </p:txBody>
      </p:sp>
      <p:sp>
        <p:nvSpPr>
          <p:cNvPr id="8" name="Rounded Rectangle 7"/>
          <p:cNvSpPr/>
          <p:nvPr/>
        </p:nvSpPr>
        <p:spPr>
          <a:xfrm>
            <a:off x="685800" y="1691640"/>
            <a:ext cx="5349240" cy="333756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65960"/>
            <a:ext cx="2743200" cy="274320"/>
          </a:xfrm>
          <a:prstGeom prst="rect">
            <a:avLst/>
          </a:prstGeom>
          <a:noFill/>
        </p:spPr>
        <p:txBody>
          <a:bodyPr wrap="square" lIns="36576" rIns="36576" tIns="36576" bIns="36576" anchor="ctr">
            <a:spAutoFit/>
          </a:bodyPr>
          <a:lstStyle/>
          <a:p>
            <a:pPr algn="l">
              <a:lnSpc>
                <a:spcPct val="100000"/>
              </a:lnSpc>
              <a:defRPr sz="1000" b="1">
                <a:solidFill>
                  <a:srgbClr val="059669"/>
                </a:solidFill>
                <a:latin typeface="Inter"/>
              </a:defRPr>
            </a:pPr>
            <a:r>
              <a:t>WHAT WE CAN CLAIM</a:t>
            </a:r>
          </a:p>
        </p:txBody>
      </p:sp>
      <p:sp>
        <p:nvSpPr>
          <p:cNvPr id="10" name="Oval 9"/>
          <p:cNvSpPr/>
          <p:nvPr/>
        </p:nvSpPr>
        <p:spPr>
          <a:xfrm>
            <a:off x="987552" y="2578608"/>
            <a:ext cx="182880" cy="182880"/>
          </a:xfrm>
          <a:prstGeom prst="ellipse">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478024"/>
            <a:ext cx="4160520" cy="36576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Leakage-free paired protocol</a:t>
            </a:r>
          </a:p>
        </p:txBody>
      </p:sp>
      <p:sp>
        <p:nvSpPr>
          <p:cNvPr id="12" name="Oval 11"/>
          <p:cNvSpPr/>
          <p:nvPr/>
        </p:nvSpPr>
        <p:spPr>
          <a:xfrm>
            <a:off x="987552" y="3108960"/>
            <a:ext cx="182880" cy="182880"/>
          </a:xfrm>
          <a:prstGeom prst="ellipse">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008376"/>
            <a:ext cx="4160520" cy="36576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Validation selected phase_only</a:t>
            </a:r>
          </a:p>
        </p:txBody>
      </p:sp>
      <p:sp>
        <p:nvSpPr>
          <p:cNvPr id="14" name="Oval 13"/>
          <p:cNvSpPr/>
          <p:nvPr/>
        </p:nvSpPr>
        <p:spPr>
          <a:xfrm>
            <a:off x="987552" y="3639311"/>
            <a:ext cx="182880" cy="182880"/>
          </a:xfrm>
          <a:prstGeom prst="ellipse">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3538728"/>
            <a:ext cx="4160520" cy="365760"/>
          </a:xfrm>
          <a:prstGeom prst="rect">
            <a:avLst/>
          </a:prstGeom>
          <a:noFill/>
        </p:spPr>
        <p:txBody>
          <a:bodyPr wrap="square" lIns="36576" rIns="36576" tIns="36576" bIns="36576" anchor="ctr">
            <a:spAutoFit/>
          </a:bodyPr>
          <a:lstStyle/>
          <a:p>
            <a:pPr algn="l">
              <a:lnSpc>
                <a:spcPct val="100000"/>
              </a:lnSpc>
              <a:defRPr sz="1200" b="1">
                <a:solidFill>
                  <a:srgbClr val="0F172A"/>
                </a:solidFill>
                <a:latin typeface="Inter"/>
              </a:defRPr>
            </a:pPr>
            <a:r>
              <a:t>+4.72 pp low-SNR accuracy</a:t>
            </a:r>
          </a:p>
        </p:txBody>
      </p:sp>
      <p:sp>
        <p:nvSpPr>
          <p:cNvPr id="16" name="Oval 15"/>
          <p:cNvSpPr/>
          <p:nvPr/>
        </p:nvSpPr>
        <p:spPr>
          <a:xfrm>
            <a:off x="987552" y="4169663"/>
            <a:ext cx="182880" cy="182880"/>
          </a:xfrm>
          <a:prstGeom prst="ellipse">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4069079"/>
            <a:ext cx="4160520" cy="36576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Positive global gain in all 5 seeds</a:t>
            </a:r>
          </a:p>
        </p:txBody>
      </p:sp>
      <p:sp>
        <p:nvSpPr>
          <p:cNvPr id="18" name="Rounded Rectangle 17"/>
          <p:cNvSpPr/>
          <p:nvPr/>
        </p:nvSpPr>
        <p:spPr>
          <a:xfrm>
            <a:off x="6263640" y="1691640"/>
            <a:ext cx="5257800" cy="3337560"/>
          </a:xfrm>
          <a:prstGeom prst="roundRect">
            <a:avLst/>
          </a:prstGeom>
          <a:solidFill>
            <a:srgbClr val="FFF7ED"/>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1965960"/>
            <a:ext cx="2926080" cy="274320"/>
          </a:xfrm>
          <a:prstGeom prst="rect">
            <a:avLst/>
          </a:prstGeom>
          <a:noFill/>
        </p:spPr>
        <p:txBody>
          <a:bodyPr wrap="square" lIns="36576" rIns="36576" tIns="36576" bIns="36576" anchor="ctr">
            <a:spAutoFit/>
          </a:bodyPr>
          <a:lstStyle/>
          <a:p>
            <a:pPr algn="l">
              <a:lnSpc>
                <a:spcPct val="100000"/>
              </a:lnSpc>
              <a:defRPr sz="1000" b="1">
                <a:solidFill>
                  <a:srgbClr val="D97706"/>
                </a:solidFill>
                <a:latin typeface="Inter"/>
              </a:defRPr>
            </a:pPr>
            <a:r>
              <a:t>WHAT WE CANNOT CLAIM</a:t>
            </a:r>
          </a:p>
        </p:txBody>
      </p:sp>
      <p:sp>
        <p:nvSpPr>
          <p:cNvPr id="20" name="TextBox 19"/>
          <p:cNvSpPr txBox="1"/>
          <p:nvPr/>
        </p:nvSpPr>
        <p:spPr>
          <a:xfrm>
            <a:off x="6537960" y="2459736"/>
            <a:ext cx="256032" cy="365760"/>
          </a:xfrm>
          <a:prstGeom prst="rect">
            <a:avLst/>
          </a:prstGeom>
          <a:noFill/>
        </p:spPr>
        <p:txBody>
          <a:bodyPr wrap="square" lIns="36576" rIns="36576" tIns="36576" bIns="36576" anchor="ctr">
            <a:spAutoFit/>
          </a:bodyPr>
          <a:lstStyle/>
          <a:p>
            <a:pPr algn="ctr">
              <a:lnSpc>
                <a:spcPct val="100000"/>
              </a:lnSpc>
              <a:defRPr sz="1600" b="1">
                <a:solidFill>
                  <a:srgbClr val="DC2626"/>
                </a:solidFill>
                <a:latin typeface="Inter"/>
              </a:defRPr>
            </a:pPr>
            <a:r>
              <a:t>×</a:t>
            </a:r>
          </a:p>
        </p:txBody>
      </p:sp>
      <p:sp>
        <p:nvSpPr>
          <p:cNvPr id="21" name="TextBox 20"/>
          <p:cNvSpPr txBox="1"/>
          <p:nvPr/>
        </p:nvSpPr>
        <p:spPr>
          <a:xfrm>
            <a:off x="6931152" y="2478024"/>
            <a:ext cx="3977639" cy="36576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Resistance to CFO</a:t>
            </a:r>
          </a:p>
        </p:txBody>
      </p:sp>
      <p:sp>
        <p:nvSpPr>
          <p:cNvPr id="22" name="TextBox 21"/>
          <p:cNvSpPr txBox="1"/>
          <p:nvPr/>
        </p:nvSpPr>
        <p:spPr>
          <a:xfrm>
            <a:off x="6537960" y="2990088"/>
            <a:ext cx="256032" cy="365760"/>
          </a:xfrm>
          <a:prstGeom prst="rect">
            <a:avLst/>
          </a:prstGeom>
          <a:noFill/>
        </p:spPr>
        <p:txBody>
          <a:bodyPr wrap="square" lIns="36576" rIns="36576" tIns="36576" bIns="36576" anchor="ctr">
            <a:spAutoFit/>
          </a:bodyPr>
          <a:lstStyle/>
          <a:p>
            <a:pPr algn="ctr">
              <a:lnSpc>
                <a:spcPct val="100000"/>
              </a:lnSpc>
              <a:defRPr sz="1600" b="1">
                <a:solidFill>
                  <a:srgbClr val="DC2626"/>
                </a:solidFill>
                <a:latin typeface="Inter"/>
              </a:defRPr>
            </a:pPr>
            <a:r>
              <a:t>×</a:t>
            </a:r>
          </a:p>
        </p:txBody>
      </p:sp>
      <p:sp>
        <p:nvSpPr>
          <p:cNvPr id="23" name="TextBox 22"/>
          <p:cNvSpPr txBox="1"/>
          <p:nvPr/>
        </p:nvSpPr>
        <p:spPr>
          <a:xfrm>
            <a:off x="6931152" y="3008376"/>
            <a:ext cx="3977639" cy="36576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Robustness to fading / multipath</a:t>
            </a:r>
          </a:p>
        </p:txBody>
      </p:sp>
      <p:sp>
        <p:nvSpPr>
          <p:cNvPr id="24" name="TextBox 23"/>
          <p:cNvSpPr txBox="1"/>
          <p:nvPr/>
        </p:nvSpPr>
        <p:spPr>
          <a:xfrm>
            <a:off x="6537960" y="3520439"/>
            <a:ext cx="256032" cy="365760"/>
          </a:xfrm>
          <a:prstGeom prst="rect">
            <a:avLst/>
          </a:prstGeom>
          <a:noFill/>
        </p:spPr>
        <p:txBody>
          <a:bodyPr wrap="square" lIns="36576" rIns="36576" tIns="36576" bIns="36576" anchor="ctr">
            <a:spAutoFit/>
          </a:bodyPr>
          <a:lstStyle/>
          <a:p>
            <a:pPr algn="ctr">
              <a:lnSpc>
                <a:spcPct val="100000"/>
              </a:lnSpc>
              <a:defRPr sz="1600" b="1">
                <a:solidFill>
                  <a:srgbClr val="DC2626"/>
                </a:solidFill>
                <a:latin typeface="Inter"/>
              </a:defRPr>
            </a:pPr>
            <a:r>
              <a:t>×</a:t>
            </a:r>
          </a:p>
        </p:txBody>
      </p:sp>
      <p:sp>
        <p:nvSpPr>
          <p:cNvPr id="25" name="TextBox 24"/>
          <p:cNvSpPr txBox="1"/>
          <p:nvPr/>
        </p:nvSpPr>
        <p:spPr>
          <a:xfrm>
            <a:off x="6931152" y="3538728"/>
            <a:ext cx="3977639" cy="36576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Generalization to real RF hardware</a:t>
            </a:r>
          </a:p>
        </p:txBody>
      </p:sp>
      <p:sp>
        <p:nvSpPr>
          <p:cNvPr id="26" name="TextBox 25"/>
          <p:cNvSpPr txBox="1"/>
          <p:nvPr/>
        </p:nvSpPr>
        <p:spPr>
          <a:xfrm>
            <a:off x="6537960" y="4050791"/>
            <a:ext cx="256032" cy="365760"/>
          </a:xfrm>
          <a:prstGeom prst="rect">
            <a:avLst/>
          </a:prstGeom>
          <a:noFill/>
        </p:spPr>
        <p:txBody>
          <a:bodyPr wrap="square" lIns="36576" rIns="36576" tIns="36576" bIns="36576" anchor="ctr">
            <a:spAutoFit/>
          </a:bodyPr>
          <a:lstStyle/>
          <a:p>
            <a:pPr algn="ctr">
              <a:lnSpc>
                <a:spcPct val="100000"/>
              </a:lnSpc>
              <a:defRPr sz="1600" b="1">
                <a:solidFill>
                  <a:srgbClr val="DC2626"/>
                </a:solidFill>
                <a:latin typeface="Inter"/>
              </a:defRPr>
            </a:pPr>
            <a:r>
              <a:t>×</a:t>
            </a:r>
          </a:p>
        </p:txBody>
      </p:sp>
      <p:sp>
        <p:nvSpPr>
          <p:cNvPr id="27" name="TextBox 26"/>
          <p:cNvSpPr txBox="1"/>
          <p:nvPr/>
        </p:nvSpPr>
        <p:spPr>
          <a:xfrm>
            <a:off x="6931152" y="4069079"/>
            <a:ext cx="3977639" cy="36576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Stable SNR80 gain across seeds</a:t>
            </a:r>
          </a:p>
        </p:txBody>
      </p:sp>
      <p:sp>
        <p:nvSpPr>
          <p:cNvPr id="28" name="Rounded Rectangle 27"/>
          <p:cNvSpPr/>
          <p:nvPr/>
        </p:nvSpPr>
        <p:spPr>
          <a:xfrm>
            <a:off x="1143000" y="5376672"/>
            <a:ext cx="9921240" cy="59436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89888" y="5495544"/>
            <a:ext cx="9418320" cy="320040"/>
          </a:xfrm>
          <a:prstGeom prst="rect">
            <a:avLst/>
          </a:prstGeom>
          <a:noFill/>
        </p:spPr>
        <p:txBody>
          <a:bodyPr wrap="square" lIns="36576" rIns="36576" tIns="36576" bIns="36576" anchor="ctr">
            <a:spAutoFit/>
          </a:bodyPr>
          <a:lstStyle/>
          <a:p>
            <a:pPr algn="ctr">
              <a:lnSpc>
                <a:spcPct val="100000"/>
              </a:lnSpc>
              <a:defRPr sz="1200" b="1">
                <a:solidFill>
                  <a:srgbClr val="FFFFFF"/>
                </a:solidFill>
                <a:latin typeface="Inter"/>
              </a:defRPr>
            </a:pPr>
            <a:r>
              <a:t>NEXT: richer channels · multiple dataset seeds · over-the-air RF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APPENDIX A</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What do seeds 42–46 mean?</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Training variability, not five independent datasets</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Appendix A</a:t>
            </a:r>
          </a:p>
        </p:txBody>
      </p:sp>
      <p:sp>
        <p:nvSpPr>
          <p:cNvPr id="8" name="Rounded Rectangle 7"/>
          <p:cNvSpPr/>
          <p:nvPr/>
        </p:nvSpPr>
        <p:spPr>
          <a:xfrm>
            <a:off x="713232" y="1783080"/>
            <a:ext cx="5138928"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965960"/>
            <a:ext cx="196596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INITIALIZATION</a:t>
            </a:r>
          </a:p>
        </p:txBody>
      </p:sp>
      <p:sp>
        <p:nvSpPr>
          <p:cNvPr id="10" name="TextBox 9"/>
          <p:cNvSpPr txBox="1"/>
          <p:nvPr/>
        </p:nvSpPr>
        <p:spPr>
          <a:xfrm>
            <a:off x="941832" y="2322576"/>
            <a:ext cx="4617720" cy="41148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Controls model weight initialization.</a:t>
            </a:r>
          </a:p>
        </p:txBody>
      </p:sp>
      <p:sp>
        <p:nvSpPr>
          <p:cNvPr id="11" name="Rounded Rectangle 10"/>
          <p:cNvSpPr/>
          <p:nvPr/>
        </p:nvSpPr>
        <p:spPr>
          <a:xfrm>
            <a:off x="6291072" y="1783080"/>
            <a:ext cx="5138928"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1965960"/>
            <a:ext cx="196596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DROPOUT</a:t>
            </a:r>
          </a:p>
        </p:txBody>
      </p:sp>
      <p:sp>
        <p:nvSpPr>
          <p:cNvPr id="13" name="TextBox 12"/>
          <p:cNvSpPr txBox="1"/>
          <p:nvPr/>
        </p:nvSpPr>
        <p:spPr>
          <a:xfrm>
            <a:off x="6519672" y="2322576"/>
            <a:ext cx="4617720" cy="41148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Controls stochastic masking during training.</a:t>
            </a:r>
          </a:p>
        </p:txBody>
      </p:sp>
      <p:sp>
        <p:nvSpPr>
          <p:cNvPr id="14" name="Rounded Rectangle 13"/>
          <p:cNvSpPr/>
          <p:nvPr/>
        </p:nvSpPr>
        <p:spPr>
          <a:xfrm>
            <a:off x="713232" y="3383280"/>
            <a:ext cx="5138928"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566160"/>
            <a:ext cx="196596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SHUFFLE</a:t>
            </a:r>
          </a:p>
        </p:txBody>
      </p:sp>
      <p:sp>
        <p:nvSpPr>
          <p:cNvPr id="16" name="TextBox 15"/>
          <p:cNvSpPr txBox="1"/>
          <p:nvPr/>
        </p:nvSpPr>
        <p:spPr>
          <a:xfrm>
            <a:off x="941832" y="3922776"/>
            <a:ext cx="4617720" cy="41148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Controls mini-batch order.</a:t>
            </a:r>
          </a:p>
        </p:txBody>
      </p:sp>
      <p:sp>
        <p:nvSpPr>
          <p:cNvPr id="17" name="Rounded Rectangle 16"/>
          <p:cNvSpPr/>
          <p:nvPr/>
        </p:nvSpPr>
        <p:spPr>
          <a:xfrm>
            <a:off x="6291072" y="3383280"/>
            <a:ext cx="5138928"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3566160"/>
            <a:ext cx="196596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PAIRING</a:t>
            </a:r>
          </a:p>
        </p:txBody>
      </p:sp>
      <p:sp>
        <p:nvSpPr>
          <p:cNvPr id="19" name="TextBox 18"/>
          <p:cNvSpPr txBox="1"/>
          <p:nvPr/>
        </p:nvSpPr>
        <p:spPr>
          <a:xfrm>
            <a:off x="6519672" y="3922776"/>
            <a:ext cx="4617720" cy="411480"/>
          </a:xfrm>
          <a:prstGeom prst="rect">
            <a:avLst/>
          </a:prstGeom>
          <a:noFill/>
        </p:spPr>
        <p:txBody>
          <a:bodyPr wrap="square" lIns="36576" rIns="36576" tIns="36576" bIns="36576" anchor="ctr">
            <a:spAutoFit/>
          </a:bodyPr>
          <a:lstStyle/>
          <a:p>
            <a:pPr algn="l">
              <a:lnSpc>
                <a:spcPct val="100000"/>
              </a:lnSpc>
              <a:defRPr sz="1200" b="0">
                <a:solidFill>
                  <a:srgbClr val="0F172A"/>
                </a:solidFill>
                <a:latin typeface="Inter"/>
              </a:defRPr>
            </a:pPr>
            <a:r>
              <a:t>Baseline and augmentation share the same seed conditions.</a:t>
            </a:r>
          </a:p>
        </p:txBody>
      </p:sp>
      <p:sp>
        <p:nvSpPr>
          <p:cNvPr id="20" name="TextBox 19"/>
          <p:cNvSpPr txBox="1"/>
          <p:nvPr/>
        </p:nvSpPr>
        <p:spPr>
          <a:xfrm>
            <a:off x="1097280" y="5321808"/>
            <a:ext cx="9966960" cy="384048"/>
          </a:xfrm>
          <a:prstGeom prst="rect">
            <a:avLst/>
          </a:prstGeom>
          <a:noFill/>
        </p:spPr>
        <p:txBody>
          <a:bodyPr wrap="square" lIns="36576" rIns="36576" tIns="36576" bIns="36576" anchor="ctr">
            <a:spAutoFit/>
          </a:bodyPr>
          <a:lstStyle/>
          <a:p>
            <a:pPr algn="ctr">
              <a:lnSpc>
                <a:spcPct val="100000"/>
              </a:lnSpc>
              <a:defRPr sz="1400" b="1">
                <a:solidFill>
                  <a:srgbClr val="0F172A"/>
                </a:solidFill>
                <a:latin typeface="Inter"/>
              </a:defRPr>
            </a:pPr>
            <a:r>
              <a:t>Mean ± SD across seeds estimates training randomness on one frozen dataset.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APPENDIX B</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Constant phase offset is not CFO</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The project ablates only a burst-wide constant rotation</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Appendix B</a:t>
            </a:r>
          </a:p>
        </p:txBody>
      </p:sp>
      <p:sp>
        <p:nvSpPr>
          <p:cNvPr id="8" name="Rounded Rectangle 7"/>
          <p:cNvSpPr/>
          <p:nvPr/>
        </p:nvSpPr>
        <p:spPr>
          <a:xfrm>
            <a:off x="822960" y="1828800"/>
            <a:ext cx="4983480" cy="2468880"/>
          </a:xfrm>
          <a:prstGeom prst="roundRect">
            <a:avLst/>
          </a:prstGeom>
          <a:solidFill>
            <a:srgbClr val="F0F9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21408"/>
            <a:ext cx="3474720" cy="274320"/>
          </a:xfrm>
          <a:prstGeom prst="rect">
            <a:avLst/>
          </a:prstGeom>
          <a:noFill/>
        </p:spPr>
        <p:txBody>
          <a:bodyPr wrap="square" lIns="36576" rIns="36576" tIns="36576" bIns="36576" anchor="ctr">
            <a:spAutoFit/>
          </a:bodyPr>
          <a:lstStyle/>
          <a:p>
            <a:pPr algn="l">
              <a:lnSpc>
                <a:spcPct val="100000"/>
              </a:lnSpc>
              <a:defRPr sz="1100" b="1">
                <a:solidFill>
                  <a:srgbClr val="0284C7"/>
                </a:solidFill>
                <a:latin typeface="Inter"/>
              </a:defRPr>
            </a:pPr>
            <a:r>
              <a:t>CONSTANT PHASE OFFSET</a:t>
            </a:r>
          </a:p>
        </p:txBody>
      </p:sp>
      <p:sp>
        <p:nvSpPr>
          <p:cNvPr id="10" name="TextBox 9"/>
          <p:cNvSpPr txBox="1"/>
          <p:nvPr/>
        </p:nvSpPr>
        <p:spPr>
          <a:xfrm>
            <a:off x="1143000" y="2743200"/>
            <a:ext cx="4297680" cy="502920"/>
          </a:xfrm>
          <a:prstGeom prst="rect">
            <a:avLst/>
          </a:prstGeom>
          <a:noFill/>
        </p:spPr>
        <p:txBody>
          <a:bodyPr wrap="square" lIns="36576" rIns="36576" tIns="36576" bIns="36576" anchor="ctr">
            <a:spAutoFit/>
          </a:bodyPr>
          <a:lstStyle/>
          <a:p>
            <a:pPr algn="ctr">
              <a:lnSpc>
                <a:spcPct val="100000"/>
              </a:lnSpc>
              <a:defRPr sz="2400" b="1">
                <a:solidFill>
                  <a:srgbClr val="0F172A"/>
                </a:solidFill>
                <a:latin typeface="Consolas"/>
              </a:defRPr>
            </a:pPr>
            <a:r>
              <a:t>s′[n] = s[n]eʲᶿ</a:t>
            </a:r>
          </a:p>
        </p:txBody>
      </p:sp>
      <p:sp>
        <p:nvSpPr>
          <p:cNvPr id="11" name="TextBox 10"/>
          <p:cNvSpPr txBox="1"/>
          <p:nvPr/>
        </p:nvSpPr>
        <p:spPr>
          <a:xfrm>
            <a:off x="1143000" y="3584448"/>
            <a:ext cx="4297680" cy="320040"/>
          </a:xfrm>
          <a:prstGeom prst="rect">
            <a:avLst/>
          </a:prstGeom>
          <a:noFill/>
        </p:spPr>
        <p:txBody>
          <a:bodyPr wrap="square" lIns="36576" rIns="36576" tIns="36576" bIns="36576" anchor="ctr">
            <a:spAutoFit/>
          </a:bodyPr>
          <a:lstStyle/>
          <a:p>
            <a:pPr algn="ctr">
              <a:lnSpc>
                <a:spcPct val="100000"/>
              </a:lnSpc>
              <a:defRPr sz="1200" b="0">
                <a:solidFill>
                  <a:srgbClr val="475569"/>
                </a:solidFill>
                <a:latin typeface="Inter"/>
              </a:defRPr>
            </a:pPr>
            <a:r>
              <a:t>Same angle θ for the entire burst</a:t>
            </a:r>
          </a:p>
        </p:txBody>
      </p:sp>
      <p:sp>
        <p:nvSpPr>
          <p:cNvPr id="12" name="Rounded Rectangle 11"/>
          <p:cNvSpPr/>
          <p:nvPr/>
        </p:nvSpPr>
        <p:spPr>
          <a:xfrm>
            <a:off x="6355080" y="1828800"/>
            <a:ext cx="4983480" cy="2468880"/>
          </a:xfrm>
          <a:prstGeom prst="roundRect">
            <a:avLst/>
          </a:prstGeom>
          <a:solidFill>
            <a:srgbClr val="FFF7ED"/>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2121408"/>
            <a:ext cx="3840480" cy="274320"/>
          </a:xfrm>
          <a:prstGeom prst="rect">
            <a:avLst/>
          </a:prstGeom>
          <a:noFill/>
        </p:spPr>
        <p:txBody>
          <a:bodyPr wrap="square" lIns="36576" rIns="36576" tIns="36576" bIns="36576" anchor="ctr">
            <a:spAutoFit/>
          </a:bodyPr>
          <a:lstStyle/>
          <a:p>
            <a:pPr algn="l">
              <a:lnSpc>
                <a:spcPct val="100000"/>
              </a:lnSpc>
              <a:defRPr sz="1100" b="1">
                <a:solidFill>
                  <a:srgbClr val="D97706"/>
                </a:solidFill>
                <a:latin typeface="Inter"/>
              </a:defRPr>
            </a:pPr>
            <a:r>
              <a:t>CARRIER FREQUENCY OFFSET</a:t>
            </a:r>
          </a:p>
        </p:txBody>
      </p:sp>
      <p:sp>
        <p:nvSpPr>
          <p:cNvPr id="14" name="TextBox 13"/>
          <p:cNvSpPr txBox="1"/>
          <p:nvPr/>
        </p:nvSpPr>
        <p:spPr>
          <a:xfrm>
            <a:off x="6675120" y="2743200"/>
            <a:ext cx="4297680" cy="502920"/>
          </a:xfrm>
          <a:prstGeom prst="rect">
            <a:avLst/>
          </a:prstGeom>
          <a:noFill/>
        </p:spPr>
        <p:txBody>
          <a:bodyPr wrap="square" lIns="36576" rIns="36576" tIns="36576" bIns="36576" anchor="ctr">
            <a:spAutoFit/>
          </a:bodyPr>
          <a:lstStyle/>
          <a:p>
            <a:pPr algn="ctr">
              <a:lnSpc>
                <a:spcPct val="100000"/>
              </a:lnSpc>
              <a:defRPr sz="1900" b="1">
                <a:solidFill>
                  <a:srgbClr val="0F172A"/>
                </a:solidFill>
                <a:latin typeface="Consolas"/>
              </a:defRPr>
            </a:pPr>
            <a:r>
              <a:t>s′[n] = s[n]eʲ⁽²πΔfnTs+θ₀⁾</a:t>
            </a:r>
          </a:p>
        </p:txBody>
      </p:sp>
      <p:sp>
        <p:nvSpPr>
          <p:cNvPr id="15" name="TextBox 14"/>
          <p:cNvSpPr txBox="1"/>
          <p:nvPr/>
        </p:nvSpPr>
        <p:spPr>
          <a:xfrm>
            <a:off x="6675120" y="3584448"/>
            <a:ext cx="4297680" cy="320040"/>
          </a:xfrm>
          <a:prstGeom prst="rect">
            <a:avLst/>
          </a:prstGeom>
          <a:noFill/>
        </p:spPr>
        <p:txBody>
          <a:bodyPr wrap="square" lIns="36576" rIns="36576" tIns="36576" bIns="36576" anchor="ctr">
            <a:spAutoFit/>
          </a:bodyPr>
          <a:lstStyle/>
          <a:p>
            <a:pPr algn="ctr">
              <a:lnSpc>
                <a:spcPct val="100000"/>
              </a:lnSpc>
              <a:defRPr sz="1200" b="0">
                <a:solidFill>
                  <a:srgbClr val="475569"/>
                </a:solidFill>
                <a:latin typeface="Inter"/>
              </a:defRPr>
            </a:pPr>
            <a:r>
              <a:t>Angle changes with n → phase ramp</a:t>
            </a:r>
          </a:p>
        </p:txBody>
      </p:sp>
      <p:sp>
        <p:nvSpPr>
          <p:cNvPr id="16" name="TextBox 15"/>
          <p:cNvSpPr txBox="1"/>
          <p:nvPr/>
        </p:nvSpPr>
        <p:spPr>
          <a:xfrm>
            <a:off x="2194560" y="5065776"/>
            <a:ext cx="7863840" cy="420624"/>
          </a:xfrm>
          <a:prstGeom prst="rect">
            <a:avLst/>
          </a:prstGeom>
          <a:noFill/>
        </p:spPr>
        <p:txBody>
          <a:bodyPr wrap="square" lIns="36576" rIns="36576" tIns="36576" bIns="36576" anchor="ctr">
            <a:spAutoFit/>
          </a:bodyPr>
          <a:lstStyle/>
          <a:p>
            <a:pPr algn="ctr">
              <a:lnSpc>
                <a:spcPct val="100000"/>
              </a:lnSpc>
              <a:defRPr sz="1800" b="1">
                <a:solidFill>
                  <a:srgbClr val="DC2626"/>
                </a:solidFill>
                <a:latin typeface="Inter"/>
              </a:defRPr>
            </a:pPr>
            <a:r>
              <a:t>Therefore: no claim of CFO robustness.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APPENDIX C</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SNR80 is a secondary, unstable metric</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First upward 80% crossing with linear interpolation</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Appendix C</a:t>
            </a:r>
          </a:p>
        </p:txBody>
      </p:sp>
      <p:sp>
        <p:nvSpPr>
          <p:cNvPr id="8" name="Rounded Rectangle 7"/>
          <p:cNvSpPr/>
          <p:nvPr/>
        </p:nvSpPr>
        <p:spPr>
          <a:xfrm>
            <a:off x="822960" y="1828800"/>
            <a:ext cx="324612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828800"/>
            <a:ext cx="73152" cy="1463040"/>
          </a:xfrm>
          <a:prstGeom prst="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975104"/>
            <a:ext cx="2880360"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MEAN GAIN</a:t>
            </a:r>
          </a:p>
        </p:txBody>
      </p:sp>
      <p:sp>
        <p:nvSpPr>
          <p:cNvPr id="11" name="TextBox 10"/>
          <p:cNvSpPr txBox="1"/>
          <p:nvPr/>
        </p:nvSpPr>
        <p:spPr>
          <a:xfrm>
            <a:off x="1051560" y="2267712"/>
            <a:ext cx="2880360"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+1.37 dB</a:t>
            </a:r>
          </a:p>
        </p:txBody>
      </p:sp>
      <p:sp>
        <p:nvSpPr>
          <p:cNvPr id="12" name="TextBox 11"/>
          <p:cNvSpPr txBox="1"/>
          <p:nvPr/>
        </p:nvSpPr>
        <p:spPr>
          <a:xfrm>
            <a:off x="1051560" y="2871216"/>
            <a:ext cx="2880360"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phase-only vs baseline</a:t>
            </a:r>
          </a:p>
        </p:txBody>
      </p:sp>
      <p:sp>
        <p:nvSpPr>
          <p:cNvPr id="13" name="Rounded Rectangle 12"/>
          <p:cNvSpPr/>
          <p:nvPr/>
        </p:nvSpPr>
        <p:spPr>
          <a:xfrm>
            <a:off x="4480560" y="1828800"/>
            <a:ext cx="324612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828800"/>
            <a:ext cx="73152" cy="1463040"/>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1975104"/>
            <a:ext cx="2880360"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ACROSS-SEED SD</a:t>
            </a:r>
          </a:p>
        </p:txBody>
      </p:sp>
      <p:sp>
        <p:nvSpPr>
          <p:cNvPr id="16" name="TextBox 15"/>
          <p:cNvSpPr txBox="1"/>
          <p:nvPr/>
        </p:nvSpPr>
        <p:spPr>
          <a:xfrm>
            <a:off x="4709160" y="2267712"/>
            <a:ext cx="2880360"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2.18 dB</a:t>
            </a:r>
          </a:p>
        </p:txBody>
      </p:sp>
      <p:sp>
        <p:nvSpPr>
          <p:cNvPr id="17" name="TextBox 16"/>
          <p:cNvSpPr txBox="1"/>
          <p:nvPr/>
        </p:nvSpPr>
        <p:spPr>
          <a:xfrm>
            <a:off x="4709160" y="2871216"/>
            <a:ext cx="2880360"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large relative dispersion</a:t>
            </a:r>
          </a:p>
        </p:txBody>
      </p:sp>
      <p:sp>
        <p:nvSpPr>
          <p:cNvPr id="18" name="Rounded Rectangle 17"/>
          <p:cNvSpPr/>
          <p:nvPr/>
        </p:nvSpPr>
        <p:spPr>
          <a:xfrm>
            <a:off x="8138160" y="1828800"/>
            <a:ext cx="324612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1828800"/>
            <a:ext cx="73152" cy="1463040"/>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1975104"/>
            <a:ext cx="2880360" cy="274320"/>
          </a:xfrm>
          <a:prstGeom prst="rect">
            <a:avLst/>
          </a:prstGeom>
          <a:noFill/>
        </p:spPr>
        <p:txBody>
          <a:bodyPr wrap="square" lIns="36576" rIns="36576" tIns="36576" bIns="36576" anchor="ctr">
            <a:spAutoFit/>
          </a:bodyPr>
          <a:lstStyle/>
          <a:p>
            <a:pPr algn="l">
              <a:lnSpc>
                <a:spcPct val="100000"/>
              </a:lnSpc>
              <a:defRPr sz="1000" b="1">
                <a:solidFill>
                  <a:srgbClr val="64748B"/>
                </a:solidFill>
                <a:latin typeface="Inter"/>
              </a:defRPr>
            </a:pPr>
            <a:r>
              <a:t>WORST SEED</a:t>
            </a:r>
          </a:p>
        </p:txBody>
      </p:sp>
      <p:sp>
        <p:nvSpPr>
          <p:cNvPr id="21" name="TextBox 20"/>
          <p:cNvSpPr txBox="1"/>
          <p:nvPr/>
        </p:nvSpPr>
        <p:spPr>
          <a:xfrm>
            <a:off x="8366760" y="2267712"/>
            <a:ext cx="2880360" cy="512064"/>
          </a:xfrm>
          <a:prstGeom prst="rect">
            <a:avLst/>
          </a:prstGeom>
          <a:noFill/>
        </p:spPr>
        <p:txBody>
          <a:bodyPr wrap="square" lIns="36576" rIns="36576" tIns="36576" bIns="36576" anchor="ctr">
            <a:spAutoFit/>
          </a:bodyPr>
          <a:lstStyle/>
          <a:p>
            <a:pPr algn="l">
              <a:lnSpc>
                <a:spcPct val="100000"/>
              </a:lnSpc>
              <a:defRPr sz="2500" b="1">
                <a:solidFill>
                  <a:srgbClr val="0F172A"/>
                </a:solidFill>
                <a:latin typeface="Manrope"/>
              </a:defRPr>
            </a:pPr>
            <a:r>
              <a:t>−1.60 dB</a:t>
            </a:r>
          </a:p>
        </p:txBody>
      </p:sp>
      <p:sp>
        <p:nvSpPr>
          <p:cNvPr id="22" name="TextBox 21"/>
          <p:cNvSpPr txBox="1"/>
          <p:nvPr/>
        </p:nvSpPr>
        <p:spPr>
          <a:xfrm>
            <a:off x="8366760" y="2871216"/>
            <a:ext cx="2880360" cy="256032"/>
          </a:xfrm>
          <a:prstGeom prst="rect">
            <a:avLst/>
          </a:prstGeom>
          <a:noFill/>
        </p:spPr>
        <p:txBody>
          <a:bodyPr wrap="square" lIns="36576" rIns="36576" tIns="36576" bIns="36576" anchor="ctr">
            <a:spAutoFit/>
          </a:bodyPr>
          <a:lstStyle/>
          <a:p>
            <a:pPr algn="l">
              <a:lnSpc>
                <a:spcPct val="100000"/>
              </a:lnSpc>
              <a:defRPr sz="1000" b="0">
                <a:solidFill>
                  <a:srgbClr val="475569"/>
                </a:solidFill>
                <a:latin typeface="Inter"/>
              </a:defRPr>
            </a:pPr>
            <a:r>
              <a:t>one negative result</a:t>
            </a:r>
          </a:p>
        </p:txBody>
      </p:sp>
      <p:sp>
        <p:nvSpPr>
          <p:cNvPr id="23" name="Rounded Rectangle 22"/>
          <p:cNvSpPr/>
          <p:nvPr/>
        </p:nvSpPr>
        <p:spPr>
          <a:xfrm>
            <a:off x="1005840" y="4069080"/>
            <a:ext cx="2331720" cy="658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5568" y="4069080"/>
            <a:ext cx="2112264" cy="658368"/>
          </a:xfrm>
          <a:prstGeom prst="rect">
            <a:avLst/>
          </a:prstGeom>
          <a:noFill/>
        </p:spPr>
        <p:txBody>
          <a:bodyPr wrap="square" lIns="36576" rIns="36576" tIns="36576" bIns="36576" anchor="ctr">
            <a:spAutoFit/>
          </a:bodyPr>
          <a:lstStyle/>
          <a:p>
            <a:pPr algn="ctr">
              <a:lnSpc>
                <a:spcPct val="100000"/>
              </a:lnSpc>
              <a:defRPr sz="1050" b="1">
                <a:solidFill>
                  <a:srgbClr val="0F172A"/>
                </a:solidFill>
                <a:latin typeface="Inter"/>
              </a:defRPr>
            </a:pPr>
            <a:r>
              <a:t>No smoothing</a:t>
            </a:r>
          </a:p>
        </p:txBody>
      </p:sp>
      <p:sp>
        <p:nvSpPr>
          <p:cNvPr id="25" name="Rounded Rectangle 24"/>
          <p:cNvSpPr/>
          <p:nvPr/>
        </p:nvSpPr>
        <p:spPr>
          <a:xfrm>
            <a:off x="3794760" y="4069080"/>
            <a:ext cx="2331720" cy="658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04488" y="4069080"/>
            <a:ext cx="2112264" cy="658368"/>
          </a:xfrm>
          <a:prstGeom prst="rect">
            <a:avLst/>
          </a:prstGeom>
          <a:noFill/>
        </p:spPr>
        <p:txBody>
          <a:bodyPr wrap="square" lIns="36576" rIns="36576" tIns="36576" bIns="36576" anchor="ctr">
            <a:spAutoFit/>
          </a:bodyPr>
          <a:lstStyle/>
          <a:p>
            <a:pPr algn="ctr">
              <a:lnSpc>
                <a:spcPct val="100000"/>
              </a:lnSpc>
              <a:defRPr sz="1050" b="1">
                <a:solidFill>
                  <a:srgbClr val="0F172A"/>
                </a:solidFill>
                <a:latin typeface="Inter"/>
              </a:defRPr>
            </a:pPr>
            <a:r>
              <a:t>No extrapolation</a:t>
            </a:r>
          </a:p>
        </p:txBody>
      </p:sp>
      <p:sp>
        <p:nvSpPr>
          <p:cNvPr id="27" name="Rounded Rectangle 26"/>
          <p:cNvSpPr/>
          <p:nvPr/>
        </p:nvSpPr>
        <p:spPr>
          <a:xfrm>
            <a:off x="6583679" y="4069080"/>
            <a:ext cx="2331720" cy="658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93407" y="4069080"/>
            <a:ext cx="2112264" cy="658368"/>
          </a:xfrm>
          <a:prstGeom prst="rect">
            <a:avLst/>
          </a:prstGeom>
          <a:noFill/>
        </p:spPr>
        <p:txBody>
          <a:bodyPr wrap="square" lIns="36576" rIns="36576" tIns="36576" bIns="36576" anchor="ctr">
            <a:spAutoFit/>
          </a:bodyPr>
          <a:lstStyle/>
          <a:p>
            <a:pPr algn="ctr">
              <a:lnSpc>
                <a:spcPct val="100000"/>
              </a:lnSpc>
              <a:defRPr sz="1050" b="1">
                <a:solidFill>
                  <a:srgbClr val="0F172A"/>
                </a:solidFill>
                <a:latin typeface="Inter"/>
              </a:defRPr>
            </a:pPr>
            <a:r>
              <a:t>First upward crossing</a:t>
            </a:r>
          </a:p>
        </p:txBody>
      </p:sp>
      <p:sp>
        <p:nvSpPr>
          <p:cNvPr id="29" name="Rounded Rectangle 28"/>
          <p:cNvSpPr/>
          <p:nvPr/>
        </p:nvSpPr>
        <p:spPr>
          <a:xfrm>
            <a:off x="9372599" y="4069080"/>
            <a:ext cx="2331720" cy="658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82327" y="4069080"/>
            <a:ext cx="2112264" cy="658368"/>
          </a:xfrm>
          <a:prstGeom prst="rect">
            <a:avLst/>
          </a:prstGeom>
          <a:noFill/>
        </p:spPr>
        <p:txBody>
          <a:bodyPr wrap="square" lIns="36576" rIns="36576" tIns="36576" bIns="36576" anchor="ctr">
            <a:spAutoFit/>
          </a:bodyPr>
          <a:lstStyle/>
          <a:p>
            <a:pPr algn="ctr">
              <a:lnSpc>
                <a:spcPct val="100000"/>
              </a:lnSpc>
              <a:defRPr sz="1050" b="1">
                <a:solidFill>
                  <a:srgbClr val="0F172A"/>
                </a:solidFill>
                <a:latin typeface="Inter"/>
              </a:defRPr>
            </a:pPr>
            <a:r>
              <a:t>Curves may be non-monotonic</a:t>
            </a:r>
          </a:p>
        </p:txBody>
      </p:sp>
      <p:sp>
        <p:nvSpPr>
          <p:cNvPr id="31" name="TextBox 30"/>
          <p:cNvSpPr txBox="1"/>
          <p:nvPr/>
        </p:nvSpPr>
        <p:spPr>
          <a:xfrm>
            <a:off x="1508760" y="5303520"/>
            <a:ext cx="9144000" cy="365760"/>
          </a:xfrm>
          <a:prstGeom prst="rect">
            <a:avLst/>
          </a:prstGeom>
          <a:noFill/>
        </p:spPr>
        <p:txBody>
          <a:bodyPr wrap="square" lIns="36576" rIns="36576" tIns="36576" bIns="36576" anchor="ctr">
            <a:spAutoFit/>
          </a:bodyPr>
          <a:lstStyle/>
          <a:p>
            <a:pPr algn="ctr">
              <a:lnSpc>
                <a:spcPct val="100000"/>
              </a:lnSpc>
              <a:defRPr sz="1400" b="1">
                <a:solidFill>
                  <a:srgbClr val="0F172A"/>
                </a:solidFill>
                <a:latin typeface="Inter"/>
              </a:defRPr>
            </a:pPr>
            <a:r>
              <a:t>Primary conclusion relies on accuracy and Macro-F1, not SNR80 alone.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82880"/>
            <a:ext cx="3840480" cy="274320"/>
          </a:xfrm>
          <a:prstGeom prst="rect">
            <a:avLst/>
          </a:prstGeom>
          <a:noFill/>
        </p:spPr>
        <p:txBody>
          <a:bodyPr wrap="square" lIns="36576" rIns="36576" tIns="36576" bIns="36576" anchor="ctr">
            <a:spAutoFit/>
          </a:bodyPr>
          <a:lstStyle/>
          <a:p>
            <a:pPr algn="l">
              <a:lnSpc>
                <a:spcPct val="100000"/>
              </a:lnSpc>
              <a:defRPr sz="1000" b="1">
                <a:solidFill>
                  <a:srgbClr val="0284C7"/>
                </a:solidFill>
                <a:latin typeface="Inter"/>
              </a:defRPr>
            </a:pPr>
            <a:r>
              <a:t>APPENDIX D</a:t>
            </a:r>
          </a:p>
        </p:txBody>
      </p:sp>
      <p:sp>
        <p:nvSpPr>
          <p:cNvPr id="3" name="TextBox 2"/>
          <p:cNvSpPr txBox="1"/>
          <p:nvPr/>
        </p:nvSpPr>
        <p:spPr>
          <a:xfrm>
            <a:off x="411480" y="438912"/>
            <a:ext cx="10744200" cy="640080"/>
          </a:xfrm>
          <a:prstGeom prst="rect">
            <a:avLst/>
          </a:prstGeom>
          <a:noFill/>
        </p:spPr>
        <p:txBody>
          <a:bodyPr wrap="square" lIns="36576" rIns="36576" tIns="36576" bIns="36576" anchor="ctr">
            <a:spAutoFit/>
          </a:bodyPr>
          <a:lstStyle/>
          <a:p>
            <a:pPr algn="l">
              <a:lnSpc>
                <a:spcPct val="100000"/>
              </a:lnSpc>
              <a:defRPr sz="3000" b="1">
                <a:solidFill>
                  <a:srgbClr val="0F172A"/>
                </a:solidFill>
                <a:latin typeface="Manrope"/>
              </a:defRPr>
            </a:pPr>
            <a:r>
              <a:t>Reproducibility artifacts</a:t>
            </a:r>
          </a:p>
        </p:txBody>
      </p:sp>
      <p:sp>
        <p:nvSpPr>
          <p:cNvPr id="4" name="TextBox 3"/>
          <p:cNvSpPr txBox="1"/>
          <p:nvPr/>
        </p:nvSpPr>
        <p:spPr>
          <a:xfrm>
            <a:off x="411480" y="1069848"/>
            <a:ext cx="10561320" cy="310896"/>
          </a:xfrm>
          <a:prstGeom prst="rect">
            <a:avLst/>
          </a:prstGeom>
          <a:noFill/>
        </p:spPr>
        <p:txBody>
          <a:bodyPr wrap="square" lIns="36576" rIns="36576" tIns="36576" bIns="36576" anchor="ctr">
            <a:spAutoFit/>
          </a:bodyPr>
          <a:lstStyle/>
          <a:p>
            <a:pPr algn="l">
              <a:lnSpc>
                <a:spcPct val="100000"/>
              </a:lnSpc>
              <a:defRPr sz="1200" b="0">
                <a:solidFill>
                  <a:srgbClr val="64748B"/>
                </a:solidFill>
                <a:latin typeface="Inter"/>
              </a:defRPr>
            </a:pPr>
            <a:r>
              <a:t>Every reported result maps to a stored artifact</a:t>
            </a:r>
          </a:p>
        </p:txBody>
      </p:sp>
      <p:cxnSp>
        <p:nvCxnSpPr>
          <p:cNvPr id="5" name="Connector 4"/>
          <p:cNvCxnSpPr/>
          <p:nvPr/>
        </p:nvCxnSpPr>
        <p:spPr>
          <a:xfrm>
            <a:off x="411480" y="1435608"/>
            <a:ext cx="11365992"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519672"/>
            <a:ext cx="6126480" cy="219456"/>
          </a:xfrm>
          <a:prstGeom prst="rect">
            <a:avLst/>
          </a:prstGeom>
          <a:noFill/>
        </p:spPr>
        <p:txBody>
          <a:bodyPr wrap="square" lIns="36576" rIns="36576" tIns="36576" bIns="36576" anchor="ctr">
            <a:spAutoFit/>
          </a:bodyPr>
          <a:lstStyle/>
          <a:p>
            <a:pPr algn="l">
              <a:lnSpc>
                <a:spcPct val="100000"/>
              </a:lnSpc>
              <a:defRPr sz="900" b="0">
                <a:solidFill>
                  <a:srgbClr val="64748B"/>
                </a:solidFill>
                <a:latin typeface="Inter"/>
              </a:defRPr>
            </a:pPr>
            <a:r>
              <a:t>EE136: Machine Learning for Wireless Communications</a:t>
            </a:r>
          </a:p>
        </p:txBody>
      </p:sp>
      <p:sp>
        <p:nvSpPr>
          <p:cNvPr id="7" name="TextBox 6"/>
          <p:cNvSpPr txBox="1"/>
          <p:nvPr/>
        </p:nvSpPr>
        <p:spPr>
          <a:xfrm>
            <a:off x="10222992" y="6519672"/>
            <a:ext cx="1554480" cy="219456"/>
          </a:xfrm>
          <a:prstGeom prst="rect">
            <a:avLst/>
          </a:prstGeom>
          <a:noFill/>
        </p:spPr>
        <p:txBody>
          <a:bodyPr wrap="square" lIns="36576" rIns="36576" tIns="36576" bIns="36576" anchor="ctr">
            <a:spAutoFit/>
          </a:bodyPr>
          <a:lstStyle/>
          <a:p>
            <a:pPr algn="r">
              <a:lnSpc>
                <a:spcPct val="100000"/>
              </a:lnSpc>
              <a:defRPr sz="900" b="0">
                <a:solidFill>
                  <a:srgbClr val="64748B"/>
                </a:solidFill>
                <a:latin typeface="Inter"/>
              </a:defRPr>
            </a:pPr>
            <a:r>
              <a:t>Appendix D</a:t>
            </a:r>
          </a:p>
        </p:txBody>
      </p:sp>
      <p:sp>
        <p:nvSpPr>
          <p:cNvPr id="8" name="Rounded Rectangle 7"/>
          <p:cNvSpPr/>
          <p:nvPr/>
        </p:nvSpPr>
        <p:spPr>
          <a:xfrm>
            <a:off x="749808" y="1719072"/>
            <a:ext cx="507492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1865376"/>
            <a:ext cx="1143000" cy="256032"/>
          </a:xfrm>
          <a:prstGeom prst="rect">
            <a:avLst/>
          </a:prstGeom>
          <a:noFill/>
        </p:spPr>
        <p:txBody>
          <a:bodyPr wrap="square" lIns="36576" rIns="36576" tIns="36576" bIns="36576" anchor="ctr">
            <a:spAutoFit/>
          </a:bodyPr>
          <a:lstStyle/>
          <a:p>
            <a:pPr algn="l">
              <a:lnSpc>
                <a:spcPct val="100000"/>
              </a:lnSpc>
              <a:defRPr sz="900" b="1">
                <a:solidFill>
                  <a:srgbClr val="0284C7"/>
                </a:solidFill>
                <a:latin typeface="Inter"/>
              </a:defRPr>
            </a:pPr>
            <a:r>
              <a:t>DATASET</a:t>
            </a:r>
          </a:p>
        </p:txBody>
      </p:sp>
      <p:sp>
        <p:nvSpPr>
          <p:cNvPr id="10" name="TextBox 9"/>
          <p:cNvSpPr txBox="1"/>
          <p:nvPr/>
        </p:nvSpPr>
        <p:spPr>
          <a:xfrm>
            <a:off x="2048255" y="1828800"/>
            <a:ext cx="3493008" cy="384048"/>
          </a:xfrm>
          <a:prstGeom prst="rect">
            <a:avLst/>
          </a:prstGeom>
          <a:noFill/>
        </p:spPr>
        <p:txBody>
          <a:bodyPr wrap="square" lIns="36576" rIns="36576" tIns="36576" bIns="36576" anchor="ctr">
            <a:spAutoFit/>
          </a:bodyPr>
          <a:lstStyle/>
          <a:p>
            <a:pPr algn="l">
              <a:lnSpc>
                <a:spcPct val="100000"/>
              </a:lnSpc>
              <a:defRPr sz="1050" b="1">
                <a:solidFill>
                  <a:srgbClr val="0F172A"/>
                </a:solidFill>
                <a:latin typeface="Consolas"/>
              </a:defRPr>
            </a:pPr>
            <a:r>
              <a:t>data/frozen_v2/manifest.json</a:t>
            </a:r>
          </a:p>
        </p:txBody>
      </p:sp>
      <p:sp>
        <p:nvSpPr>
          <p:cNvPr id="11" name="Rounded Rectangle 10"/>
          <p:cNvSpPr/>
          <p:nvPr/>
        </p:nvSpPr>
        <p:spPr>
          <a:xfrm>
            <a:off x="6309360" y="1719072"/>
            <a:ext cx="507492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1865376"/>
            <a:ext cx="1143000" cy="256032"/>
          </a:xfrm>
          <a:prstGeom prst="rect">
            <a:avLst/>
          </a:prstGeom>
          <a:noFill/>
        </p:spPr>
        <p:txBody>
          <a:bodyPr wrap="square" lIns="36576" rIns="36576" tIns="36576" bIns="36576" anchor="ctr">
            <a:spAutoFit/>
          </a:bodyPr>
          <a:lstStyle/>
          <a:p>
            <a:pPr algn="l">
              <a:lnSpc>
                <a:spcPct val="100000"/>
              </a:lnSpc>
              <a:defRPr sz="900" b="1">
                <a:solidFill>
                  <a:srgbClr val="0284C7"/>
                </a:solidFill>
                <a:latin typeface="Inter"/>
              </a:defRPr>
            </a:pPr>
            <a:r>
              <a:t>TRAINING</a:t>
            </a:r>
          </a:p>
        </p:txBody>
      </p:sp>
      <p:sp>
        <p:nvSpPr>
          <p:cNvPr id="13" name="TextBox 12"/>
          <p:cNvSpPr txBox="1"/>
          <p:nvPr/>
        </p:nvSpPr>
        <p:spPr>
          <a:xfrm>
            <a:off x="7607808" y="1828800"/>
            <a:ext cx="3493008" cy="384048"/>
          </a:xfrm>
          <a:prstGeom prst="rect">
            <a:avLst/>
          </a:prstGeom>
          <a:noFill/>
        </p:spPr>
        <p:txBody>
          <a:bodyPr wrap="square" lIns="36576" rIns="36576" tIns="36576" bIns="36576" anchor="ctr">
            <a:spAutoFit/>
          </a:bodyPr>
          <a:lstStyle/>
          <a:p>
            <a:pPr algn="l">
              <a:lnSpc>
                <a:spcPct val="100000"/>
              </a:lnSpc>
              <a:defRPr sz="1050" b="1">
                <a:solidFill>
                  <a:srgbClr val="0F172A"/>
                </a:solidFill>
                <a:latin typeface="Consolas"/>
              </a:defRPr>
            </a:pPr>
            <a:r>
              <a:t>runs/ablation/seed_*/</a:t>
            </a:r>
          </a:p>
        </p:txBody>
      </p:sp>
      <p:sp>
        <p:nvSpPr>
          <p:cNvPr id="14" name="Rounded Rectangle 13"/>
          <p:cNvSpPr/>
          <p:nvPr/>
        </p:nvSpPr>
        <p:spPr>
          <a:xfrm>
            <a:off x="749808" y="2953512"/>
            <a:ext cx="507492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099816"/>
            <a:ext cx="1143000" cy="256032"/>
          </a:xfrm>
          <a:prstGeom prst="rect">
            <a:avLst/>
          </a:prstGeom>
          <a:noFill/>
        </p:spPr>
        <p:txBody>
          <a:bodyPr wrap="square" lIns="36576" rIns="36576" tIns="36576" bIns="36576" anchor="ctr">
            <a:spAutoFit/>
          </a:bodyPr>
          <a:lstStyle/>
          <a:p>
            <a:pPr algn="l">
              <a:lnSpc>
                <a:spcPct val="100000"/>
              </a:lnSpc>
              <a:defRPr sz="900" b="1">
                <a:solidFill>
                  <a:srgbClr val="0284C7"/>
                </a:solidFill>
                <a:latin typeface="Inter"/>
              </a:defRPr>
            </a:pPr>
            <a:r>
              <a:t>METRICS</a:t>
            </a:r>
          </a:p>
        </p:txBody>
      </p:sp>
      <p:sp>
        <p:nvSpPr>
          <p:cNvPr id="16" name="TextBox 15"/>
          <p:cNvSpPr txBox="1"/>
          <p:nvPr/>
        </p:nvSpPr>
        <p:spPr>
          <a:xfrm>
            <a:off x="2048255" y="3063240"/>
            <a:ext cx="3493008" cy="384048"/>
          </a:xfrm>
          <a:prstGeom prst="rect">
            <a:avLst/>
          </a:prstGeom>
          <a:noFill/>
        </p:spPr>
        <p:txBody>
          <a:bodyPr wrap="square" lIns="36576" rIns="36576" tIns="36576" bIns="36576" anchor="ctr">
            <a:spAutoFit/>
          </a:bodyPr>
          <a:lstStyle/>
          <a:p>
            <a:pPr algn="l">
              <a:lnSpc>
                <a:spcPct val="100000"/>
              </a:lnSpc>
              <a:defRPr sz="1050" b="1">
                <a:solidFill>
                  <a:srgbClr val="0F172A"/>
                </a:solidFill>
                <a:latin typeface="Consolas"/>
              </a:defRPr>
            </a:pPr>
            <a:r>
              <a:t>results/final_phase/benchmark_results.json</a:t>
            </a:r>
          </a:p>
        </p:txBody>
      </p:sp>
      <p:sp>
        <p:nvSpPr>
          <p:cNvPr id="17" name="Rounded Rectangle 16"/>
          <p:cNvSpPr/>
          <p:nvPr/>
        </p:nvSpPr>
        <p:spPr>
          <a:xfrm>
            <a:off x="6309360" y="2953512"/>
            <a:ext cx="507492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3099816"/>
            <a:ext cx="1143000" cy="256032"/>
          </a:xfrm>
          <a:prstGeom prst="rect">
            <a:avLst/>
          </a:prstGeom>
          <a:noFill/>
        </p:spPr>
        <p:txBody>
          <a:bodyPr wrap="square" lIns="36576" rIns="36576" tIns="36576" bIns="36576" anchor="ctr">
            <a:spAutoFit/>
          </a:bodyPr>
          <a:lstStyle/>
          <a:p>
            <a:pPr algn="l">
              <a:lnSpc>
                <a:spcPct val="100000"/>
              </a:lnSpc>
              <a:defRPr sz="900" b="1">
                <a:solidFill>
                  <a:srgbClr val="0284C7"/>
                </a:solidFill>
                <a:latin typeface="Inter"/>
              </a:defRPr>
            </a:pPr>
            <a:r>
              <a:t>PREDICTIONS</a:t>
            </a:r>
          </a:p>
        </p:txBody>
      </p:sp>
      <p:sp>
        <p:nvSpPr>
          <p:cNvPr id="19" name="TextBox 18"/>
          <p:cNvSpPr txBox="1"/>
          <p:nvPr/>
        </p:nvSpPr>
        <p:spPr>
          <a:xfrm>
            <a:off x="7607808" y="3063240"/>
            <a:ext cx="3493008" cy="384048"/>
          </a:xfrm>
          <a:prstGeom prst="rect">
            <a:avLst/>
          </a:prstGeom>
          <a:noFill/>
        </p:spPr>
        <p:txBody>
          <a:bodyPr wrap="square" lIns="36576" rIns="36576" tIns="36576" bIns="36576" anchor="ctr">
            <a:spAutoFit/>
          </a:bodyPr>
          <a:lstStyle/>
          <a:p>
            <a:pPr algn="l">
              <a:lnSpc>
                <a:spcPct val="100000"/>
              </a:lnSpc>
              <a:defRPr sz="1050" b="1">
                <a:solidFill>
                  <a:srgbClr val="0F172A"/>
                </a:solidFill>
                <a:latin typeface="Consolas"/>
              </a:defRPr>
            </a:pPr>
            <a:r>
              <a:t>results/final_phase/predictions.npz</a:t>
            </a:r>
          </a:p>
        </p:txBody>
      </p:sp>
      <p:sp>
        <p:nvSpPr>
          <p:cNvPr id="20" name="Rounded Rectangle 19"/>
          <p:cNvSpPr/>
          <p:nvPr/>
        </p:nvSpPr>
        <p:spPr>
          <a:xfrm>
            <a:off x="749808" y="4187952"/>
            <a:ext cx="507492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 y="4334256"/>
            <a:ext cx="1143000" cy="256032"/>
          </a:xfrm>
          <a:prstGeom prst="rect">
            <a:avLst/>
          </a:prstGeom>
          <a:noFill/>
        </p:spPr>
        <p:txBody>
          <a:bodyPr wrap="square" lIns="36576" rIns="36576" tIns="36576" bIns="36576" anchor="ctr">
            <a:spAutoFit/>
          </a:bodyPr>
          <a:lstStyle/>
          <a:p>
            <a:pPr algn="l">
              <a:lnSpc>
                <a:spcPct val="100000"/>
              </a:lnSpc>
              <a:defRPr sz="900" b="1">
                <a:solidFill>
                  <a:srgbClr val="0284C7"/>
                </a:solidFill>
                <a:latin typeface="Inter"/>
              </a:defRPr>
            </a:pPr>
            <a:r>
              <a:t>PLOTS</a:t>
            </a:r>
          </a:p>
        </p:txBody>
      </p:sp>
      <p:sp>
        <p:nvSpPr>
          <p:cNvPr id="22" name="TextBox 21"/>
          <p:cNvSpPr txBox="1"/>
          <p:nvPr/>
        </p:nvSpPr>
        <p:spPr>
          <a:xfrm>
            <a:off x="2048255" y="4297680"/>
            <a:ext cx="3493008" cy="384048"/>
          </a:xfrm>
          <a:prstGeom prst="rect">
            <a:avLst/>
          </a:prstGeom>
          <a:noFill/>
        </p:spPr>
        <p:txBody>
          <a:bodyPr wrap="square" lIns="36576" rIns="36576" tIns="36576" bIns="36576" anchor="ctr">
            <a:spAutoFit/>
          </a:bodyPr>
          <a:lstStyle/>
          <a:p>
            <a:pPr algn="l">
              <a:lnSpc>
                <a:spcPct val="100000"/>
              </a:lnSpc>
              <a:defRPr sz="1050" b="1">
                <a:solidFill>
                  <a:srgbClr val="0F172A"/>
                </a:solidFill>
                <a:latin typeface="Consolas"/>
              </a:defRPr>
            </a:pPr>
            <a:r>
              <a:t>results/final_phase/plots/</a:t>
            </a:r>
          </a:p>
        </p:txBody>
      </p:sp>
      <p:sp>
        <p:nvSpPr>
          <p:cNvPr id="23" name="Rounded Rectangle 22"/>
          <p:cNvSpPr/>
          <p:nvPr/>
        </p:nvSpPr>
        <p:spPr>
          <a:xfrm>
            <a:off x="6309360" y="4187952"/>
            <a:ext cx="507492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4334256"/>
            <a:ext cx="1143000" cy="256032"/>
          </a:xfrm>
          <a:prstGeom prst="rect">
            <a:avLst/>
          </a:prstGeom>
          <a:noFill/>
        </p:spPr>
        <p:txBody>
          <a:bodyPr wrap="square" lIns="36576" rIns="36576" tIns="36576" bIns="36576" anchor="ctr">
            <a:spAutoFit/>
          </a:bodyPr>
          <a:lstStyle/>
          <a:p>
            <a:pPr algn="l">
              <a:lnSpc>
                <a:spcPct val="100000"/>
              </a:lnSpc>
              <a:defRPr sz="900" b="1">
                <a:solidFill>
                  <a:srgbClr val="0284C7"/>
                </a:solidFill>
                <a:latin typeface="Inter"/>
              </a:defRPr>
            </a:pPr>
            <a:r>
              <a:t>TESTS</a:t>
            </a:r>
          </a:p>
        </p:txBody>
      </p:sp>
      <p:sp>
        <p:nvSpPr>
          <p:cNvPr id="25" name="TextBox 24"/>
          <p:cNvSpPr txBox="1"/>
          <p:nvPr/>
        </p:nvSpPr>
        <p:spPr>
          <a:xfrm>
            <a:off x="7607808" y="4297680"/>
            <a:ext cx="3493008" cy="384048"/>
          </a:xfrm>
          <a:prstGeom prst="rect">
            <a:avLst/>
          </a:prstGeom>
          <a:noFill/>
        </p:spPr>
        <p:txBody>
          <a:bodyPr wrap="square" lIns="36576" rIns="36576" tIns="36576" bIns="36576" anchor="ctr">
            <a:spAutoFit/>
          </a:bodyPr>
          <a:lstStyle/>
          <a:p>
            <a:pPr algn="l">
              <a:lnSpc>
                <a:spcPct val="100000"/>
              </a:lnSpc>
              <a:defRPr sz="1050" b="1">
                <a:solidFill>
                  <a:srgbClr val="0F172A"/>
                </a:solidFill>
                <a:latin typeface="Consolas"/>
              </a:defRPr>
            </a:pPr>
            <a:r>
              <a:t>tests/test_pipeline.py</a:t>
            </a:r>
          </a:p>
        </p:txBody>
      </p:sp>
      <p:sp>
        <p:nvSpPr>
          <p:cNvPr id="26" name="Rounded Rectangle 25"/>
          <p:cNvSpPr/>
          <p:nvPr/>
        </p:nvSpPr>
        <p:spPr>
          <a:xfrm>
            <a:off x="2103120" y="5486400"/>
            <a:ext cx="7955279" cy="475488"/>
          </a:xfrm>
          <a:prstGeom prst="roundRect">
            <a:avLst/>
          </a:prstGeom>
          <a:solidFill>
            <a:srgbClr val="F0F9FF"/>
          </a:solidFill>
          <a:ln w="12700">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86000" y="5550408"/>
            <a:ext cx="7589520" cy="292608"/>
          </a:xfrm>
          <a:prstGeom prst="rect">
            <a:avLst/>
          </a:prstGeom>
          <a:noFill/>
        </p:spPr>
        <p:txBody>
          <a:bodyPr wrap="square" lIns="36576" rIns="36576" tIns="36576" bIns="36576" anchor="ctr">
            <a:spAutoFit/>
          </a:bodyPr>
          <a:lstStyle/>
          <a:p>
            <a:pPr algn="ctr">
              <a:lnSpc>
                <a:spcPct val="100000"/>
              </a:lnSpc>
              <a:defRPr sz="1100" b="1">
                <a:solidFill>
                  <a:srgbClr val="0284C7"/>
                </a:solidFill>
                <a:latin typeface="Inter"/>
              </a:defRPr>
            </a:pPr>
            <a:r>
              <a:t>Frozen data + stored checkpoints + deterministic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EE136IU Topic 4 Team</dc:creator>
  <lastModifiedBy>Walnut Exporter</lastModifiedBy>
  <dc:title>Data Augmentation &amp; Noise Resilience for Low-SNR AMC</dc:title>
  <dcterms:created xsi:type="dcterms:W3CDTF">2026-10-20T19:02:09.0450000Z</dcterms:created>
  <dcterms:modified xsi:type="dcterms:W3CDTF">2026-10-20T19:02:09.0450000Z</dcterms:modified>
  <dc:subject>12-minute EE136IU capstone defense</dc:subject>
  <dc:description>Generated from PRESENTATION_12MIN.md</dc:description>
</coreProperties>
</file>